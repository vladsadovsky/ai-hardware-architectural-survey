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lecture version. Same thesis as the short talk but with the mechanisms shown. Tell the audience: we build a repeatable test, then read the whole landscape through it. Pace: ~7 movements, keep each family to a few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Roadmap. The spine is movements 3 (framework) and 4 (families); everything before builds the pressures, everything after applies them. Reassure a software audience: hardware concepts are introduced as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Vocabulary. Plant three ideas: bandwidth (HBM) is usually the scarce resource; a "contract" is a promise to software that specialization renegotiates; TOPS is marketing, not a benchmark. Systolic array preview: reuse from geometry — comes back as the mechanism under tensor processors.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 goal: establish that the pressures are PHYSICAL (energy, bandwidth, timing) — not software immaturity. Everything here is a "driving factor" the later families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Thesis. Both transitions = software succeeding until it exposed a physical/economic limit. Each ADDS an execution domain; nothing is retired. Same pattern, three lanes (datacenter/mobile/embedded) under different dominant constraints — we follow all three.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decades of constraint in one slide. Memory wall (Wulf &amp; McKee 1995): compute outran DRAM, so locality/reuse became the question. Power wall + Dennard scaling ending → multicore, but only if software exposes parallelism. Dark silicon → can't power all transistors at once, so specialize. Data movement is the thread that ties them together and sets up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Horowitz 45nm: FP add ~0.9 pJ vs DRAM word read ~640 pJ — ~700×. So energy and bottleneck are set by data movement. This one fact justifies nearly every family later. Ratio holds even as absolute numbers shift with node.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Memory = ladder trading capacity for latency/energy. "Memory-bound" hides bandwidth, capacity, overfetch, irregular access, insufficient reuse. Caches pay only with reuse before eviction. Each rung is a different lever — remember at the families.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transistors go. CPU: latency on branchy diverse code (caches, prediction, OoO). GPU: throughput lanes. Specialization is the next step on the same axis — narrower job, more useful work per mm² and per joule, for work that fits.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GPU is efficient when work has: parallelism, coalesced access, lane regularity, occupancy, batchability, amortized overhead. As each becomes narrow/irregular/latency-bound, useful utilization falls. NOT "GPUs can't do X" — it's a continuum. The leak region is exactly where specialists compete. This frames the whole families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2 goal: turn "AI workloads" into MEASURED signatures and bounds. These are the numbers the necessity test consumes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Method note: don't reason from model NAMES; reason from signatures — arithmetic intensity, locality, parallelism, regularity, batchability, deadline. The same request is compute-bound in prefill and bandwidth-bound in decode. Signatures are what map onto contracts.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Transformer inference has two phases. Prefill = process the prompt, compute-bound, high arithmetic intensity, parallel. Decode = one token at a time, bandwidth-bound (must stream weights). A single device compromises; that's why "disaggregated" serving and even phase-split silicon (reported TPU-8) are appearing.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Keystone number. One sequence → stream ~70 GB weights/token; at ~3.35 TB/s → ~48 tok/s, ~0.3% of matrix throughput. Author-computed from datasheets; idealized. Only batching (amortize weight reads) or a changed memory contract helps — adding FLOPS does nothing. This is WHY silicon is going memory-first and inference-first.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Wake scope = which power domains must wake to answer. ~4 orders: µW always-on to W cloud round-trip. An always-on feature is IMPOSSIBLE within a battery budget on a GPU's submission/memory model — structural, not a tuning gap. Strongest beyond-GPU territory; returns at the NPU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Mixture-of-experts routes tokens to experts on different devices; all-to-all can be ~1/3 of a step. As models get sparser, the bottleneck moves to the NETWORK — which is why interconnect (NVLink/UALink/Ethernet) becomes a competitive axis in the landscape and packaging sections.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Dense tiles are contiguous, reused, prefetchable. Irregular gather (embeddings, graphs, dynamic sparsity) fetches one useful word per cache line from scattered addresses and evicts before reuse. This is the survey's open problem — no family owns irregular memory access cleanly at scale. Sets up PIM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Credit software first. FlashAttention ~3×, vLLM 2-4× — huge and real. But each success reveals a residual bound (MoE still ~34%, always-on still &lt;300µW). The hardware case is that residue — never "software failed." This is the bridge into the framework.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3 is the intellectual core. Two tools: six contracts (what can change) and the four-condition test (whether it should). Everything after is application.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promises hardware makes to software: execution, data placement, numerical, scheduling, communication, software/tooling. A workload stresses only some. A new architecture is justified only where it changes a contract the workload actually stresses — else it's a faster answer to a non-problem.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test that makes the talk decidable. All four must hold. 1-3 are engineering (is there a bound, does it hurt, does hardware truly move it). 4 is economics (volume, software enablement, flexibility). Most real proposals clear 1-3 and die on 4. Condition 3 subtlety: a "lever" must change the bound, not relocate the bottleneck.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real outcomes from the same reasoning. TPU v1: all four held (published 15-30× throughput, 30-80× perf/W under production latency SLOs) → specialize. Nervana/Graphcore: good silicon, condition 4 failed (no internal volume, CUDA switching cost) → market says no. Enterprise private serving: conditions 2 &amp; 4 fail → stay on GPU. Lesson: architecture selects the candidate; condition 4 decides.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Absorbed into the GPU platform: matrix density, narrow precision, movement overhead, scale-up comms — become GPU features. Structurally NOT absorbable: wake-scope energy, provable worst-case timing, near-sensor locality, embedded cost floors — absorbing them means abandoning what makes a GPU a GPU. Contested middle: low-batch decode, routing, near-memory — where the commercial fights 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4: the tour. Keep each family to "which contract did it change, and what does that buy?" Don't get lost in specs. Use the two-axis map (next slide) as the running frame.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axes. Horizontal: when execution uncertainty resolves — runtime (GPU) → compile time (tensor/dataflow) → design time (fixed) → input-driven (neuromorphic). Vertical: where state lives — DRAM → SRAM → in-memory. Every family is a displacement from CPU/GPU. No dominating point — each efficiency gain narrows an envelope. That's why plurality is permanent.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mechanism under most matrix hardware. Weights sit in a grid; activations flow through; a value fetched once is reused by every cell it passes — memory traffic only at the edges. TPU v1's 256×256 array = 65,536 MACs. Weakness: a matrix-vector op uses one column, rest idle. Now absorbed by everyone (GPU tensor cores) — committing a whole die to one big array is a bet on shape stability.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Tensor processor = matrix engine + software-managed SRAM + DMA, all under ONE compiler-owned static schedule (vs the GPU's hardware scheduling). Contract changes: execution + scheduling + software. Wins stable dense portfolios at owner scale — hence every hyperscaler builds one. Risk: the compiler is load-bearing; coverage gaps become deployment blockers.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Push compile-time ownership to the limit: every operation and transfer placed at a fixed cycle → zero run-time variance, only device-boundary queueing. Buys deterministic low latency and reproducibility (Groq TSP, SambaNova, Tenstorrent). Cost: worst-case padding for dynamic shapes, and heavy compiler solve. Bids for latency-bounded decode.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OBSERVATION, not a claim of compute dominance. Hard facts (class A): every mainstream client SoC ships an NPU; Copilot+ mandates ≥40 TOPS (Intel ~48, AMD ~50, Qualcomm 45-85, Apple Neural Engine since 2017); positioned for sustained/ambient low-power work. COUNTER-FACT: heavy local generative inference still runs mostly on the client GPU (CUDA/DirectML) — "the great NPU failure" — because NPU software/operator coverage lags; utilization is low. TOPS ≠ usage. Defensible claim = the takeaway (structural bounds outside the GPU contract). If asked observation vs prediction: mostly observation + a conditional forward claim; softened from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FPGA changes the software contract: structure is configured after manufacturing. Two speeds — full hardware compile (hours, max efficiency, hardware skills) vs overlay/soft-NPU (seconds, software skills). Wins where post-manufacture flexibility IS the requirement (interfaces, long-lifecycle, format experimentation — Microsoft Catapult/Brainwave). Elsewhere it's the industry's staging tier: prove condition 1-3 on FPGA before committing to an ASIC.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Refuse the reticle limit: build one logical accelerator across a whole wafer, so inter-chip comms become on-wafer routing and model-scale state sits in distributed SRAM (Cerebras WSE: ~44 GB on-wafer SRAM, ~21 PB/s). Defects routed around. Contract changes: communication + data placement. Condition 4 met not by broad adoption but by a few enormous anchor tenants.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Move compute to the data. Three flavors: in-DRAM SIMD beside banks (Aquabolt-XL, UPMEM), all-SRAM inference with no off-chip tier (NorthPole), tiered capacity attached to the accelerator (SN40L). Attacks the most-measured bounds (decode streaming, embedding gather, mobile wake). Strongest condition-3 case in the whole survey. Gated by ONE thing: no portable programming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Forward-looking, evidence class C/E — be explicit it's not shipping at scale. Input schedules the machine: energy ∝ activity. Validates the energy model (TrueNorth, Loihi) but the dense-tensor/backprop stack maps poorly onto spikes. Plausible beachhead: extreme-edge sparse-in-time sensing. Frame as the theoretical endpoint of the wake-scope logic, not a near-term product.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families from µW silicon to MW pods, resized against different binding constraints. Ideas migrate both ways (unified memory up, quantization down); implementations diverge because each deployment prices stressors differently. One shared taxonomy, not two industries — this is the payoff of the whole method.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 apply the framework to the real market. Keep it GROUPED — resist the urge to spec-dump. The point is HOW each group resolves condition 4, not part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buckets read through condition 4: incumbents (absorb, sell rack-scale), hyperscaler silicon (condition 4 met at owner scale), challengers (license/anchor/acquire). Headline: none failed on architecture — software capital, volume, and distribution decided every outcome.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§2.14 TPU verdict replicated at every major cloud — because each has the owner-scale volume + internal model portfolio that satisfies condition 4. Note the two live experiments: inference-first is the new default (serving economics dominate fleet cost), and fabric philosophy has forked (proprietary scale-up vs commodity Ethernet). Snapshot facts — will age; the structural reading won't.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Incumbents (NVIDIA, AMD) now sell rack-scale coherent domains, not cards. Every headline number is a MEMORY or scale-up number — capacity, bandwidth, NVLink-domain size — clustering tightly. That's the absorption thesis in public: they spend transistor/packaging budget on exactly the bounds Chapter 2 measured. The binding purchase constraint is increasingly power, not silicon.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the contested middle resolved in 2025-26: Groq licensed its LPU into NVIDIA (condition 3 vindicated — incumbent paid billions — AND condition 4 enforced); Cerebras survived on anchor tenancy + IPO; Tenstorrent in acquisition talks; SambaNova a niche appliance. The absorption partition predicted GPU-platform absorption; the surprise was the MECHANISM (licensing-in a whole contract). All class-D reporting — flag as such.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Client/edge grouped. Recurring theme: memory and coverage, not TOPS, decide. Robotics is the instructive case — it deliberately pays the GPU's generality tax because algorithms churn fastest (flexibility wins). Automotive turns determinism/lifecycle into certification objects. Same families as the datacenter, different binding constraints.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6: the substrate that actually decides winners — software capital, packaging/memory, and the cost stack. This is where condition 4 lives.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CUDA's moat has moved UP the stack: kernel syntax is now mirrored (ROCm/HIP) or abstracted (Triton), so the defensible layers are distributed libraries, serving policy, numerical recipes, operational tooling. The "narrow waist" question: PyTorch as authoring waist, Triton-class DSL as operator waist, proprietary residue in collectives/serving. For a challenger: name which waist you enter and what you do about the residue. "Build our own waist" fails at merchant scale.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frontier moved from logic to integration. HBM sets every bandwidth bound and its supply/cost is a condition-4 term (three vendors; can rival the logic die in BOM). Packaging: the ~800mm² reticle limit drives 2.5D/chiplets/hybrid bonding; advanced-packaging capacity gates supply. Fabric: scale-up vs Ethernet; co-packaged optics attacks network POWER. Most of Chapter 11's futures are packaging stories.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full stack from die to service: memory, packaging, board, fabric, rack+cooling, facility power, software enablement, ops, risk. Every family REDISTRIBUTES weight (wafer-scale moves fabric cost into yield; PIM moves logic into memory; NPU into per-unit area) — none shrinks it uniformly. Condition 4 in cost terms: does the redistribution lower the TOTAL for this workload at this volume? Power increasingly gates deployment ahead of capital.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break-even (illustrative). Fixed cost dominated by software enablement; recurring savings scale with volume, fixed cost doesn't → a volume threshold. Below it, no efficiency % rescues the case; above it, small % justify huge programs. Explains hyperscale-yes vs enterprise-no on identical architecture (different denominator). Price flexibility as option value: a 20% win today bets the workload holds still.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7: futures with evidence discipline, then the durable conclusions. Keep futures humble — grade every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Grade every future. Scheduled (A/B): HBM4, CPO, FP4, chiplets — intensify the present. PIM (B/C) standardizing. Photonic interconnect (A/B) yes, photonic COMPUTATION (C/E) defeated at the conversion boundary today. Analog in-memory (C). Two rules: new memories arrive before new logic; the nearest contract changes enter INSIDE incumbent platforms via packaging, not as standalone families.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demand side may move before the supply side. Test-time compute (reason longer) deepens the decode bound → strengthens every inference-first thesis. Persistent-state agents promote state residency/freshness — territory no family owns cleanly, the likeliest source of a genuinely new family. Default sparsity pushes routing/gather up. The method predicts its own revision: re-derive the taxonomy from measured signatures each edition.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findings, each traceable to evidence shown. Leave two ringing: (C) condition 4 / software capital decides most outcomes — audit the stack before the silicon; (E) bounds moved to memory, fabric, facility power — arithmetic peak no longer separates contenders. The one durable tool: the four-condition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Role-specific takeaways. Software architects: design against signatures, respect the batch-one ceiling, measure at the useful-result boundary. Platform architects: evaluate at pod/facility, prefer rented specialization to ownership below hyperscale volume, protect the software seams that preserve exit options. Selection: a sequence — signatures → honest software ceiling → locate the bound in the absorption partition → weight the software stack → run the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one sentence and stop. The machinery (signatures, contracts, families, economics) exists to make that choice decidable rather than rhetorical. Hand them the four-condition test as the portable takeaway.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232E"/>
        </a:solidFill>
      </p:bgPr>
    </p:bg>
    <p:spTree>
      <p:nvGrpSpPr>
        <p:cNvPr id="1" name=""/>
        <p:cNvGrpSpPr/>
        <p:nvPr/>
      </p:nvGrpSpPr>
      <p:grpSpPr>
        <a:xfrm>
          <a:off x="0" y="0"/>
          <a:ext cx="0" cy="0"/>
          <a:chOff x="0" y="0"/>
          <a:chExt cx="0" cy="0"/>
        </a:xfrm>
      </p:grpSpPr>
      <p:sp>
        <p:nvSpPr>
          <p:cNvPr id="2" name="Shape 0"/>
          <p:cNvSpPr/>
          <p:nvPr/>
        </p:nvSpPr>
        <p:spPr>
          <a:xfrm>
            <a:off x="0" y="6035040"/>
            <a:ext cx="12191695" cy="822960"/>
          </a:xfrm>
          <a:prstGeom prst="rect">
            <a:avLst/>
          </a:prstGeom>
          <a:solidFill>
            <a:srgbClr val="0E8C9B"/>
          </a:solidFill>
          <a:ln/>
        </p:spPr>
      </p:sp>
      <p:sp>
        <p:nvSpPr>
          <p:cNvPr id="3" name="Text 1"/>
          <p:cNvSpPr/>
          <p:nvPr/>
        </p:nvSpPr>
        <p:spPr>
          <a:xfrm>
            <a:off x="731520" y="1920240"/>
            <a:ext cx="10698480" cy="1645920"/>
          </a:xfrm>
          <a:prstGeom prst="rect">
            <a:avLst/>
          </a:prstGeom>
          <a:noFill/>
          <a:ln/>
        </p:spPr>
        <p:txBody>
          <a:bodyPr wrap="square"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Beyond the GPU</a:t>
            </a:r>
            <a:endParaRPr lang="en-US" sz="4800" dirty="0"/>
          </a:p>
        </p:txBody>
      </p:sp>
      <p:sp>
        <p:nvSpPr>
          <p:cNvPr id="4" name="Text 2"/>
          <p:cNvSpPr/>
          <p:nvPr/>
        </p:nvSpPr>
        <p:spPr>
          <a:xfrm>
            <a:off x="777240" y="3474720"/>
            <a:ext cx="10424160" cy="1097280"/>
          </a:xfrm>
          <a:prstGeom prst="rect">
            <a:avLst/>
          </a:prstGeom>
          <a:noFill/>
          <a:ln/>
        </p:spPr>
        <p:txBody>
          <a:bodyPr wrap="square" rtlCol="0" anchor="ctr"/>
          <a:lstStyle/>
          <a:p>
            <a:pPr indent="0" marL="0">
              <a:buNone/>
            </a:pPr>
            <a:r>
              <a:rPr lang="en-US" sz="2000" dirty="0">
                <a:solidFill>
                  <a:srgbClr val="E7ECEF"/>
                </a:solidFill>
                <a:latin typeface="Calibri" pitchFamily="34" charset="0"/>
                <a:ea typeface="Calibri" pitchFamily="34" charset="-122"/>
                <a:cs typeface="Calibri" pitchFamily="34" charset="-120"/>
              </a:rPr>
              <a:t>Driving factors, architectures, and economics of AI hardware acceleration — a systems lecture</a:t>
            </a:r>
            <a:endParaRPr lang="en-US" sz="2000" dirty="0"/>
          </a:p>
        </p:txBody>
      </p:sp>
      <p:sp>
        <p:nvSpPr>
          <p:cNvPr id="5" name="Text 3"/>
          <p:cNvSpPr/>
          <p:nvPr/>
        </p:nvSpPr>
        <p:spPr>
          <a:xfrm>
            <a:off x="777240" y="6199632"/>
            <a:ext cx="10058400" cy="457200"/>
          </a:xfrm>
          <a:prstGeom prst="rect">
            <a:avLst/>
          </a:prstGeom>
          <a:noFill/>
          <a:ln/>
        </p:spPr>
        <p:txBody>
          <a:bodyPr wrap="square"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In-depth lecture  ·  ~2 hours</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10896"/>
            <a:ext cx="10058400" cy="274320"/>
          </a:xfrm>
          <a:prstGeom prst="rect">
            <a:avLst/>
          </a:prstGeom>
          <a:noFill/>
          <a:ln/>
        </p:spPr>
        <p:txBody>
          <a:bodyPr wrap="square" rtlCol="0" anchor="ctr"/>
          <a:lstStyle/>
          <a:p>
            <a:pPr indent="0" marL="0">
              <a:buNone/>
            </a:pPr>
            <a:r>
              <a:rPr lang="en-US" sz="1200" b="1" spc="200" kern="0" dirty="0">
                <a:solidFill>
                  <a:srgbClr val="0E8C9B"/>
                </a:solidFill>
                <a:latin typeface="Calibri" pitchFamily="34" charset="0"/>
                <a:ea typeface="Calibri" pitchFamily="34" charset="-122"/>
                <a:cs typeface="Calibri" pitchFamily="34" charset="-120"/>
              </a:rPr>
              <a:t>ROADMAP</a:t>
            </a:r>
            <a:endParaRPr lang="en-US" sz="1200" dirty="0"/>
          </a:p>
        </p:txBody>
      </p:sp>
      <p:sp>
        <p:nvSpPr>
          <p:cNvPr id="3" name="Text 1"/>
          <p:cNvSpPr/>
          <p:nvPr/>
        </p:nvSpPr>
        <p:spPr>
          <a:xfrm>
            <a:off x="457200" y="548640"/>
            <a:ext cx="11247120" cy="822960"/>
          </a:xfrm>
          <a:prstGeom prst="rect">
            <a:avLst/>
          </a:prstGeom>
          <a:noFill/>
          <a:ln/>
        </p:spPr>
        <p:txBody>
          <a:bodyPr wrap="square" rtlCol="0" anchor="ctr"/>
          <a:lstStyle/>
          <a:p>
            <a:pPr indent="0" marL="0">
              <a:buNone/>
            </a:pPr>
            <a:r>
              <a:rPr lang="en-US" sz="3000" b="1" dirty="0">
                <a:solidFill>
                  <a:srgbClr val="263947"/>
                </a:solidFill>
                <a:latin typeface="Cambria" pitchFamily="34" charset="0"/>
                <a:ea typeface="Cambria" pitchFamily="34" charset="-122"/>
                <a:cs typeface="Cambria" pitchFamily="34" charset="-120"/>
              </a:rPr>
              <a:t>Seven movements</a:t>
            </a:r>
            <a:endParaRPr lang="en-US" sz="3000" dirty="0"/>
          </a:p>
        </p:txBody>
      </p:sp>
      <p:sp>
        <p:nvSpPr>
          <p:cNvPr id="4" name="Shape 2"/>
          <p:cNvSpPr/>
          <p:nvPr/>
        </p:nvSpPr>
        <p:spPr>
          <a:xfrm>
            <a:off x="457200" y="1600200"/>
            <a:ext cx="2578608" cy="2171700"/>
          </a:xfrm>
          <a:prstGeom prst="roundRect">
            <a:avLst>
              <a:gd name="adj" fmla="val 2947"/>
            </a:avLst>
          </a:prstGeom>
          <a:solidFill>
            <a:srgbClr val="F4F7F8"/>
          </a:solidFill>
          <a:ln w="12700">
            <a:solidFill>
              <a:srgbClr val="E7ECEF"/>
            </a:solidFill>
            <a:prstDash val="solid"/>
          </a:ln>
        </p:spPr>
      </p:sp>
      <p:sp>
        <p:nvSpPr>
          <p:cNvPr id="5" name="Shape 3"/>
          <p:cNvSpPr/>
          <p:nvPr/>
        </p:nvSpPr>
        <p:spPr>
          <a:xfrm>
            <a:off x="658368" y="1801368"/>
            <a:ext cx="457200" cy="457200"/>
          </a:xfrm>
          <a:prstGeom prst="roundRect">
            <a:avLst>
              <a:gd name="adj" fmla="val 12000"/>
            </a:avLst>
          </a:prstGeom>
          <a:solidFill>
            <a:srgbClr val="0E8C9B"/>
          </a:solidFill>
          <a:ln/>
        </p:spPr>
      </p:sp>
      <p:sp>
        <p:nvSpPr>
          <p:cNvPr id="6" name="Text 4"/>
          <p:cNvSpPr/>
          <p:nvPr/>
        </p:nvSpPr>
        <p:spPr>
          <a:xfrm>
            <a:off x="658368" y="1801368"/>
            <a:ext cx="457200" cy="457200"/>
          </a:xfrm>
          <a:prstGeom prst="rect">
            <a:avLst/>
          </a:prstGeom>
          <a:noFill/>
          <a:ln/>
        </p:spPr>
        <p:txBody>
          <a:bodyPr wrap="square"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7" name="Text 5"/>
          <p:cNvSpPr/>
          <p:nvPr/>
        </p:nvSpPr>
        <p:spPr>
          <a:xfrm>
            <a:off x="1234440" y="1783080"/>
            <a:ext cx="1618488" cy="502920"/>
          </a:xfrm>
          <a:prstGeom prst="rect">
            <a:avLst/>
          </a:prstGeom>
          <a:noFill/>
          <a:ln/>
        </p:spPr>
        <p:txBody>
          <a:bodyPr wrap="square" rtlCol="0" anchor="ctr"/>
          <a:lstStyle/>
          <a:p>
            <a:pPr indent="0" marL="0">
              <a:buNone/>
            </a:pPr>
            <a:r>
              <a:rPr lang="en-US" sz="1450" b="1" dirty="0">
                <a:solidFill>
                  <a:srgbClr val="263947"/>
                </a:solidFill>
                <a:latin typeface="Calibri" pitchFamily="34" charset="0"/>
                <a:ea typeface="Calibri" pitchFamily="34" charset="-122"/>
                <a:cs typeface="Calibri" pitchFamily="34" charset="-120"/>
              </a:rPr>
              <a:t>Why offload</a:t>
            </a:r>
            <a:endParaRPr lang="en-US" sz="1450" dirty="0"/>
          </a:p>
        </p:txBody>
      </p:sp>
      <p:sp>
        <p:nvSpPr>
          <p:cNvPr id="8" name="Text 6"/>
          <p:cNvSpPr/>
          <p:nvPr/>
        </p:nvSpPr>
        <p:spPr>
          <a:xfrm>
            <a:off x="676656" y="2377440"/>
            <a:ext cx="2139696" cy="1257300"/>
          </a:xfrm>
          <a:prstGeom prst="rect">
            <a:avLst/>
          </a:prstGeom>
          <a:noFill/>
          <a:ln/>
        </p:spPr>
        <p:txBody>
          <a:bodyPr wrap="square" rtlCol="0" anchor="t"/>
          <a:lstStyle/>
          <a:p>
            <a:pPr indent="0" marL="0">
              <a:buNone/>
            </a:pPr>
            <a:r>
              <a:rPr lang="en-US" sz="1200" dirty="0">
                <a:solidFill>
                  <a:srgbClr val="263947"/>
                </a:solidFill>
                <a:latin typeface="Calibri" pitchFamily="34" charset="0"/>
                <a:ea typeface="Calibri" pitchFamily="34" charset="-122"/>
                <a:cs typeface="Calibri" pitchFamily="34" charset="-120"/>
              </a:rPr>
              <a:t>The physical driving factors.</a:t>
            </a:r>
            <a:endParaRPr lang="en-US" sz="1200" dirty="0"/>
          </a:p>
        </p:txBody>
      </p:sp>
      <p:sp>
        <p:nvSpPr>
          <p:cNvPr id="9" name="Shape 7"/>
          <p:cNvSpPr/>
          <p:nvPr/>
        </p:nvSpPr>
        <p:spPr>
          <a:xfrm>
            <a:off x="3355848" y="1600200"/>
            <a:ext cx="2578608" cy="2171700"/>
          </a:xfrm>
          <a:prstGeom prst="roundRect">
            <a:avLst>
              <a:gd name="adj" fmla="val 2947"/>
            </a:avLst>
          </a:prstGeom>
          <a:solidFill>
            <a:srgbClr val="F4F7F8"/>
          </a:solidFill>
          <a:ln w="12700">
            <a:solidFill>
              <a:srgbClr val="E7ECEF"/>
            </a:solidFill>
            <a:prstDash val="solid"/>
          </a:ln>
        </p:spPr>
      </p:sp>
      <p:sp>
        <p:nvSpPr>
          <p:cNvPr id="10" name="Shape 8"/>
          <p:cNvSpPr/>
          <p:nvPr/>
        </p:nvSpPr>
        <p:spPr>
          <a:xfrm>
            <a:off x="3557016" y="1801368"/>
            <a:ext cx="457200" cy="457200"/>
          </a:xfrm>
          <a:prstGeom prst="roundRect">
            <a:avLst>
              <a:gd name="adj" fmla="val 12000"/>
            </a:avLst>
          </a:prstGeom>
          <a:solidFill>
            <a:srgbClr val="2E6E9E"/>
          </a:solidFill>
          <a:ln/>
        </p:spPr>
      </p:sp>
      <p:sp>
        <p:nvSpPr>
          <p:cNvPr id="11" name="Text 9"/>
          <p:cNvSpPr/>
          <p:nvPr/>
        </p:nvSpPr>
        <p:spPr>
          <a:xfrm>
            <a:off x="3557016" y="1801368"/>
            <a:ext cx="457200" cy="457200"/>
          </a:xfrm>
          <a:prstGeom prst="rect">
            <a:avLst/>
          </a:prstGeom>
          <a:noFill/>
          <a:ln/>
        </p:spPr>
        <p:txBody>
          <a:bodyPr wrap="square"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2" name="Text 10"/>
          <p:cNvSpPr/>
          <p:nvPr/>
        </p:nvSpPr>
        <p:spPr>
          <a:xfrm>
            <a:off x="4133088" y="1783080"/>
            <a:ext cx="1618488" cy="502920"/>
          </a:xfrm>
          <a:prstGeom prst="rect">
            <a:avLst/>
          </a:prstGeom>
          <a:noFill/>
          <a:ln/>
        </p:spPr>
        <p:txBody>
          <a:bodyPr wrap="square" rtlCol="0" anchor="ctr"/>
          <a:lstStyle/>
          <a:p>
            <a:pPr indent="0" marL="0">
              <a:buNone/>
            </a:pPr>
            <a:r>
              <a:rPr lang="en-US" sz="1450" b="1" dirty="0">
                <a:solidFill>
                  <a:srgbClr val="263947"/>
                </a:solidFill>
                <a:latin typeface="Calibri" pitchFamily="34" charset="0"/>
                <a:ea typeface="Calibri" pitchFamily="34" charset="-122"/>
                <a:cs typeface="Calibri" pitchFamily="34" charset="-120"/>
              </a:rPr>
              <a:t>Workload pressures</a:t>
            </a:r>
            <a:endParaRPr lang="en-US" sz="1450" dirty="0"/>
          </a:p>
        </p:txBody>
      </p:sp>
      <p:sp>
        <p:nvSpPr>
          <p:cNvPr id="13" name="Text 11"/>
          <p:cNvSpPr/>
          <p:nvPr/>
        </p:nvSpPr>
        <p:spPr>
          <a:xfrm>
            <a:off x="3575304" y="2377440"/>
            <a:ext cx="2139696" cy="1257300"/>
          </a:xfrm>
          <a:prstGeom prst="rect">
            <a:avLst/>
          </a:prstGeom>
          <a:noFill/>
          <a:ln/>
        </p:spPr>
        <p:txBody>
          <a:bodyPr wrap="square" rtlCol="0" anchor="t"/>
          <a:lstStyle/>
          <a:p>
            <a:pPr indent="0" marL="0">
              <a:buNone/>
            </a:pPr>
            <a:r>
              <a:rPr lang="en-US" sz="1200" dirty="0">
                <a:solidFill>
                  <a:srgbClr val="263947"/>
                </a:solidFill>
                <a:latin typeface="Calibri" pitchFamily="34" charset="0"/>
                <a:ea typeface="Calibri" pitchFamily="34" charset="-122"/>
                <a:cs typeface="Calibri" pitchFamily="34" charset="-120"/>
              </a:rPr>
              <a:t>The measured bounds.</a:t>
            </a:r>
            <a:endParaRPr lang="en-US" sz="1200" dirty="0"/>
          </a:p>
        </p:txBody>
      </p:sp>
      <p:sp>
        <p:nvSpPr>
          <p:cNvPr id="14" name="Shape 12"/>
          <p:cNvSpPr/>
          <p:nvPr/>
        </p:nvSpPr>
        <p:spPr>
          <a:xfrm>
            <a:off x="6254496" y="1600200"/>
            <a:ext cx="2578608" cy="2171700"/>
          </a:xfrm>
          <a:prstGeom prst="roundRect">
            <a:avLst>
              <a:gd name="adj" fmla="val 2947"/>
            </a:avLst>
          </a:prstGeom>
          <a:solidFill>
            <a:srgbClr val="F4F7F8"/>
          </a:solidFill>
          <a:ln w="12700">
            <a:solidFill>
              <a:srgbClr val="E7ECEF"/>
            </a:solidFill>
            <a:prstDash val="solid"/>
          </a:ln>
        </p:spPr>
      </p:sp>
      <p:sp>
        <p:nvSpPr>
          <p:cNvPr id="15" name="Shape 13"/>
          <p:cNvSpPr/>
          <p:nvPr/>
        </p:nvSpPr>
        <p:spPr>
          <a:xfrm>
            <a:off x="6455664" y="1801368"/>
            <a:ext cx="457200" cy="457200"/>
          </a:xfrm>
          <a:prstGeom prst="roundRect">
            <a:avLst>
              <a:gd name="adj" fmla="val 12000"/>
            </a:avLst>
          </a:prstGeom>
          <a:solidFill>
            <a:srgbClr val="E08A2B"/>
          </a:solidFill>
          <a:ln/>
        </p:spPr>
      </p:sp>
      <p:sp>
        <p:nvSpPr>
          <p:cNvPr id="16" name="Text 14"/>
          <p:cNvSpPr/>
          <p:nvPr/>
        </p:nvSpPr>
        <p:spPr>
          <a:xfrm>
            <a:off x="6455664" y="1801368"/>
            <a:ext cx="457200" cy="457200"/>
          </a:xfrm>
          <a:prstGeom prst="rect">
            <a:avLst/>
          </a:prstGeom>
          <a:noFill/>
          <a:ln/>
        </p:spPr>
        <p:txBody>
          <a:bodyPr wrap="square"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7" name="Text 15"/>
          <p:cNvSpPr/>
          <p:nvPr/>
        </p:nvSpPr>
        <p:spPr>
          <a:xfrm>
            <a:off x="7031736" y="1783080"/>
            <a:ext cx="1618488" cy="502920"/>
          </a:xfrm>
          <a:prstGeom prst="rect">
            <a:avLst/>
          </a:prstGeom>
          <a:noFill/>
          <a:ln/>
        </p:spPr>
        <p:txBody>
          <a:bodyPr wrap="square" rtlCol="0" anchor="ctr"/>
          <a:lstStyle/>
          <a:p>
            <a:pPr indent="0" marL="0">
              <a:buNone/>
            </a:pPr>
            <a:r>
              <a:rPr lang="en-US" sz="1450" b="1" dirty="0">
                <a:solidFill>
                  <a:srgbClr val="263947"/>
                </a:solidFill>
                <a:latin typeface="Calibri" pitchFamily="34" charset="0"/>
                <a:ea typeface="Calibri" pitchFamily="34" charset="-122"/>
                <a:cs typeface="Calibri" pitchFamily="34" charset="-120"/>
              </a:rPr>
              <a:t>The framework</a:t>
            </a:r>
            <a:endParaRPr lang="en-US" sz="1450" dirty="0"/>
          </a:p>
        </p:txBody>
      </p:sp>
      <p:sp>
        <p:nvSpPr>
          <p:cNvPr id="18" name="Text 16"/>
          <p:cNvSpPr/>
          <p:nvPr/>
        </p:nvSpPr>
        <p:spPr>
          <a:xfrm>
            <a:off x="6473952" y="2377440"/>
            <a:ext cx="2139696" cy="1257300"/>
          </a:xfrm>
          <a:prstGeom prst="rect">
            <a:avLst/>
          </a:prstGeom>
          <a:noFill/>
          <a:ln/>
        </p:spPr>
        <p:txBody>
          <a:bodyPr wrap="square" rtlCol="0" anchor="t"/>
          <a:lstStyle/>
          <a:p>
            <a:pPr indent="0" marL="0">
              <a:buNone/>
            </a:pPr>
            <a:r>
              <a:rPr lang="en-US" sz="1200" dirty="0">
                <a:solidFill>
                  <a:srgbClr val="263947"/>
                </a:solidFill>
                <a:latin typeface="Calibri" pitchFamily="34" charset="0"/>
                <a:ea typeface="Calibri" pitchFamily="34" charset="-122"/>
                <a:cs typeface="Calibri" pitchFamily="34" charset="-120"/>
              </a:rPr>
              <a:t>Contracts + necessity test.</a:t>
            </a:r>
            <a:endParaRPr lang="en-US" sz="1200" dirty="0"/>
          </a:p>
        </p:txBody>
      </p:sp>
      <p:sp>
        <p:nvSpPr>
          <p:cNvPr id="19" name="Shape 17"/>
          <p:cNvSpPr/>
          <p:nvPr/>
        </p:nvSpPr>
        <p:spPr>
          <a:xfrm>
            <a:off x="9153144" y="1600200"/>
            <a:ext cx="2578608" cy="2171700"/>
          </a:xfrm>
          <a:prstGeom prst="roundRect">
            <a:avLst>
              <a:gd name="adj" fmla="val 2947"/>
            </a:avLst>
          </a:prstGeom>
          <a:solidFill>
            <a:srgbClr val="F4F7F8"/>
          </a:solidFill>
          <a:ln w="12700">
            <a:solidFill>
              <a:srgbClr val="E7ECEF"/>
            </a:solidFill>
            <a:prstDash val="solid"/>
          </a:ln>
        </p:spPr>
      </p:sp>
      <p:sp>
        <p:nvSpPr>
          <p:cNvPr id="20" name="Shape 18"/>
          <p:cNvSpPr/>
          <p:nvPr/>
        </p:nvSpPr>
        <p:spPr>
          <a:xfrm>
            <a:off x="9354312" y="1801368"/>
            <a:ext cx="457200" cy="457200"/>
          </a:xfrm>
          <a:prstGeom prst="roundRect">
            <a:avLst>
              <a:gd name="adj" fmla="val 12000"/>
            </a:avLst>
          </a:prstGeom>
          <a:solidFill>
            <a:srgbClr val="3F9E6A"/>
          </a:solidFill>
          <a:ln/>
        </p:spPr>
      </p:sp>
      <p:sp>
        <p:nvSpPr>
          <p:cNvPr id="21" name="Text 19"/>
          <p:cNvSpPr/>
          <p:nvPr/>
        </p:nvSpPr>
        <p:spPr>
          <a:xfrm>
            <a:off x="9354312" y="1801368"/>
            <a:ext cx="457200" cy="457200"/>
          </a:xfrm>
          <a:prstGeom prst="rect">
            <a:avLst/>
          </a:prstGeom>
          <a:noFill/>
          <a:ln/>
        </p:spPr>
        <p:txBody>
          <a:bodyPr wrap="square"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2" name="Text 20"/>
          <p:cNvSpPr/>
          <p:nvPr/>
        </p:nvSpPr>
        <p:spPr>
          <a:xfrm>
            <a:off x="9930384" y="1783080"/>
            <a:ext cx="1618488" cy="502920"/>
          </a:xfrm>
          <a:prstGeom prst="rect">
            <a:avLst/>
          </a:prstGeom>
          <a:noFill/>
          <a:ln/>
        </p:spPr>
        <p:txBody>
          <a:bodyPr wrap="square" rtlCol="0" anchor="ctr"/>
          <a:lstStyle/>
          <a:p>
            <a:pPr indent="0" marL="0">
              <a:buNone/>
            </a:pPr>
            <a:r>
              <a:rPr lang="en-US" sz="1450" b="1" dirty="0">
                <a:solidFill>
                  <a:srgbClr val="263947"/>
                </a:solidFill>
                <a:latin typeface="Calibri" pitchFamily="34" charset="0"/>
                <a:ea typeface="Calibri" pitchFamily="34" charset="-122"/>
                <a:cs typeface="Calibri" pitchFamily="34" charset="-120"/>
              </a:rPr>
              <a:t>The families</a:t>
            </a:r>
            <a:endParaRPr lang="en-US" sz="1450" dirty="0"/>
          </a:p>
        </p:txBody>
      </p:sp>
      <p:sp>
        <p:nvSpPr>
          <p:cNvPr id="23" name="Text 21"/>
          <p:cNvSpPr/>
          <p:nvPr/>
        </p:nvSpPr>
        <p:spPr>
          <a:xfrm>
            <a:off x="9372600" y="2377440"/>
            <a:ext cx="2139696" cy="1257300"/>
          </a:xfrm>
          <a:prstGeom prst="rect">
            <a:avLst/>
          </a:prstGeom>
          <a:noFill/>
          <a:ln/>
        </p:spPr>
        <p:txBody>
          <a:bodyPr wrap="square" rtlCol="0" anchor="t"/>
          <a:lstStyle/>
          <a:p>
            <a:pPr indent="0" marL="0">
              <a:buNone/>
            </a:pPr>
            <a:r>
              <a:rPr lang="en-US" sz="1200" dirty="0">
                <a:solidFill>
                  <a:srgbClr val="263947"/>
                </a:solidFill>
                <a:latin typeface="Calibri" pitchFamily="34" charset="0"/>
                <a:ea typeface="Calibri" pitchFamily="34" charset="-122"/>
                <a:cs typeface="Calibri" pitchFamily="34" charset="-120"/>
              </a:rPr>
              <a:t>Eight contract changes.</a:t>
            </a:r>
            <a:endParaRPr lang="en-US" sz="1200" dirty="0"/>
          </a:p>
        </p:txBody>
      </p:sp>
      <p:sp>
        <p:nvSpPr>
          <p:cNvPr id="24" name="Shape 22"/>
          <p:cNvSpPr/>
          <p:nvPr/>
        </p:nvSpPr>
        <p:spPr>
          <a:xfrm>
            <a:off x="457200" y="4046220"/>
            <a:ext cx="2578608" cy="2171700"/>
          </a:xfrm>
          <a:prstGeom prst="roundRect">
            <a:avLst>
              <a:gd name="adj" fmla="val 2947"/>
            </a:avLst>
          </a:prstGeom>
          <a:solidFill>
            <a:srgbClr val="F4F7F8"/>
          </a:solidFill>
          <a:ln w="12700">
            <a:solidFill>
              <a:srgbClr val="E7ECEF"/>
            </a:solidFill>
            <a:prstDash val="solid"/>
          </a:ln>
        </p:spPr>
      </p:sp>
      <p:sp>
        <p:nvSpPr>
          <p:cNvPr id="25" name="Shape 23"/>
          <p:cNvSpPr/>
          <p:nvPr/>
        </p:nvSpPr>
        <p:spPr>
          <a:xfrm>
            <a:off x="658368" y="4247388"/>
            <a:ext cx="457200" cy="457200"/>
          </a:xfrm>
          <a:prstGeom prst="roundRect">
            <a:avLst>
              <a:gd name="adj" fmla="val 12000"/>
            </a:avLst>
          </a:prstGeom>
          <a:solidFill>
            <a:srgbClr val="16232E"/>
          </a:solidFill>
          <a:ln/>
        </p:spPr>
      </p:sp>
      <p:sp>
        <p:nvSpPr>
          <p:cNvPr id="26" name="Text 24"/>
          <p:cNvSpPr/>
          <p:nvPr/>
        </p:nvSpPr>
        <p:spPr>
          <a:xfrm>
            <a:off x="658368" y="4247388"/>
            <a:ext cx="457200" cy="457200"/>
          </a:xfrm>
          <a:prstGeom prst="rect">
            <a:avLst/>
          </a:prstGeom>
          <a:noFill/>
          <a:ln/>
        </p:spPr>
        <p:txBody>
          <a:bodyPr wrap="square"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5</a:t>
            </a:r>
            <a:endParaRPr lang="en-US" sz="1500" dirty="0"/>
          </a:p>
        </p:txBody>
      </p:sp>
      <p:sp>
        <p:nvSpPr>
          <p:cNvPr id="27" name="Text 25"/>
          <p:cNvSpPr/>
          <p:nvPr/>
        </p:nvSpPr>
        <p:spPr>
          <a:xfrm>
            <a:off x="1234440" y="4229100"/>
            <a:ext cx="1618488" cy="502920"/>
          </a:xfrm>
          <a:prstGeom prst="rect">
            <a:avLst/>
          </a:prstGeom>
          <a:noFill/>
          <a:ln/>
        </p:spPr>
        <p:txBody>
          <a:bodyPr wrap="square" rtlCol="0" anchor="ctr"/>
          <a:lstStyle/>
          <a:p>
            <a:pPr indent="0" marL="0">
              <a:buNone/>
            </a:pPr>
            <a:r>
              <a:rPr lang="en-US" sz="1450" b="1" dirty="0">
                <a:solidFill>
                  <a:srgbClr val="263947"/>
                </a:solidFill>
                <a:latin typeface="Calibri" pitchFamily="34" charset="0"/>
                <a:ea typeface="Calibri" pitchFamily="34" charset="-122"/>
                <a:cs typeface="Calibri" pitchFamily="34" charset="-120"/>
              </a:rPr>
              <a:t>Landscape</a:t>
            </a:r>
            <a:endParaRPr lang="en-US" sz="1450" dirty="0"/>
          </a:p>
        </p:txBody>
      </p:sp>
      <p:sp>
        <p:nvSpPr>
          <p:cNvPr id="28" name="Text 26"/>
          <p:cNvSpPr/>
          <p:nvPr/>
        </p:nvSpPr>
        <p:spPr>
          <a:xfrm>
            <a:off x="676656" y="4823460"/>
            <a:ext cx="2139696" cy="1257300"/>
          </a:xfrm>
          <a:prstGeom prst="rect">
            <a:avLst/>
          </a:prstGeom>
          <a:noFill/>
          <a:ln/>
        </p:spPr>
        <p:txBody>
          <a:bodyPr wrap="square" rtlCol="0" anchor="t"/>
          <a:lstStyle/>
          <a:p>
            <a:pPr indent="0" marL="0">
              <a:buNone/>
            </a:pPr>
            <a:r>
              <a:rPr lang="en-US" sz="1200" dirty="0">
                <a:solidFill>
                  <a:srgbClr val="263947"/>
                </a:solidFill>
                <a:latin typeface="Calibri" pitchFamily="34" charset="0"/>
                <a:ea typeface="Calibri" pitchFamily="34" charset="-122"/>
                <a:cs typeface="Calibri" pitchFamily="34" charset="-120"/>
              </a:rPr>
              <a:t>Grouped, not cataloged.</a:t>
            </a:r>
            <a:endParaRPr lang="en-US" sz="1200" dirty="0"/>
          </a:p>
        </p:txBody>
      </p:sp>
      <p:sp>
        <p:nvSpPr>
          <p:cNvPr id="29" name="Shape 27"/>
          <p:cNvSpPr/>
          <p:nvPr/>
        </p:nvSpPr>
        <p:spPr>
          <a:xfrm>
            <a:off x="3355848" y="4046220"/>
            <a:ext cx="2578608" cy="2171700"/>
          </a:xfrm>
          <a:prstGeom prst="roundRect">
            <a:avLst>
              <a:gd name="adj" fmla="val 2947"/>
            </a:avLst>
          </a:prstGeom>
          <a:solidFill>
            <a:srgbClr val="F4F7F8"/>
          </a:solidFill>
          <a:ln w="12700">
            <a:solidFill>
              <a:srgbClr val="E7ECEF"/>
            </a:solidFill>
            <a:prstDash val="solid"/>
          </a:ln>
        </p:spPr>
      </p:sp>
      <p:sp>
        <p:nvSpPr>
          <p:cNvPr id="30" name="Shape 28"/>
          <p:cNvSpPr/>
          <p:nvPr/>
        </p:nvSpPr>
        <p:spPr>
          <a:xfrm>
            <a:off x="3557016" y="4247388"/>
            <a:ext cx="457200" cy="457200"/>
          </a:xfrm>
          <a:prstGeom prst="roundRect">
            <a:avLst>
              <a:gd name="adj" fmla="val 12000"/>
            </a:avLst>
          </a:prstGeom>
          <a:solidFill>
            <a:srgbClr val="263947"/>
          </a:solidFill>
          <a:ln/>
        </p:spPr>
      </p:sp>
      <p:sp>
        <p:nvSpPr>
          <p:cNvPr id="31" name="Text 29"/>
          <p:cNvSpPr/>
          <p:nvPr/>
        </p:nvSpPr>
        <p:spPr>
          <a:xfrm>
            <a:off x="3557016" y="4247388"/>
            <a:ext cx="457200" cy="457200"/>
          </a:xfrm>
          <a:prstGeom prst="rect">
            <a:avLst/>
          </a:prstGeom>
          <a:noFill/>
          <a:ln/>
        </p:spPr>
        <p:txBody>
          <a:bodyPr wrap="square"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6</a:t>
            </a:r>
            <a:endParaRPr lang="en-US" sz="1500" dirty="0"/>
          </a:p>
        </p:txBody>
      </p:sp>
      <p:sp>
        <p:nvSpPr>
          <p:cNvPr id="32" name="Text 30"/>
          <p:cNvSpPr/>
          <p:nvPr/>
        </p:nvSpPr>
        <p:spPr>
          <a:xfrm>
            <a:off x="4133088" y="4229100"/>
            <a:ext cx="1618488" cy="502920"/>
          </a:xfrm>
          <a:prstGeom prst="rect">
            <a:avLst/>
          </a:prstGeom>
          <a:noFill/>
          <a:ln/>
        </p:spPr>
        <p:txBody>
          <a:bodyPr wrap="square" rtlCol="0" anchor="ctr"/>
          <a:lstStyle/>
          <a:p>
            <a:pPr indent="0" marL="0">
              <a:buNone/>
            </a:pPr>
            <a:r>
              <a:rPr lang="en-US" sz="1450" b="1" dirty="0">
                <a:solidFill>
                  <a:srgbClr val="263947"/>
                </a:solidFill>
                <a:latin typeface="Calibri" pitchFamily="34" charset="0"/>
                <a:ea typeface="Calibri" pitchFamily="34" charset="-122"/>
                <a:cs typeface="Calibri" pitchFamily="34" charset="-120"/>
              </a:rPr>
              <a:t>Substrate</a:t>
            </a:r>
            <a:endParaRPr lang="en-US" sz="1450" dirty="0"/>
          </a:p>
        </p:txBody>
      </p:sp>
      <p:sp>
        <p:nvSpPr>
          <p:cNvPr id="33" name="Text 31"/>
          <p:cNvSpPr/>
          <p:nvPr/>
        </p:nvSpPr>
        <p:spPr>
          <a:xfrm>
            <a:off x="3575304" y="4823460"/>
            <a:ext cx="2139696" cy="1257300"/>
          </a:xfrm>
          <a:prstGeom prst="rect">
            <a:avLst/>
          </a:prstGeom>
          <a:noFill/>
          <a:ln/>
        </p:spPr>
        <p:txBody>
          <a:bodyPr wrap="square" rtlCol="0" anchor="t"/>
          <a:lstStyle/>
          <a:p>
            <a:pPr indent="0" marL="0">
              <a:buNone/>
            </a:pPr>
            <a:r>
              <a:rPr lang="en-US" sz="1200" dirty="0">
                <a:solidFill>
                  <a:srgbClr val="263947"/>
                </a:solidFill>
                <a:latin typeface="Calibri" pitchFamily="34" charset="0"/>
                <a:ea typeface="Calibri" pitchFamily="34" charset="-122"/>
                <a:cs typeface="Calibri" pitchFamily="34" charset="-120"/>
              </a:rPr>
              <a:t>Software, packaging, cost.</a:t>
            </a:r>
            <a:endParaRPr lang="en-US" sz="1200" dirty="0"/>
          </a:p>
        </p:txBody>
      </p:sp>
      <p:sp>
        <p:nvSpPr>
          <p:cNvPr id="34" name="Shape 32"/>
          <p:cNvSpPr/>
          <p:nvPr/>
        </p:nvSpPr>
        <p:spPr>
          <a:xfrm>
            <a:off x="6254496" y="4046220"/>
            <a:ext cx="2578608" cy="2171700"/>
          </a:xfrm>
          <a:prstGeom prst="roundRect">
            <a:avLst>
              <a:gd name="adj" fmla="val 2947"/>
            </a:avLst>
          </a:prstGeom>
          <a:solidFill>
            <a:srgbClr val="F4F7F8"/>
          </a:solidFill>
          <a:ln w="12700">
            <a:solidFill>
              <a:srgbClr val="E7ECEF"/>
            </a:solidFill>
            <a:prstDash val="solid"/>
          </a:ln>
        </p:spPr>
      </p:sp>
      <p:sp>
        <p:nvSpPr>
          <p:cNvPr id="35" name="Shape 33"/>
          <p:cNvSpPr/>
          <p:nvPr/>
        </p:nvSpPr>
        <p:spPr>
          <a:xfrm>
            <a:off x="6455664" y="4247388"/>
            <a:ext cx="457200" cy="457200"/>
          </a:xfrm>
          <a:prstGeom prst="roundRect">
            <a:avLst>
              <a:gd name="adj" fmla="val 12000"/>
            </a:avLst>
          </a:prstGeom>
          <a:solidFill>
            <a:srgbClr val="C0503C"/>
          </a:solidFill>
          <a:ln/>
        </p:spPr>
      </p:sp>
      <p:sp>
        <p:nvSpPr>
          <p:cNvPr id="36" name="Text 34"/>
          <p:cNvSpPr/>
          <p:nvPr/>
        </p:nvSpPr>
        <p:spPr>
          <a:xfrm>
            <a:off x="6455664" y="4247388"/>
            <a:ext cx="457200" cy="457200"/>
          </a:xfrm>
          <a:prstGeom prst="rect">
            <a:avLst/>
          </a:prstGeom>
          <a:noFill/>
          <a:ln/>
        </p:spPr>
        <p:txBody>
          <a:bodyPr wrap="square"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7</a:t>
            </a:r>
            <a:endParaRPr lang="en-US" sz="1500" dirty="0"/>
          </a:p>
        </p:txBody>
      </p:sp>
      <p:sp>
        <p:nvSpPr>
          <p:cNvPr id="37" name="Text 35"/>
          <p:cNvSpPr/>
          <p:nvPr/>
        </p:nvSpPr>
        <p:spPr>
          <a:xfrm>
            <a:off x="7031736" y="4229100"/>
            <a:ext cx="1618488" cy="502920"/>
          </a:xfrm>
          <a:prstGeom prst="rect">
            <a:avLst/>
          </a:prstGeom>
          <a:noFill/>
          <a:ln/>
        </p:spPr>
        <p:txBody>
          <a:bodyPr wrap="square" rtlCol="0" anchor="ctr"/>
          <a:lstStyle/>
          <a:p>
            <a:pPr indent="0" marL="0">
              <a:buNone/>
            </a:pPr>
            <a:r>
              <a:rPr lang="en-US" sz="1450" b="1" dirty="0">
                <a:solidFill>
                  <a:srgbClr val="263947"/>
                </a:solidFill>
                <a:latin typeface="Calibri" pitchFamily="34" charset="0"/>
                <a:ea typeface="Calibri" pitchFamily="34" charset="-122"/>
                <a:cs typeface="Calibri" pitchFamily="34" charset="-120"/>
              </a:rPr>
              <a:t>Futures</a:t>
            </a:r>
            <a:endParaRPr lang="en-US" sz="1450" dirty="0"/>
          </a:p>
        </p:txBody>
      </p:sp>
      <p:sp>
        <p:nvSpPr>
          <p:cNvPr id="38" name="Text 36"/>
          <p:cNvSpPr/>
          <p:nvPr/>
        </p:nvSpPr>
        <p:spPr>
          <a:xfrm>
            <a:off x="6473952" y="4823460"/>
            <a:ext cx="2139696" cy="1257300"/>
          </a:xfrm>
          <a:prstGeom prst="rect">
            <a:avLst/>
          </a:prstGeom>
          <a:noFill/>
          <a:ln/>
        </p:spPr>
        <p:txBody>
          <a:bodyPr wrap="square" rtlCol="0" anchor="t"/>
          <a:lstStyle/>
          <a:p>
            <a:pPr indent="0" marL="0">
              <a:buNone/>
            </a:pPr>
            <a:r>
              <a:rPr lang="en-US" sz="1200" dirty="0">
                <a:solidFill>
                  <a:srgbClr val="263947"/>
                </a:solidFill>
                <a:latin typeface="Calibri" pitchFamily="34" charset="0"/>
                <a:ea typeface="Calibri" pitchFamily="34" charset="-122"/>
                <a:cs typeface="Calibri" pitchFamily="34" charset="-120"/>
              </a:rPr>
              <a:t>Graded by evidence.</a:t>
            </a:r>
            <a:endParaRPr lang="en-US" sz="1200" dirty="0"/>
          </a:p>
        </p:txBody>
      </p:sp>
      <p:sp>
        <p:nvSpPr>
          <p:cNvPr id="39" name="Shape 37"/>
          <p:cNvSpPr/>
          <p:nvPr/>
        </p:nvSpPr>
        <p:spPr>
          <a:xfrm>
            <a:off x="9153144" y="4046220"/>
            <a:ext cx="2578608" cy="2171700"/>
          </a:xfrm>
          <a:prstGeom prst="roundRect">
            <a:avLst>
              <a:gd name="adj" fmla="val 2947"/>
            </a:avLst>
          </a:prstGeom>
          <a:solidFill>
            <a:srgbClr val="F4F7F8"/>
          </a:solidFill>
          <a:ln w="12700">
            <a:solidFill>
              <a:srgbClr val="E7ECEF"/>
            </a:solidFill>
            <a:prstDash val="solid"/>
          </a:ln>
        </p:spPr>
      </p:sp>
      <p:sp>
        <p:nvSpPr>
          <p:cNvPr id="40" name="Shape 38"/>
          <p:cNvSpPr/>
          <p:nvPr/>
        </p:nvSpPr>
        <p:spPr>
          <a:xfrm>
            <a:off x="9354312" y="4247388"/>
            <a:ext cx="457200" cy="457200"/>
          </a:xfrm>
          <a:prstGeom prst="roundRect">
            <a:avLst>
              <a:gd name="adj" fmla="val 12000"/>
            </a:avLst>
          </a:prstGeom>
          <a:solidFill>
            <a:srgbClr val="0E8C9B"/>
          </a:solidFill>
          <a:ln/>
        </p:spPr>
      </p:sp>
      <p:sp>
        <p:nvSpPr>
          <p:cNvPr id="41" name="Text 39"/>
          <p:cNvSpPr/>
          <p:nvPr/>
        </p:nvSpPr>
        <p:spPr>
          <a:xfrm>
            <a:off x="9354312" y="4247388"/>
            <a:ext cx="457200" cy="457200"/>
          </a:xfrm>
          <a:prstGeom prst="rect">
            <a:avLst/>
          </a:prstGeom>
          <a:noFill/>
          <a:ln/>
        </p:spPr>
        <p:txBody>
          <a:bodyPr wrap="square"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a:t>
            </a:r>
            <a:endParaRPr lang="en-US" sz="1500" dirty="0"/>
          </a:p>
        </p:txBody>
      </p:sp>
      <p:sp>
        <p:nvSpPr>
          <p:cNvPr id="42" name="Text 40"/>
          <p:cNvSpPr/>
          <p:nvPr/>
        </p:nvSpPr>
        <p:spPr>
          <a:xfrm>
            <a:off x="9930384" y="4229100"/>
            <a:ext cx="1618488" cy="502920"/>
          </a:xfrm>
          <a:prstGeom prst="rect">
            <a:avLst/>
          </a:prstGeom>
          <a:noFill/>
          <a:ln/>
        </p:spPr>
        <p:txBody>
          <a:bodyPr wrap="square" rtlCol="0" anchor="ctr"/>
          <a:lstStyle/>
          <a:p>
            <a:pPr indent="0" marL="0">
              <a:buNone/>
            </a:pPr>
            <a:r>
              <a:rPr lang="en-US" sz="1450" b="1" dirty="0">
                <a:solidFill>
                  <a:srgbClr val="263947"/>
                </a:solidFill>
                <a:latin typeface="Calibri" pitchFamily="34" charset="0"/>
                <a:ea typeface="Calibri" pitchFamily="34" charset="-122"/>
                <a:cs typeface="Calibri" pitchFamily="34" charset="-120"/>
              </a:rPr>
              <a:t>Conclusions</a:t>
            </a:r>
            <a:endParaRPr lang="en-US" sz="1450" dirty="0"/>
          </a:p>
        </p:txBody>
      </p:sp>
      <p:sp>
        <p:nvSpPr>
          <p:cNvPr id="43" name="Text 41"/>
          <p:cNvSpPr/>
          <p:nvPr/>
        </p:nvSpPr>
        <p:spPr>
          <a:xfrm>
            <a:off x="9372600" y="4823460"/>
            <a:ext cx="2139696" cy="1257300"/>
          </a:xfrm>
          <a:prstGeom prst="rect">
            <a:avLst/>
          </a:prstGeom>
          <a:noFill/>
          <a:ln/>
        </p:spPr>
        <p:txBody>
          <a:bodyPr wrap="square" rtlCol="0" anchor="t"/>
          <a:lstStyle/>
          <a:p>
            <a:pPr indent="0" marL="0">
              <a:buNone/>
            </a:pPr>
            <a:r>
              <a:rPr lang="en-US" sz="1200" dirty="0">
                <a:solidFill>
                  <a:srgbClr val="263947"/>
                </a:solidFill>
                <a:latin typeface="Calibri" pitchFamily="34" charset="0"/>
                <a:ea typeface="Calibri" pitchFamily="34" charset="-122"/>
                <a:cs typeface="Calibri" pitchFamily="34" charset="-120"/>
              </a:rPr>
              <a:t>What holds everywhere.</a:t>
            </a:r>
            <a:endParaRPr lang="en-US" sz="1200" dirty="0"/>
          </a:p>
        </p:txBody>
      </p:sp>
      <p:sp>
        <p:nvSpPr>
          <p:cNvPr id="44" name="Text 42"/>
          <p:cNvSpPr/>
          <p:nvPr/>
        </p:nvSpPr>
        <p:spPr>
          <a:xfrm>
            <a:off x="457200" y="6473952"/>
            <a:ext cx="7315200" cy="274320"/>
          </a:xfrm>
          <a:prstGeom prst="rect">
            <a:avLst/>
          </a:prstGeom>
          <a:noFill/>
          <a:ln/>
        </p:spPr>
        <p:txBody>
          <a:bodyPr wrap="square" rtlCol="0" anchor="ctr"/>
          <a:lstStyle/>
          <a:p>
            <a:pPr indent="0" marL="0">
              <a:buNone/>
            </a:pPr>
            <a:r>
              <a:rPr lang="en-US" sz="900" dirty="0">
                <a:solidFill>
                  <a:srgbClr val="7C8B96"/>
                </a:solidFill>
                <a:latin typeface="Calibri" pitchFamily="34" charset="0"/>
                <a:ea typeface="Calibri" pitchFamily="34" charset="-122"/>
                <a:cs typeface="Calibri" pitchFamily="34" charset="-120"/>
              </a:rPr>
              <a:t>Beyond the GPU — 2-hour lecture</a:t>
            </a:r>
            <a:endParaRPr lang="en-US" sz="900" dirty="0"/>
          </a:p>
        </p:txBody>
      </p:sp>
      <p:sp>
        <p:nvSpPr>
          <p:cNvPr id="45" name="Text 43"/>
          <p:cNvSpPr/>
          <p:nvPr/>
        </p:nvSpPr>
        <p:spPr>
          <a:xfrm>
            <a:off x="11277295" y="6473952"/>
            <a:ext cx="457200" cy="274320"/>
          </a:xfrm>
          <a:prstGeom prst="rect">
            <a:avLst/>
          </a:prstGeom>
          <a:noFill/>
          <a:ln/>
        </p:spPr>
        <p:txBody>
          <a:bodyPr wrap="square" rtlCol="0" anchor="ctr"/>
          <a:lstStyle/>
          <a:p>
            <a:pPr algn="r" indent="0" marL="0">
              <a:buNone/>
            </a:pPr>
            <a:r>
              <a:rPr lang="en-US" sz="900" dirty="0">
                <a:solidFill>
                  <a:srgbClr val="7C8B96"/>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10896"/>
            <a:ext cx="10058400" cy="274320"/>
          </a:xfrm>
          <a:prstGeom prst="rect">
            <a:avLst/>
          </a:prstGeom>
          <a:noFill/>
          <a:ln/>
        </p:spPr>
        <p:txBody>
          <a:bodyPr wrap="square" rtlCol="0" anchor="ctr"/>
          <a:lstStyle/>
          <a:p>
            <a:pPr indent="0" marL="0">
              <a:buNone/>
            </a:pPr>
            <a:r>
              <a:rPr lang="en-US" sz="1200" b="1" spc="200" kern="0" dirty="0">
                <a:solidFill>
                  <a:srgbClr val="0E8C9B"/>
                </a:solidFill>
                <a:latin typeface="Calibri" pitchFamily="34" charset="0"/>
                <a:ea typeface="Calibri" pitchFamily="34" charset="-122"/>
                <a:cs typeface="Calibri" pitchFamily="34" charset="-120"/>
              </a:rPr>
              <a:t>CONCEPTS PRIMER</a:t>
            </a:r>
            <a:endParaRPr lang="en-US" sz="1200" dirty="0"/>
          </a:p>
        </p:txBody>
      </p:sp>
      <p:sp>
        <p:nvSpPr>
          <p:cNvPr id="3" name="Text 1"/>
          <p:cNvSpPr/>
          <p:nvPr/>
        </p:nvSpPr>
        <p:spPr>
          <a:xfrm>
            <a:off x="457200" y="548640"/>
            <a:ext cx="11247120" cy="822960"/>
          </a:xfrm>
          <a:prstGeom prst="rect">
            <a:avLst/>
          </a:prstGeom>
          <a:noFill/>
          <a:ln/>
        </p:spPr>
        <p:txBody>
          <a:bodyPr wrap="square" rtlCol="0" anchor="ctr"/>
          <a:lstStyle/>
          <a:p>
            <a:pPr indent="0" marL="0">
              <a:buNone/>
            </a:pPr>
            <a:r>
              <a:rPr lang="en-US" sz="3000" b="1" dirty="0">
                <a:solidFill>
                  <a:srgbClr val="263947"/>
                </a:solidFill>
                <a:latin typeface="Cambria" pitchFamily="34" charset="0"/>
                <a:ea typeface="Cambria" pitchFamily="34" charset="-122"/>
                <a:cs typeface="Cambria" pitchFamily="34" charset="-120"/>
              </a:rPr>
              <a:t>The hardware vocabulary, in software terms</a:t>
            </a:r>
            <a:endParaRPr lang="en-US" sz="3000" dirty="0"/>
          </a:p>
        </p:txBody>
      </p:sp>
      <p:sp>
        <p:nvSpPr>
          <p:cNvPr id="4" name="Shape 2"/>
          <p:cNvSpPr/>
          <p:nvPr/>
        </p:nvSpPr>
        <p:spPr>
          <a:xfrm>
            <a:off x="457200" y="1600200"/>
            <a:ext cx="3544824" cy="2171700"/>
          </a:xfrm>
          <a:prstGeom prst="roundRect">
            <a:avLst>
              <a:gd name="adj" fmla="val 2947"/>
            </a:avLst>
          </a:prstGeom>
          <a:solidFill>
            <a:srgbClr val="F4F7F8"/>
          </a:solidFill>
          <a:ln w="12700">
            <a:solidFill>
              <a:srgbClr val="E7ECEF"/>
            </a:solidFill>
            <a:prstDash val="solid"/>
          </a:ln>
        </p:spPr>
      </p:sp>
      <p:sp>
        <p:nvSpPr>
          <p:cNvPr id="5" name="Shape 3"/>
          <p:cNvSpPr/>
          <p:nvPr/>
        </p:nvSpPr>
        <p:spPr>
          <a:xfrm>
            <a:off x="658368" y="1801368"/>
            <a:ext cx="457200" cy="457200"/>
          </a:xfrm>
          <a:prstGeom prst="roundRect">
            <a:avLst>
              <a:gd name="adj" fmla="val 12000"/>
            </a:avLst>
          </a:prstGeom>
          <a:solidFill>
            <a:srgbClr val="0E8C9B"/>
          </a:solidFill>
          <a:ln/>
        </p:spPr>
      </p:sp>
      <p:sp>
        <p:nvSpPr>
          <p:cNvPr id="6" name="Text 4"/>
          <p:cNvSpPr/>
          <p:nvPr/>
        </p:nvSpPr>
        <p:spPr>
          <a:xfrm>
            <a:off x="1234440" y="1783080"/>
            <a:ext cx="2584704" cy="502920"/>
          </a:xfrm>
          <a:prstGeom prst="rect">
            <a:avLst/>
          </a:prstGeom>
          <a:noFill/>
          <a:ln/>
        </p:spPr>
        <p:txBody>
          <a:bodyPr wrap="square" rtlCol="0" anchor="ctr"/>
          <a:lstStyle/>
          <a:p>
            <a:pPr indent="0" marL="0">
              <a:buNone/>
            </a:pPr>
            <a:r>
              <a:rPr lang="en-US" sz="1450" b="1" dirty="0">
                <a:solidFill>
                  <a:srgbClr val="263947"/>
                </a:solidFill>
                <a:latin typeface="Calibri" pitchFamily="34" charset="0"/>
                <a:ea typeface="Calibri" pitchFamily="34" charset="-122"/>
                <a:cs typeface="Calibri" pitchFamily="34" charset="-120"/>
              </a:rPr>
              <a:t>GPU</a:t>
            </a:r>
            <a:endParaRPr lang="en-US" sz="1450" dirty="0"/>
          </a:p>
        </p:txBody>
      </p:sp>
      <p:sp>
        <p:nvSpPr>
          <p:cNvPr id="7" name="Text 5"/>
          <p:cNvSpPr/>
          <p:nvPr/>
        </p:nvSpPr>
        <p:spPr>
          <a:xfrm>
            <a:off x="676656" y="2377440"/>
            <a:ext cx="3105912" cy="1257300"/>
          </a:xfrm>
          <a:prstGeom prst="rect">
            <a:avLst/>
          </a:prstGeom>
          <a:noFill/>
          <a:ln/>
        </p:spPr>
        <p:txBody>
          <a:bodyPr wrap="square" rtlCol="0" anchor="t"/>
          <a:lstStyle/>
          <a:p>
            <a:pPr indent="0" marL="0">
              <a:buNone/>
            </a:pPr>
            <a:r>
              <a:rPr lang="en-US" sz="1200" dirty="0">
                <a:solidFill>
                  <a:srgbClr val="263947"/>
                </a:solidFill>
                <a:latin typeface="Calibri" pitchFamily="34" charset="0"/>
                <a:ea typeface="Calibri" pitchFamily="34" charset="-122"/>
                <a:cs typeface="Calibri" pitchFamily="34" charset="-120"/>
              </a:rPr>
              <a:t>Thousands of parallel lanes; fast on regular, batched, streamed work.</a:t>
            </a:r>
            <a:endParaRPr lang="en-US" sz="1200" dirty="0"/>
          </a:p>
        </p:txBody>
      </p:sp>
      <p:sp>
        <p:nvSpPr>
          <p:cNvPr id="8" name="Shape 6"/>
          <p:cNvSpPr/>
          <p:nvPr/>
        </p:nvSpPr>
        <p:spPr>
          <a:xfrm>
            <a:off x="4322064" y="1600200"/>
            <a:ext cx="3544824" cy="2171700"/>
          </a:xfrm>
          <a:prstGeom prst="roundRect">
            <a:avLst>
              <a:gd name="adj" fmla="val 2947"/>
            </a:avLst>
          </a:prstGeom>
          <a:solidFill>
            <a:srgbClr val="F4F7F8"/>
          </a:solidFill>
          <a:ln w="12700">
            <a:solidFill>
              <a:srgbClr val="E7ECEF"/>
            </a:solidFill>
            <a:prstDash val="solid"/>
          </a:ln>
        </p:spPr>
      </p:sp>
      <p:sp>
        <p:nvSpPr>
          <p:cNvPr id="9" name="Shape 7"/>
          <p:cNvSpPr/>
          <p:nvPr/>
        </p:nvSpPr>
        <p:spPr>
          <a:xfrm>
            <a:off x="4523232" y="1801368"/>
            <a:ext cx="457200" cy="457200"/>
          </a:xfrm>
          <a:prstGeom prst="roundRect">
            <a:avLst>
              <a:gd name="adj" fmla="val 12000"/>
            </a:avLst>
          </a:prstGeom>
          <a:solidFill>
            <a:srgbClr val="0E8C9B"/>
          </a:solidFill>
          <a:ln/>
        </p:spPr>
      </p:sp>
      <p:sp>
        <p:nvSpPr>
          <p:cNvPr id="10" name="Text 8"/>
          <p:cNvSpPr/>
          <p:nvPr/>
        </p:nvSpPr>
        <p:spPr>
          <a:xfrm>
            <a:off x="5099304" y="1783080"/>
            <a:ext cx="2584704" cy="502920"/>
          </a:xfrm>
          <a:prstGeom prst="rect">
            <a:avLst/>
          </a:prstGeom>
          <a:noFill/>
          <a:ln/>
        </p:spPr>
        <p:txBody>
          <a:bodyPr wrap="square" rtlCol="0" anchor="ctr"/>
          <a:lstStyle/>
          <a:p>
            <a:pPr indent="0" marL="0">
              <a:buNone/>
            </a:pPr>
            <a:r>
              <a:rPr lang="en-US" sz="1450" b="1" dirty="0">
                <a:solidFill>
                  <a:srgbClr val="263947"/>
                </a:solidFill>
                <a:latin typeface="Calibri" pitchFamily="34" charset="0"/>
                <a:ea typeface="Calibri" pitchFamily="34" charset="-122"/>
                <a:cs typeface="Calibri" pitchFamily="34" charset="-120"/>
              </a:rPr>
              <a:t>Matrix / tensor engine</a:t>
            </a:r>
            <a:endParaRPr lang="en-US" sz="1450" dirty="0"/>
          </a:p>
        </p:txBody>
      </p:sp>
      <p:sp>
        <p:nvSpPr>
          <p:cNvPr id="11" name="Text 9"/>
          <p:cNvSpPr/>
          <p:nvPr/>
        </p:nvSpPr>
        <p:spPr>
          <a:xfrm>
            <a:off x="4541520" y="2377440"/>
            <a:ext cx="3105912" cy="1257300"/>
          </a:xfrm>
          <a:prstGeom prst="rect">
            <a:avLst/>
          </a:prstGeom>
          <a:noFill/>
          <a:ln/>
        </p:spPr>
        <p:txBody>
          <a:bodyPr wrap="square" rtlCol="0" anchor="t"/>
          <a:lstStyle/>
          <a:p>
            <a:pPr indent="0" marL="0">
              <a:buNone/>
            </a:pPr>
            <a:r>
              <a:rPr lang="en-US" sz="1200" dirty="0">
                <a:solidFill>
                  <a:srgbClr val="263947"/>
                </a:solidFill>
                <a:latin typeface="Calibri" pitchFamily="34" charset="0"/>
                <a:ea typeface="Calibri" pitchFamily="34" charset="-122"/>
                <a:cs typeface="Calibri" pitchFamily="34" charset="-120"/>
              </a:rPr>
              <a:t>A whole matrix tile per instruction; control cost amortized over many multiply-adds.</a:t>
            </a:r>
            <a:endParaRPr lang="en-US" sz="1200" dirty="0"/>
          </a:p>
        </p:txBody>
      </p:sp>
      <p:sp>
        <p:nvSpPr>
          <p:cNvPr id="12" name="Shape 10"/>
          <p:cNvSpPr/>
          <p:nvPr/>
        </p:nvSpPr>
        <p:spPr>
          <a:xfrm>
            <a:off x="8186928" y="1600200"/>
            <a:ext cx="3544824" cy="2171700"/>
          </a:xfrm>
          <a:prstGeom prst="roundRect">
            <a:avLst>
              <a:gd name="adj" fmla="val 2947"/>
            </a:avLst>
          </a:prstGeom>
          <a:solidFill>
            <a:srgbClr val="F4F7F8"/>
          </a:solidFill>
          <a:ln w="12700">
            <a:solidFill>
              <a:srgbClr val="E7ECEF"/>
            </a:solidFill>
            <a:prstDash val="solid"/>
          </a:ln>
        </p:spPr>
      </p:sp>
      <p:sp>
        <p:nvSpPr>
          <p:cNvPr id="13" name="Shape 11"/>
          <p:cNvSpPr/>
          <p:nvPr/>
        </p:nvSpPr>
        <p:spPr>
          <a:xfrm>
            <a:off x="8388096" y="1801368"/>
            <a:ext cx="457200" cy="457200"/>
          </a:xfrm>
          <a:prstGeom prst="roundRect">
            <a:avLst>
              <a:gd name="adj" fmla="val 12000"/>
            </a:avLst>
          </a:prstGeom>
          <a:solidFill>
            <a:srgbClr val="2E6E9E"/>
          </a:solidFill>
          <a:ln/>
        </p:spPr>
      </p:sp>
      <p:sp>
        <p:nvSpPr>
          <p:cNvPr id="14" name="Text 12"/>
          <p:cNvSpPr/>
          <p:nvPr/>
        </p:nvSpPr>
        <p:spPr>
          <a:xfrm>
            <a:off x="8964168" y="1783080"/>
            <a:ext cx="2584704" cy="502920"/>
          </a:xfrm>
          <a:prstGeom prst="rect">
            <a:avLst/>
          </a:prstGeom>
          <a:noFill/>
          <a:ln/>
        </p:spPr>
        <p:txBody>
          <a:bodyPr wrap="square" rtlCol="0" anchor="ctr"/>
          <a:lstStyle/>
          <a:p>
            <a:pPr indent="0" marL="0">
              <a:buNone/>
            </a:pPr>
            <a:r>
              <a:rPr lang="en-US" sz="1450" b="1" dirty="0">
                <a:solidFill>
                  <a:srgbClr val="263947"/>
                </a:solidFill>
                <a:latin typeface="Calibri" pitchFamily="34" charset="0"/>
                <a:ea typeface="Calibri" pitchFamily="34" charset="-122"/>
                <a:cs typeface="Calibri" pitchFamily="34" charset="-120"/>
              </a:rPr>
              <a:t>Systolic array</a:t>
            </a:r>
            <a:endParaRPr lang="en-US" sz="1450" dirty="0"/>
          </a:p>
        </p:txBody>
      </p:sp>
      <p:sp>
        <p:nvSpPr>
          <p:cNvPr id="15" name="Text 13"/>
          <p:cNvSpPr/>
          <p:nvPr/>
        </p:nvSpPr>
        <p:spPr>
          <a:xfrm>
            <a:off x="8406384" y="2377440"/>
            <a:ext cx="3105912" cy="1257300"/>
          </a:xfrm>
          <a:prstGeom prst="rect">
            <a:avLst/>
          </a:prstGeom>
          <a:noFill/>
          <a:ln/>
        </p:spPr>
        <p:txBody>
          <a:bodyPr wrap="square" rtlCol="0" anchor="t"/>
          <a:lstStyle/>
          <a:p>
            <a:pPr indent="0" marL="0">
              <a:buNone/>
            </a:pPr>
            <a:r>
              <a:rPr lang="en-US" sz="1200" dirty="0">
                <a:solidFill>
                  <a:srgbClr val="263947"/>
                </a:solidFill>
                <a:latin typeface="Calibri" pitchFamily="34" charset="0"/>
                <a:ea typeface="Calibri" pitchFamily="34" charset="-122"/>
                <a:cs typeface="Calibri" pitchFamily="34" charset="-120"/>
              </a:rPr>
              <a:t>A grid where operands flow to neighbors — a value fetched once is reused many times.</a:t>
            </a:r>
            <a:endParaRPr lang="en-US" sz="1200" dirty="0"/>
          </a:p>
        </p:txBody>
      </p:sp>
      <p:sp>
        <p:nvSpPr>
          <p:cNvPr id="16" name="Shape 14"/>
          <p:cNvSpPr/>
          <p:nvPr/>
        </p:nvSpPr>
        <p:spPr>
          <a:xfrm>
            <a:off x="457200" y="4046220"/>
            <a:ext cx="3544824" cy="2171700"/>
          </a:xfrm>
          <a:prstGeom prst="roundRect">
            <a:avLst>
              <a:gd name="adj" fmla="val 2947"/>
            </a:avLst>
          </a:prstGeom>
          <a:solidFill>
            <a:srgbClr val="F4F7F8"/>
          </a:solidFill>
          <a:ln w="12700">
            <a:solidFill>
              <a:srgbClr val="E7ECEF"/>
            </a:solidFill>
            <a:prstDash val="solid"/>
          </a:ln>
        </p:spPr>
      </p:sp>
      <p:sp>
        <p:nvSpPr>
          <p:cNvPr id="17" name="Shape 15"/>
          <p:cNvSpPr/>
          <p:nvPr/>
        </p:nvSpPr>
        <p:spPr>
          <a:xfrm>
            <a:off x="658368" y="4247388"/>
            <a:ext cx="457200" cy="457200"/>
          </a:xfrm>
          <a:prstGeom prst="roundRect">
            <a:avLst>
              <a:gd name="adj" fmla="val 12000"/>
            </a:avLst>
          </a:prstGeom>
          <a:solidFill>
            <a:srgbClr val="2E6E9E"/>
          </a:solidFill>
          <a:ln/>
        </p:spPr>
      </p:sp>
      <p:sp>
        <p:nvSpPr>
          <p:cNvPr id="18" name="Text 16"/>
          <p:cNvSpPr/>
          <p:nvPr/>
        </p:nvSpPr>
        <p:spPr>
          <a:xfrm>
            <a:off x="1234440" y="4229100"/>
            <a:ext cx="2584704" cy="502920"/>
          </a:xfrm>
          <a:prstGeom prst="rect">
            <a:avLst/>
          </a:prstGeom>
          <a:noFill/>
          <a:ln/>
        </p:spPr>
        <p:txBody>
          <a:bodyPr wrap="square" rtlCol="0" anchor="ctr"/>
          <a:lstStyle/>
          <a:p>
            <a:pPr indent="0" marL="0">
              <a:buNone/>
            </a:pPr>
            <a:r>
              <a:rPr lang="en-US" sz="1450" b="1" dirty="0">
                <a:solidFill>
                  <a:srgbClr val="263947"/>
                </a:solidFill>
                <a:latin typeface="Calibri" pitchFamily="34" charset="0"/>
                <a:ea typeface="Calibri" pitchFamily="34" charset="-122"/>
                <a:cs typeface="Calibri" pitchFamily="34" charset="-120"/>
              </a:rPr>
              <a:t>HBM &amp; scratchpad</a:t>
            </a:r>
            <a:endParaRPr lang="en-US" sz="1450" dirty="0"/>
          </a:p>
        </p:txBody>
      </p:sp>
      <p:sp>
        <p:nvSpPr>
          <p:cNvPr id="19" name="Text 17"/>
          <p:cNvSpPr/>
          <p:nvPr/>
        </p:nvSpPr>
        <p:spPr>
          <a:xfrm>
            <a:off x="676656" y="4823460"/>
            <a:ext cx="3105912" cy="1257300"/>
          </a:xfrm>
          <a:prstGeom prst="rect">
            <a:avLst/>
          </a:prstGeom>
          <a:noFill/>
          <a:ln/>
        </p:spPr>
        <p:txBody>
          <a:bodyPr wrap="square" rtlCol="0" anchor="t"/>
          <a:lstStyle/>
          <a:p>
            <a:pPr indent="0" marL="0">
              <a:buNone/>
            </a:pPr>
            <a:r>
              <a:rPr lang="en-US" sz="1200" dirty="0">
                <a:solidFill>
                  <a:srgbClr val="263947"/>
                </a:solidFill>
                <a:latin typeface="Calibri" pitchFamily="34" charset="0"/>
                <a:ea typeface="Calibri" pitchFamily="34" charset="-122"/>
                <a:cs typeface="Calibri" pitchFamily="34" charset="-120"/>
              </a:rPr>
              <a:t>Stacked DRAM for bandwidth; software-managed SRAM for reuse under compiler control.</a:t>
            </a:r>
            <a:endParaRPr lang="en-US" sz="1200" dirty="0"/>
          </a:p>
        </p:txBody>
      </p:sp>
      <p:sp>
        <p:nvSpPr>
          <p:cNvPr id="20" name="Shape 18"/>
          <p:cNvSpPr/>
          <p:nvPr/>
        </p:nvSpPr>
        <p:spPr>
          <a:xfrm>
            <a:off x="4322064" y="4046220"/>
            <a:ext cx="3544824" cy="2171700"/>
          </a:xfrm>
          <a:prstGeom prst="roundRect">
            <a:avLst>
              <a:gd name="adj" fmla="val 2947"/>
            </a:avLst>
          </a:prstGeom>
          <a:solidFill>
            <a:srgbClr val="F4F7F8"/>
          </a:solidFill>
          <a:ln w="12700">
            <a:solidFill>
              <a:srgbClr val="E7ECEF"/>
            </a:solidFill>
            <a:prstDash val="solid"/>
          </a:ln>
        </p:spPr>
      </p:sp>
      <p:sp>
        <p:nvSpPr>
          <p:cNvPr id="21" name="Shape 19"/>
          <p:cNvSpPr/>
          <p:nvPr/>
        </p:nvSpPr>
        <p:spPr>
          <a:xfrm>
            <a:off x="4523232" y="4247388"/>
            <a:ext cx="457200" cy="457200"/>
          </a:xfrm>
          <a:prstGeom prst="roundRect">
            <a:avLst>
              <a:gd name="adj" fmla="val 12000"/>
            </a:avLst>
          </a:prstGeom>
          <a:solidFill>
            <a:srgbClr val="E08A2B"/>
          </a:solidFill>
          <a:ln/>
        </p:spPr>
      </p:sp>
      <p:sp>
        <p:nvSpPr>
          <p:cNvPr id="22" name="Text 20"/>
          <p:cNvSpPr/>
          <p:nvPr/>
        </p:nvSpPr>
        <p:spPr>
          <a:xfrm>
            <a:off x="5099304" y="4229100"/>
            <a:ext cx="2584704" cy="502920"/>
          </a:xfrm>
          <a:prstGeom prst="rect">
            <a:avLst/>
          </a:prstGeom>
          <a:noFill/>
          <a:ln/>
        </p:spPr>
        <p:txBody>
          <a:bodyPr wrap="square" rtlCol="0" anchor="ctr"/>
          <a:lstStyle/>
          <a:p>
            <a:pPr indent="0" marL="0">
              <a:buNone/>
            </a:pPr>
            <a:r>
              <a:rPr lang="en-US" sz="1450" b="1" dirty="0">
                <a:solidFill>
                  <a:srgbClr val="263947"/>
                </a:solidFill>
                <a:latin typeface="Calibri" pitchFamily="34" charset="0"/>
                <a:ea typeface="Calibri" pitchFamily="34" charset="-122"/>
                <a:cs typeface="Calibri" pitchFamily="34" charset="-120"/>
              </a:rPr>
              <a:t>NPU / dataflow / PIM</a:t>
            </a:r>
            <a:endParaRPr lang="en-US" sz="1450" dirty="0"/>
          </a:p>
        </p:txBody>
      </p:sp>
      <p:sp>
        <p:nvSpPr>
          <p:cNvPr id="23" name="Text 21"/>
          <p:cNvSpPr/>
          <p:nvPr/>
        </p:nvSpPr>
        <p:spPr>
          <a:xfrm>
            <a:off x="4541520" y="4823460"/>
            <a:ext cx="3105912" cy="1257300"/>
          </a:xfrm>
          <a:prstGeom prst="rect">
            <a:avLst/>
          </a:prstGeom>
          <a:noFill/>
          <a:ln/>
        </p:spPr>
        <p:txBody>
          <a:bodyPr wrap="square" rtlCol="0" anchor="t"/>
          <a:lstStyle/>
          <a:p>
            <a:pPr indent="0" marL="0">
              <a:buNone/>
            </a:pPr>
            <a:r>
              <a:rPr lang="en-US" sz="1200" dirty="0">
                <a:solidFill>
                  <a:srgbClr val="263947"/>
                </a:solidFill>
                <a:latin typeface="Calibri" pitchFamily="34" charset="0"/>
                <a:ea typeface="Calibri" pitchFamily="34" charset="-122"/>
                <a:cs typeface="Calibri" pitchFamily="34" charset="-120"/>
              </a:rPr>
              <a:t>Blocks that change a contract: wake-scope energy, static schedule, or compute in memory.</a:t>
            </a:r>
            <a:endParaRPr lang="en-US" sz="1200" dirty="0"/>
          </a:p>
        </p:txBody>
      </p:sp>
      <p:sp>
        <p:nvSpPr>
          <p:cNvPr id="24" name="Shape 22"/>
          <p:cNvSpPr/>
          <p:nvPr/>
        </p:nvSpPr>
        <p:spPr>
          <a:xfrm>
            <a:off x="8186928" y="4046220"/>
            <a:ext cx="3544824" cy="2171700"/>
          </a:xfrm>
          <a:prstGeom prst="roundRect">
            <a:avLst>
              <a:gd name="adj" fmla="val 2947"/>
            </a:avLst>
          </a:prstGeom>
          <a:solidFill>
            <a:srgbClr val="F4F7F8"/>
          </a:solidFill>
          <a:ln w="12700">
            <a:solidFill>
              <a:srgbClr val="E7ECEF"/>
            </a:solidFill>
            <a:prstDash val="solid"/>
          </a:ln>
        </p:spPr>
      </p:sp>
      <p:sp>
        <p:nvSpPr>
          <p:cNvPr id="25" name="Shape 23"/>
          <p:cNvSpPr/>
          <p:nvPr/>
        </p:nvSpPr>
        <p:spPr>
          <a:xfrm>
            <a:off x="8388096" y="4247388"/>
            <a:ext cx="457200" cy="457200"/>
          </a:xfrm>
          <a:prstGeom prst="roundRect">
            <a:avLst>
              <a:gd name="adj" fmla="val 12000"/>
            </a:avLst>
          </a:prstGeom>
          <a:solidFill>
            <a:srgbClr val="E08A2B"/>
          </a:solidFill>
          <a:ln/>
        </p:spPr>
      </p:sp>
      <p:sp>
        <p:nvSpPr>
          <p:cNvPr id="26" name="Text 24"/>
          <p:cNvSpPr/>
          <p:nvPr/>
        </p:nvSpPr>
        <p:spPr>
          <a:xfrm>
            <a:off x="8964168" y="4229100"/>
            <a:ext cx="2584704" cy="502920"/>
          </a:xfrm>
          <a:prstGeom prst="rect">
            <a:avLst/>
          </a:prstGeom>
          <a:noFill/>
          <a:ln/>
        </p:spPr>
        <p:txBody>
          <a:bodyPr wrap="square" rtlCol="0" anchor="ctr"/>
          <a:lstStyle/>
          <a:p>
            <a:pPr indent="0" marL="0">
              <a:buNone/>
            </a:pPr>
            <a:r>
              <a:rPr lang="en-US" sz="1450" b="1" dirty="0">
                <a:solidFill>
                  <a:srgbClr val="263947"/>
                </a:solidFill>
                <a:latin typeface="Calibri" pitchFamily="34" charset="0"/>
                <a:ea typeface="Calibri" pitchFamily="34" charset="-122"/>
                <a:cs typeface="Calibri" pitchFamily="34" charset="-120"/>
              </a:rPr>
              <a:t>TOPS vs contract</a:t>
            </a:r>
            <a:endParaRPr lang="en-US" sz="1450" dirty="0"/>
          </a:p>
        </p:txBody>
      </p:sp>
      <p:sp>
        <p:nvSpPr>
          <p:cNvPr id="27" name="Text 25"/>
          <p:cNvSpPr/>
          <p:nvPr/>
        </p:nvSpPr>
        <p:spPr>
          <a:xfrm>
            <a:off x="8406384" y="4823460"/>
            <a:ext cx="3105912" cy="1257300"/>
          </a:xfrm>
          <a:prstGeom prst="rect">
            <a:avLst/>
          </a:prstGeom>
          <a:noFill/>
          <a:ln/>
        </p:spPr>
        <p:txBody>
          <a:bodyPr wrap="square" rtlCol="0" anchor="t"/>
          <a:lstStyle/>
          <a:p>
            <a:pPr indent="0" marL="0">
              <a:buNone/>
            </a:pPr>
            <a:r>
              <a:rPr lang="en-US" sz="1200" dirty="0">
                <a:solidFill>
                  <a:srgbClr val="263947"/>
                </a:solidFill>
                <a:latin typeface="Calibri" pitchFamily="34" charset="0"/>
                <a:ea typeface="Calibri" pitchFamily="34" charset="-122"/>
                <a:cs typeface="Calibri" pitchFamily="34" charset="-120"/>
              </a:rPr>
              <a:t>TOPS is a peak rating (marketing). A contract is what hardware promises software.</a:t>
            </a:r>
            <a:endParaRPr lang="en-US" sz="1200" dirty="0"/>
          </a:p>
        </p:txBody>
      </p:sp>
      <p:sp>
        <p:nvSpPr>
          <p:cNvPr id="28" name="Text 26"/>
          <p:cNvSpPr/>
          <p:nvPr/>
        </p:nvSpPr>
        <p:spPr>
          <a:xfrm>
            <a:off x="457200" y="6473952"/>
            <a:ext cx="7315200" cy="274320"/>
          </a:xfrm>
          <a:prstGeom prst="rect">
            <a:avLst/>
          </a:prstGeom>
          <a:noFill/>
          <a:ln/>
        </p:spPr>
        <p:txBody>
          <a:bodyPr wrap="square" rtlCol="0" anchor="ctr"/>
          <a:lstStyle/>
          <a:p>
            <a:pPr indent="0" marL="0">
              <a:buNone/>
            </a:pPr>
            <a:r>
              <a:rPr lang="en-US" sz="900" dirty="0">
                <a:solidFill>
                  <a:srgbClr val="7C8B96"/>
                </a:solidFill>
                <a:latin typeface="Calibri" pitchFamily="34" charset="0"/>
                <a:ea typeface="Calibri" pitchFamily="34" charset="-122"/>
                <a:cs typeface="Calibri" pitchFamily="34" charset="-120"/>
              </a:rPr>
              <a:t>Beyond the GPU — 2-hour lecture</a:t>
            </a:r>
            <a:endParaRPr lang="en-US" sz="900" dirty="0"/>
          </a:p>
        </p:txBody>
      </p:sp>
      <p:sp>
        <p:nvSpPr>
          <p:cNvPr id="29" name="Text 27"/>
          <p:cNvSpPr/>
          <p:nvPr/>
        </p:nvSpPr>
        <p:spPr>
          <a:xfrm>
            <a:off x="11277295" y="6473952"/>
            <a:ext cx="457200" cy="274320"/>
          </a:xfrm>
          <a:prstGeom prst="rect">
            <a:avLst/>
          </a:prstGeom>
          <a:noFill/>
          <a:ln/>
        </p:spPr>
        <p:txBody>
          <a:bodyPr wrap="square" rtlCol="0" anchor="ctr"/>
          <a:lstStyle/>
          <a:p>
            <a:pPr algn="r" indent="0" marL="0">
              <a:buNone/>
            </a:pPr>
            <a:r>
              <a:rPr lang="en-US" sz="900" dirty="0">
                <a:solidFill>
                  <a:srgbClr val="7C8B96"/>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232E"/>
        </a:solidFill>
      </p:bgPr>
    </p:bg>
    <p:spTree>
      <p:nvGrpSpPr>
        <p:cNvPr id="1" name=""/>
        <p:cNvGrpSpPr/>
        <p:nvPr/>
      </p:nvGrpSpPr>
      <p:grpSpPr>
        <a:xfrm>
          <a:off x="0" y="0"/>
          <a:ext cx="0" cy="0"/>
          <a:chOff x="0" y="0"/>
          <a:chExt cx="0" cy="0"/>
        </a:xfrm>
      </p:grpSpPr>
      <p:sp>
        <p:nvSpPr>
          <p:cNvPr id="2" name="Text 0"/>
          <p:cNvSpPr/>
          <p:nvPr/>
        </p:nvSpPr>
        <p:spPr>
          <a:xfrm>
            <a:off x="731520" y="2103120"/>
            <a:ext cx="2011680" cy="1645920"/>
          </a:xfrm>
          <a:prstGeom prst="rect">
            <a:avLst/>
          </a:prstGeom>
          <a:noFill/>
          <a:ln/>
        </p:spPr>
        <p:txBody>
          <a:bodyPr wrap="square" rtlCol="0" anchor="ctr"/>
          <a:lstStyle/>
          <a:p>
            <a:pPr indent="0" marL="0">
              <a:buNone/>
            </a:pPr>
            <a:r>
              <a:rPr lang="en-US" sz="8000" b="1" dirty="0">
                <a:solidFill>
                  <a:srgbClr val="E08A2B"/>
                </a:solidFill>
                <a:latin typeface="Cambria" pitchFamily="34" charset="0"/>
                <a:ea typeface="Cambria" pitchFamily="34" charset="-122"/>
                <a:cs typeface="Cambria" pitchFamily="34" charset="-120"/>
              </a:rPr>
              <a:t>01</a:t>
            </a:r>
            <a:endParaRPr lang="en-US" sz="8000" dirty="0"/>
          </a:p>
        </p:txBody>
      </p:sp>
      <p:sp>
        <p:nvSpPr>
          <p:cNvPr id="3" name="Text 1"/>
          <p:cNvSpPr/>
          <p:nvPr/>
        </p:nvSpPr>
        <p:spPr>
          <a:xfrm>
            <a:off x="2834640" y="2514600"/>
            <a:ext cx="8595360" cy="1280160"/>
          </a:xfrm>
          <a:prstGeom prst="rect">
            <a:avLst/>
          </a:prstGeom>
          <a:noFill/>
          <a:ln/>
        </p:spPr>
        <p:txBody>
          <a:bodyPr wrap="square"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Why work leaves the GPU</a:t>
            </a:r>
            <a:endParaRPr lang="en-US" sz="3800" dirty="0"/>
          </a:p>
        </p:txBody>
      </p:sp>
      <p:sp>
        <p:nvSpPr>
          <p:cNvPr id="4" name="Text 2"/>
          <p:cNvSpPr/>
          <p:nvPr/>
        </p:nvSpPr>
        <p:spPr>
          <a:xfrm>
            <a:off x="2880360" y="3703320"/>
            <a:ext cx="8412480" cy="822960"/>
          </a:xfrm>
          <a:prstGeom prst="rect">
            <a:avLst/>
          </a:prstGeom>
          <a:noFill/>
          <a:ln/>
        </p:spPr>
        <p:txBody>
          <a:bodyPr wrap="square" rtlCol="0" anchor="ctr"/>
          <a:lstStyle/>
          <a:p>
            <a:pPr indent="0" marL="0">
              <a:buNone/>
            </a:pPr>
            <a:r>
              <a:rPr lang="en-US" sz="1600" dirty="0">
                <a:solidFill>
                  <a:srgbClr val="E7ECEF"/>
                </a:solidFill>
                <a:latin typeface="Calibri" pitchFamily="34" charset="0"/>
                <a:ea typeface="Calibri" pitchFamily="34" charset="-122"/>
                <a:cs typeface="Calibri" pitchFamily="34" charset="-120"/>
              </a:rPr>
              <a:t>The physical pressures behind offload</a:t>
            </a:r>
            <a:endParaRPr lang="en-US" sz="1600" dirty="0"/>
          </a:p>
        </p:txBody>
      </p:sp>
      <p:sp>
        <p:nvSpPr>
          <p:cNvPr id="5" name="Text 3"/>
          <p:cNvSpPr/>
          <p:nvPr/>
        </p:nvSpPr>
        <p:spPr>
          <a:xfrm>
            <a:off x="457200" y="6473952"/>
            <a:ext cx="7315200" cy="274320"/>
          </a:xfrm>
          <a:prstGeom prst="rect">
            <a:avLst/>
          </a:prstGeom>
          <a:noFill/>
          <a:ln/>
        </p:spPr>
        <p:txBody>
          <a:bodyPr wrap="square" rtlCol="0" anchor="ctr"/>
          <a:lstStyle/>
          <a:p>
            <a:pPr indent="0" marL="0">
              <a:buNone/>
            </a:pPr>
            <a:r>
              <a:rPr lang="en-US" sz="900" dirty="0">
                <a:solidFill>
                  <a:srgbClr val="7C8B96"/>
                </a:solidFill>
                <a:latin typeface="Calibri" pitchFamily="34" charset="0"/>
                <a:ea typeface="Calibri" pitchFamily="34" charset="-122"/>
                <a:cs typeface="Calibri" pitchFamily="34" charset="-120"/>
              </a:rPr>
              <a:t>Beyond the GPU — 2-hour lecture</a:t>
            </a:r>
            <a:endParaRPr lang="en-US" sz="900" dirty="0"/>
          </a:p>
        </p:txBody>
      </p:sp>
      <p:sp>
        <p:nvSpPr>
          <p:cNvPr id="6" name="Text 4"/>
          <p:cNvSpPr/>
          <p:nvPr/>
        </p:nvSpPr>
        <p:spPr>
          <a:xfrm>
            <a:off x="11277295" y="6473952"/>
            <a:ext cx="457200" cy="274320"/>
          </a:xfrm>
          <a:prstGeom prst="rect">
            <a:avLst/>
          </a:prstGeom>
          <a:noFill/>
          <a:ln/>
        </p:spPr>
        <p:txBody>
          <a:bodyPr wrap="square" rtlCol="0" anchor="ctr"/>
          <a:lstStyle/>
          <a:p>
            <a:pPr algn="r" indent="0" marL="0">
              <a:buNone/>
            </a:pPr>
            <a:r>
              <a:rPr lang="en-US" sz="900" dirty="0">
                <a:solidFill>
                  <a:srgbClr val="7C8B96"/>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10896"/>
            <a:ext cx="10058400" cy="274320"/>
          </a:xfrm>
          <a:prstGeom prst="rect">
            <a:avLst/>
          </a:prstGeom>
          <a:noFill/>
          <a:ln/>
        </p:spPr>
        <p:txBody>
          <a:bodyPr wrap="square" rtlCol="0" anchor="ctr"/>
          <a:lstStyle/>
          <a:p>
            <a:pPr indent="0" marL="0">
              <a:buNone/>
            </a:pPr>
            <a:r>
              <a:rPr lang="en-US" sz="1200" b="1" spc="200" kern="0" dirty="0">
                <a:solidFill>
                  <a:srgbClr val="0E8C9B"/>
                </a:solidFill>
                <a:latin typeface="Calibri" pitchFamily="34" charset="0"/>
                <a:ea typeface="Calibri" pitchFamily="34" charset="-122"/>
                <a:cs typeface="Calibri" pitchFamily="34" charset="-120"/>
              </a:rPr>
              <a:t>THE THESIS</a:t>
            </a:r>
            <a:endParaRPr lang="en-US" sz="1200" dirty="0"/>
          </a:p>
        </p:txBody>
      </p:sp>
      <p:sp>
        <p:nvSpPr>
          <p:cNvPr id="3" name="Text 1"/>
          <p:cNvSpPr/>
          <p:nvPr/>
        </p:nvSpPr>
        <p:spPr>
          <a:xfrm>
            <a:off x="457200" y="548640"/>
            <a:ext cx="11247120" cy="822960"/>
          </a:xfrm>
          <a:prstGeom prst="rect">
            <a:avLst/>
          </a:prstGeom>
          <a:noFill/>
          <a:ln/>
        </p:spPr>
        <p:txBody>
          <a:bodyPr wrap="square" rtlCol="0" anchor="ctr"/>
          <a:lstStyle/>
          <a:p>
            <a:pPr indent="0" marL="0">
              <a:buNone/>
            </a:pPr>
            <a:r>
              <a:rPr lang="en-US" sz="3000" b="1" dirty="0">
                <a:solidFill>
                  <a:srgbClr val="263947"/>
                </a:solidFill>
                <a:latin typeface="Cambria" pitchFamily="34" charset="0"/>
                <a:ea typeface="Cambria" pitchFamily="34" charset="-122"/>
                <a:cs typeface="Cambria" pitchFamily="34" charset="-120"/>
              </a:rPr>
              <a:t>Two transitions, across the whole continuum</a:t>
            </a:r>
            <a:endParaRPr lang="en-US" sz="3000" dirty="0"/>
          </a:p>
        </p:txBody>
      </p:sp>
      <p:pic>
        <p:nvPicPr>
          <p:cNvPr id="4" name="Image 0" descr="/sessions/compassionate-blissful-planck/mnt/outputs/deck_assets/two_transitions.png">    </p:cNvPr>
          <p:cNvPicPr>
            <a:picLocks noChangeAspect="1"/>
          </p:cNvPicPr>
          <p:nvPr/>
        </p:nvPicPr>
        <p:blipFill>
          <a:blip r:embed="rId1"/>
          <a:srcRect l="-78049" r="-78049" t="0" b="0"/>
          <a:stretch/>
        </p:blipFill>
        <p:spPr>
          <a:xfrm>
            <a:off x="1280160" y="1554480"/>
            <a:ext cx="9601200" cy="3749040"/>
          </a:xfrm>
          <a:prstGeom prst="rect">
            <a:avLst/>
          </a:prstGeom>
        </p:spPr>
      </p:pic>
      <p:sp>
        <p:nvSpPr>
          <p:cNvPr id="5" name="Shape 2"/>
          <p:cNvSpPr/>
          <p:nvPr/>
        </p:nvSpPr>
        <p:spPr>
          <a:xfrm>
            <a:off x="457200" y="5715000"/>
            <a:ext cx="11274552" cy="566928"/>
          </a:xfrm>
          <a:prstGeom prst="roundRect">
            <a:avLst>
              <a:gd name="adj" fmla="val 9677"/>
            </a:avLst>
          </a:prstGeom>
          <a:solidFill>
            <a:srgbClr val="F4F7F8"/>
          </a:solidFill>
          <a:ln w="12700">
            <a:solidFill>
              <a:srgbClr val="E7ECEF"/>
            </a:solidFill>
            <a:prstDash val="solid"/>
          </a:ln>
        </p:spPr>
      </p:sp>
      <p:sp>
        <p:nvSpPr>
          <p:cNvPr id="6" name="Text 3"/>
          <p:cNvSpPr/>
          <p:nvPr/>
        </p:nvSpPr>
        <p:spPr>
          <a:xfrm>
            <a:off x="731520" y="5715000"/>
            <a:ext cx="10789920" cy="566928"/>
          </a:xfrm>
          <a:prstGeom prst="rect">
            <a:avLst/>
          </a:prstGeom>
          <a:noFill/>
          <a:ln/>
        </p:spPr>
        <p:txBody>
          <a:bodyPr wrap="square" rtlCol="0" anchor="ctr"/>
          <a:lstStyle/>
          <a:p>
            <a:pPr indent="0" marL="0">
              <a:buNone/>
            </a:pPr>
            <a:r>
              <a:rPr lang="en-US" sz="1400" b="1" dirty="0">
                <a:solidFill>
                  <a:srgbClr val="E08A2B"/>
                </a:solidFill>
                <a:latin typeface="Calibri" pitchFamily="34" charset="0"/>
                <a:ea typeface="Calibri" pitchFamily="34" charset="-122"/>
                <a:cs typeface="Calibri" pitchFamily="34" charset="-120"/>
              </a:rPr>
              <a:t>⇒  </a:t>
            </a:r>
            <a:pPr indent="0" marL="0">
              <a:buNone/>
            </a:pPr>
            <a:r>
              <a:rPr lang="en-US" sz="1400" b="1" dirty="0">
                <a:solidFill>
                  <a:srgbClr val="263947"/>
                </a:solidFill>
                <a:latin typeface="Calibri" pitchFamily="34" charset="0"/>
                <a:ea typeface="Calibri" pitchFamily="34" charset="-122"/>
                <a:cs typeface="Calibri" pitchFamily="34" charset="-120"/>
              </a:rPr>
              <a:t>Software succeeds until it hits a limit; each transition adds specialization rather than replacing what came before.</a:t>
            </a:r>
            <a:endParaRPr lang="en-US" sz="1400" dirty="0"/>
          </a:p>
        </p:txBody>
      </p:sp>
      <p:sp>
        <p:nvSpPr>
          <p:cNvPr id="7" name="Text 4"/>
          <p:cNvSpPr/>
          <p:nvPr/>
        </p:nvSpPr>
        <p:spPr>
          <a:xfrm>
            <a:off x="457200" y="6473952"/>
            <a:ext cx="7315200" cy="274320"/>
          </a:xfrm>
          <a:prstGeom prst="rect">
            <a:avLst/>
          </a:prstGeom>
          <a:noFill/>
          <a:ln/>
        </p:spPr>
        <p:txBody>
          <a:bodyPr wrap="square" rtlCol="0" anchor="ctr"/>
          <a:lstStyle/>
          <a:p>
            <a:pPr indent="0" marL="0">
              <a:buNone/>
            </a:pPr>
            <a:r>
              <a:rPr lang="en-US" sz="900" dirty="0">
                <a:solidFill>
                  <a:srgbClr val="7C8B96"/>
                </a:solidFill>
                <a:latin typeface="Calibri" pitchFamily="34" charset="0"/>
                <a:ea typeface="Calibri" pitchFamily="34" charset="-122"/>
                <a:cs typeface="Calibri" pitchFamily="34" charset="-120"/>
              </a:rPr>
              <a:t>Beyond the GPU — 2-hour lecture</a:t>
            </a:r>
            <a:endParaRPr lang="en-US" sz="900" dirty="0"/>
          </a:p>
        </p:txBody>
      </p:sp>
      <p:sp>
        <p:nvSpPr>
          <p:cNvPr id="8" name="Text 5"/>
          <p:cNvSpPr/>
          <p:nvPr/>
        </p:nvSpPr>
        <p:spPr>
          <a:xfrm>
            <a:off x="11277295" y="6473952"/>
            <a:ext cx="457200" cy="274320"/>
          </a:xfrm>
          <a:prstGeom prst="rect">
            <a:avLst/>
          </a:prstGeom>
          <a:noFill/>
          <a:ln/>
        </p:spPr>
        <p:txBody>
          <a:bodyPr wrap="square" rtlCol="0" anchor="ctr"/>
          <a:lstStyle/>
          <a:p>
            <a:pPr algn="r" indent="0" marL="0">
              <a:buNone/>
            </a:pPr>
            <a:r>
              <a:rPr lang="en-US" sz="900" dirty="0">
                <a:solidFill>
                  <a:srgbClr val="7C8B96"/>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10896"/>
            <a:ext cx="10058400" cy="274320"/>
          </a:xfrm>
          <a:prstGeom prst="rect">
            <a:avLst/>
          </a:prstGeom>
          <a:noFill/>
          <a:ln/>
        </p:spPr>
        <p:txBody>
          <a:bodyPr wrap="square" rtlCol="0" anchor="ctr"/>
          <a:lstStyle/>
          <a:p>
            <a:pPr indent="0" marL="0">
              <a:buNone/>
            </a:pPr>
            <a:r>
              <a:rPr lang="en-US" sz="1200" b="1" spc="200" kern="0" dirty="0">
                <a:solidFill>
                  <a:srgbClr val="0E8C9B"/>
                </a:solidFill>
                <a:latin typeface="Calibri" pitchFamily="34" charset="0"/>
                <a:ea typeface="Calibri" pitchFamily="34" charset="-122"/>
                <a:cs typeface="Calibri" pitchFamily="34" charset="-120"/>
              </a:rPr>
              <a:t>HISTORY AS CONSTRAINTS</a:t>
            </a:r>
            <a:endParaRPr lang="en-US" sz="1200" dirty="0"/>
          </a:p>
        </p:txBody>
      </p:sp>
      <p:sp>
        <p:nvSpPr>
          <p:cNvPr id="3" name="Text 1"/>
          <p:cNvSpPr/>
          <p:nvPr/>
        </p:nvSpPr>
        <p:spPr>
          <a:xfrm>
            <a:off x="457200" y="548640"/>
            <a:ext cx="11247120" cy="822960"/>
          </a:xfrm>
          <a:prstGeom prst="rect">
            <a:avLst/>
          </a:prstGeom>
          <a:noFill/>
          <a:ln/>
        </p:spPr>
        <p:txBody>
          <a:bodyPr wrap="square" rtlCol="0" anchor="ctr"/>
          <a:lstStyle/>
          <a:p>
            <a:pPr indent="0" marL="0">
              <a:buNone/>
            </a:pPr>
            <a:r>
              <a:rPr lang="en-US" sz="3000" b="1" dirty="0">
                <a:solidFill>
                  <a:srgbClr val="263947"/>
                </a:solidFill>
                <a:latin typeface="Cambria" pitchFamily="34" charset="0"/>
                <a:ea typeface="Cambria" pitchFamily="34" charset="-122"/>
                <a:cs typeface="Cambria" pitchFamily="34" charset="-120"/>
              </a:rPr>
              <a:t>Why general-purpose scaling stalled</a:t>
            </a:r>
            <a:endParaRPr lang="en-US" sz="3000" dirty="0"/>
          </a:p>
        </p:txBody>
      </p:sp>
      <p:sp>
        <p:nvSpPr>
          <p:cNvPr id="4" name="Shape 2"/>
          <p:cNvSpPr/>
          <p:nvPr/>
        </p:nvSpPr>
        <p:spPr>
          <a:xfrm>
            <a:off x="457200" y="1600200"/>
            <a:ext cx="5477256" cy="2171700"/>
          </a:xfrm>
          <a:prstGeom prst="roundRect">
            <a:avLst>
              <a:gd name="adj" fmla="val 2947"/>
            </a:avLst>
          </a:prstGeom>
          <a:solidFill>
            <a:srgbClr val="F4F7F8"/>
          </a:solidFill>
          <a:ln w="12700">
            <a:solidFill>
              <a:srgbClr val="E7ECEF"/>
            </a:solidFill>
            <a:prstDash val="solid"/>
          </a:ln>
        </p:spPr>
      </p:sp>
      <p:sp>
        <p:nvSpPr>
          <p:cNvPr id="5" name="Shape 3"/>
          <p:cNvSpPr/>
          <p:nvPr/>
        </p:nvSpPr>
        <p:spPr>
          <a:xfrm>
            <a:off x="658368" y="1801368"/>
            <a:ext cx="457200" cy="457200"/>
          </a:xfrm>
          <a:prstGeom prst="roundRect">
            <a:avLst>
              <a:gd name="adj" fmla="val 12000"/>
            </a:avLst>
          </a:prstGeom>
          <a:solidFill>
            <a:srgbClr val="0E8C9B"/>
          </a:solidFill>
          <a:ln/>
        </p:spPr>
      </p:sp>
      <p:sp>
        <p:nvSpPr>
          <p:cNvPr id="6" name="Text 4"/>
          <p:cNvSpPr/>
          <p:nvPr/>
        </p:nvSpPr>
        <p:spPr>
          <a:xfrm>
            <a:off x="1234440" y="1783080"/>
            <a:ext cx="4517136" cy="502920"/>
          </a:xfrm>
          <a:prstGeom prst="rect">
            <a:avLst/>
          </a:prstGeom>
          <a:noFill/>
          <a:ln/>
        </p:spPr>
        <p:txBody>
          <a:bodyPr wrap="square" rtlCol="0" anchor="ctr"/>
          <a:lstStyle/>
          <a:p>
            <a:pPr indent="0" marL="0">
              <a:buNone/>
            </a:pPr>
            <a:r>
              <a:rPr lang="en-US" sz="1450" b="1" dirty="0">
                <a:solidFill>
                  <a:srgbClr val="263947"/>
                </a:solidFill>
                <a:latin typeface="Calibri" pitchFamily="34" charset="0"/>
                <a:ea typeface="Calibri" pitchFamily="34" charset="-122"/>
                <a:cs typeface="Calibri" pitchFamily="34" charset="-120"/>
              </a:rPr>
              <a:t>The memory wall</a:t>
            </a:r>
            <a:endParaRPr lang="en-US" sz="1450" dirty="0"/>
          </a:p>
        </p:txBody>
      </p:sp>
      <p:sp>
        <p:nvSpPr>
          <p:cNvPr id="7" name="Text 5"/>
          <p:cNvSpPr/>
          <p:nvPr/>
        </p:nvSpPr>
        <p:spPr>
          <a:xfrm>
            <a:off x="676656" y="2377440"/>
            <a:ext cx="5038344" cy="1257300"/>
          </a:xfrm>
          <a:prstGeom prst="rect">
            <a:avLst/>
          </a:prstGeom>
          <a:noFill/>
          <a:ln/>
        </p:spPr>
        <p:txBody>
          <a:bodyPr wrap="square" rtlCol="0" anchor="t"/>
          <a:lstStyle/>
          <a:p>
            <a:pPr indent="0" marL="0">
              <a:buNone/>
            </a:pPr>
            <a:r>
              <a:rPr lang="en-US" sz="1200" dirty="0">
                <a:solidFill>
                  <a:srgbClr val="263947"/>
                </a:solidFill>
                <a:latin typeface="Calibri" pitchFamily="34" charset="0"/>
                <a:ea typeface="Calibri" pitchFamily="34" charset="-122"/>
                <a:cs typeface="Calibri" pitchFamily="34" charset="-120"/>
              </a:rPr>
              <a:t>Compute outran memory; the question became which data is resident and reused, not raw latency.</a:t>
            </a:r>
            <a:endParaRPr lang="en-US" sz="1200" dirty="0"/>
          </a:p>
        </p:txBody>
      </p:sp>
      <p:sp>
        <p:nvSpPr>
          <p:cNvPr id="8" name="Shape 6"/>
          <p:cNvSpPr/>
          <p:nvPr/>
        </p:nvSpPr>
        <p:spPr>
          <a:xfrm>
            <a:off x="6254496" y="1600200"/>
            <a:ext cx="5477256" cy="2171700"/>
          </a:xfrm>
          <a:prstGeom prst="roundRect">
            <a:avLst>
              <a:gd name="adj" fmla="val 2947"/>
            </a:avLst>
          </a:prstGeom>
          <a:solidFill>
            <a:srgbClr val="F4F7F8"/>
          </a:solidFill>
          <a:ln w="12700">
            <a:solidFill>
              <a:srgbClr val="E7ECEF"/>
            </a:solidFill>
            <a:prstDash val="solid"/>
          </a:ln>
        </p:spPr>
      </p:sp>
      <p:sp>
        <p:nvSpPr>
          <p:cNvPr id="9" name="Shape 7"/>
          <p:cNvSpPr/>
          <p:nvPr/>
        </p:nvSpPr>
        <p:spPr>
          <a:xfrm>
            <a:off x="6455664" y="1801368"/>
            <a:ext cx="457200" cy="457200"/>
          </a:xfrm>
          <a:prstGeom prst="roundRect">
            <a:avLst>
              <a:gd name="adj" fmla="val 12000"/>
            </a:avLst>
          </a:prstGeom>
          <a:solidFill>
            <a:srgbClr val="2E6E9E"/>
          </a:solidFill>
          <a:ln/>
        </p:spPr>
      </p:sp>
      <p:sp>
        <p:nvSpPr>
          <p:cNvPr id="10" name="Text 8"/>
          <p:cNvSpPr/>
          <p:nvPr/>
        </p:nvSpPr>
        <p:spPr>
          <a:xfrm>
            <a:off x="7031736" y="1783080"/>
            <a:ext cx="4517136" cy="502920"/>
          </a:xfrm>
          <a:prstGeom prst="rect">
            <a:avLst/>
          </a:prstGeom>
          <a:noFill/>
          <a:ln/>
        </p:spPr>
        <p:txBody>
          <a:bodyPr wrap="square" rtlCol="0" anchor="ctr"/>
          <a:lstStyle/>
          <a:p>
            <a:pPr indent="0" marL="0">
              <a:buNone/>
            </a:pPr>
            <a:r>
              <a:rPr lang="en-US" sz="1450" b="1" dirty="0">
                <a:solidFill>
                  <a:srgbClr val="263947"/>
                </a:solidFill>
                <a:latin typeface="Calibri" pitchFamily="34" charset="0"/>
                <a:ea typeface="Calibri" pitchFamily="34" charset="-122"/>
                <a:cs typeface="Calibri" pitchFamily="34" charset="-120"/>
              </a:rPr>
              <a:t>The power wall</a:t>
            </a:r>
            <a:endParaRPr lang="en-US" sz="1450" dirty="0"/>
          </a:p>
        </p:txBody>
      </p:sp>
      <p:sp>
        <p:nvSpPr>
          <p:cNvPr id="11" name="Text 9"/>
          <p:cNvSpPr/>
          <p:nvPr/>
        </p:nvSpPr>
        <p:spPr>
          <a:xfrm>
            <a:off x="6473952" y="2377440"/>
            <a:ext cx="5038344" cy="1257300"/>
          </a:xfrm>
          <a:prstGeom prst="rect">
            <a:avLst/>
          </a:prstGeom>
          <a:noFill/>
          <a:ln/>
        </p:spPr>
        <p:txBody>
          <a:bodyPr wrap="square" rtlCol="0" anchor="t"/>
          <a:lstStyle/>
          <a:p>
            <a:pPr indent="0" marL="0">
              <a:buNone/>
            </a:pPr>
            <a:r>
              <a:rPr lang="en-US" sz="1200" dirty="0">
                <a:solidFill>
                  <a:srgbClr val="263947"/>
                </a:solidFill>
                <a:latin typeface="Calibri" pitchFamily="34" charset="0"/>
                <a:ea typeface="Calibri" pitchFamily="34" charset="-122"/>
                <a:cs typeface="Calibri" pitchFamily="34" charset="-120"/>
              </a:rPr>
              <a:t>Frequency scaling ended; more transistors help only when software exposes parallelism.</a:t>
            </a:r>
            <a:endParaRPr lang="en-US" sz="1200" dirty="0"/>
          </a:p>
        </p:txBody>
      </p:sp>
      <p:sp>
        <p:nvSpPr>
          <p:cNvPr id="12" name="Shape 10"/>
          <p:cNvSpPr/>
          <p:nvPr/>
        </p:nvSpPr>
        <p:spPr>
          <a:xfrm>
            <a:off x="457200" y="4046220"/>
            <a:ext cx="5477256" cy="2171700"/>
          </a:xfrm>
          <a:prstGeom prst="roundRect">
            <a:avLst>
              <a:gd name="adj" fmla="val 2947"/>
            </a:avLst>
          </a:prstGeom>
          <a:solidFill>
            <a:srgbClr val="F4F7F8"/>
          </a:solidFill>
          <a:ln w="12700">
            <a:solidFill>
              <a:srgbClr val="E7ECEF"/>
            </a:solidFill>
            <a:prstDash val="solid"/>
          </a:ln>
        </p:spPr>
      </p:sp>
      <p:sp>
        <p:nvSpPr>
          <p:cNvPr id="13" name="Shape 11"/>
          <p:cNvSpPr/>
          <p:nvPr/>
        </p:nvSpPr>
        <p:spPr>
          <a:xfrm>
            <a:off x="658368" y="4247388"/>
            <a:ext cx="457200" cy="457200"/>
          </a:xfrm>
          <a:prstGeom prst="roundRect">
            <a:avLst>
              <a:gd name="adj" fmla="val 12000"/>
            </a:avLst>
          </a:prstGeom>
          <a:solidFill>
            <a:srgbClr val="E08A2B"/>
          </a:solidFill>
          <a:ln/>
        </p:spPr>
      </p:sp>
      <p:sp>
        <p:nvSpPr>
          <p:cNvPr id="14" name="Text 12"/>
          <p:cNvSpPr/>
          <p:nvPr/>
        </p:nvSpPr>
        <p:spPr>
          <a:xfrm>
            <a:off x="1234440" y="4229100"/>
            <a:ext cx="4517136" cy="502920"/>
          </a:xfrm>
          <a:prstGeom prst="rect">
            <a:avLst/>
          </a:prstGeom>
          <a:noFill/>
          <a:ln/>
        </p:spPr>
        <p:txBody>
          <a:bodyPr wrap="square" rtlCol="0" anchor="ctr"/>
          <a:lstStyle/>
          <a:p>
            <a:pPr indent="0" marL="0">
              <a:buNone/>
            </a:pPr>
            <a:r>
              <a:rPr lang="en-US" sz="1450" b="1" dirty="0">
                <a:solidFill>
                  <a:srgbClr val="263947"/>
                </a:solidFill>
                <a:latin typeface="Calibri" pitchFamily="34" charset="0"/>
                <a:ea typeface="Calibri" pitchFamily="34" charset="-122"/>
                <a:cs typeface="Calibri" pitchFamily="34" charset="-120"/>
              </a:rPr>
              <a:t>Dark silicon</a:t>
            </a:r>
            <a:endParaRPr lang="en-US" sz="1450" dirty="0"/>
          </a:p>
        </p:txBody>
      </p:sp>
      <p:sp>
        <p:nvSpPr>
          <p:cNvPr id="15" name="Text 13"/>
          <p:cNvSpPr/>
          <p:nvPr/>
        </p:nvSpPr>
        <p:spPr>
          <a:xfrm>
            <a:off x="676656" y="4823460"/>
            <a:ext cx="5038344" cy="1257300"/>
          </a:xfrm>
          <a:prstGeom prst="rect">
            <a:avLst/>
          </a:prstGeom>
          <a:noFill/>
          <a:ln/>
        </p:spPr>
        <p:txBody>
          <a:bodyPr wrap="square" rtlCol="0" anchor="t"/>
          <a:lstStyle/>
          <a:p>
            <a:pPr indent="0" marL="0">
              <a:buNone/>
            </a:pPr>
            <a:r>
              <a:rPr lang="en-US" sz="1200" dirty="0">
                <a:solidFill>
                  <a:srgbClr val="263947"/>
                </a:solidFill>
                <a:latin typeface="Calibri" pitchFamily="34" charset="0"/>
                <a:ea typeface="Calibri" pitchFamily="34" charset="-122"/>
                <a:cs typeface="Calibri" pitchFamily="34" charset="-120"/>
              </a:rPr>
              <a:t>Not all transistors can switch at once in a fixed power budget — specialization does more per joule.</a:t>
            </a:r>
            <a:endParaRPr lang="en-US" sz="1200" dirty="0"/>
          </a:p>
        </p:txBody>
      </p:sp>
      <p:sp>
        <p:nvSpPr>
          <p:cNvPr id="16" name="Shape 14"/>
          <p:cNvSpPr/>
          <p:nvPr/>
        </p:nvSpPr>
        <p:spPr>
          <a:xfrm>
            <a:off x="6254496" y="4046220"/>
            <a:ext cx="5477256" cy="2171700"/>
          </a:xfrm>
          <a:prstGeom prst="roundRect">
            <a:avLst>
              <a:gd name="adj" fmla="val 2947"/>
            </a:avLst>
          </a:prstGeom>
          <a:solidFill>
            <a:srgbClr val="F4F7F8"/>
          </a:solidFill>
          <a:ln w="12700">
            <a:solidFill>
              <a:srgbClr val="E7ECEF"/>
            </a:solidFill>
            <a:prstDash val="solid"/>
          </a:ln>
        </p:spPr>
      </p:sp>
      <p:sp>
        <p:nvSpPr>
          <p:cNvPr id="17" name="Shape 15"/>
          <p:cNvSpPr/>
          <p:nvPr/>
        </p:nvSpPr>
        <p:spPr>
          <a:xfrm>
            <a:off x="6455664" y="4247388"/>
            <a:ext cx="457200" cy="457200"/>
          </a:xfrm>
          <a:prstGeom prst="roundRect">
            <a:avLst>
              <a:gd name="adj" fmla="val 12000"/>
            </a:avLst>
          </a:prstGeom>
          <a:solidFill>
            <a:srgbClr val="3F9E6A"/>
          </a:solidFill>
          <a:ln/>
        </p:spPr>
      </p:sp>
      <p:sp>
        <p:nvSpPr>
          <p:cNvPr id="18" name="Text 16"/>
          <p:cNvSpPr/>
          <p:nvPr/>
        </p:nvSpPr>
        <p:spPr>
          <a:xfrm>
            <a:off x="7031736" y="4229100"/>
            <a:ext cx="4517136" cy="502920"/>
          </a:xfrm>
          <a:prstGeom prst="rect">
            <a:avLst/>
          </a:prstGeom>
          <a:noFill/>
          <a:ln/>
        </p:spPr>
        <p:txBody>
          <a:bodyPr wrap="square" rtlCol="0" anchor="ctr"/>
          <a:lstStyle/>
          <a:p>
            <a:pPr indent="0" marL="0">
              <a:buNone/>
            </a:pPr>
            <a:r>
              <a:rPr lang="en-US" sz="1450" b="1" dirty="0">
                <a:solidFill>
                  <a:srgbClr val="263947"/>
                </a:solidFill>
                <a:latin typeface="Calibri" pitchFamily="34" charset="0"/>
                <a:ea typeface="Calibri" pitchFamily="34" charset="-122"/>
                <a:cs typeface="Calibri" pitchFamily="34" charset="-120"/>
              </a:rPr>
              <a:t>Data movement</a:t>
            </a:r>
            <a:endParaRPr lang="en-US" sz="1450" dirty="0"/>
          </a:p>
        </p:txBody>
      </p:sp>
      <p:sp>
        <p:nvSpPr>
          <p:cNvPr id="19" name="Text 17"/>
          <p:cNvSpPr/>
          <p:nvPr/>
        </p:nvSpPr>
        <p:spPr>
          <a:xfrm>
            <a:off x="6473952" y="4823460"/>
            <a:ext cx="5038344" cy="1257300"/>
          </a:xfrm>
          <a:prstGeom prst="rect">
            <a:avLst/>
          </a:prstGeom>
          <a:noFill/>
          <a:ln/>
        </p:spPr>
        <p:txBody>
          <a:bodyPr wrap="square" rtlCol="0" anchor="t"/>
          <a:lstStyle/>
          <a:p>
            <a:pPr indent="0" marL="0">
              <a:buNone/>
            </a:pPr>
            <a:r>
              <a:rPr lang="en-US" sz="1200" dirty="0">
                <a:solidFill>
                  <a:srgbClr val="263947"/>
                </a:solidFill>
                <a:latin typeface="Calibri" pitchFamily="34" charset="0"/>
                <a:ea typeface="Calibri" pitchFamily="34" charset="-122"/>
                <a:cs typeface="Calibri" pitchFamily="34" charset="-120"/>
              </a:rPr>
              <a:t>Energy is dominated by moving operands, not computing on them — the recurring lever.</a:t>
            </a:r>
            <a:endParaRPr lang="en-US" sz="1200" dirty="0"/>
          </a:p>
        </p:txBody>
      </p:sp>
      <p:sp>
        <p:nvSpPr>
          <p:cNvPr id="20" name="Text 18"/>
          <p:cNvSpPr/>
          <p:nvPr/>
        </p:nvSpPr>
        <p:spPr>
          <a:xfrm>
            <a:off x="457200" y="6473952"/>
            <a:ext cx="7315200" cy="274320"/>
          </a:xfrm>
          <a:prstGeom prst="rect">
            <a:avLst/>
          </a:prstGeom>
          <a:noFill/>
          <a:ln/>
        </p:spPr>
        <p:txBody>
          <a:bodyPr wrap="square" rtlCol="0" anchor="ctr"/>
          <a:lstStyle/>
          <a:p>
            <a:pPr indent="0" marL="0">
              <a:buNone/>
            </a:pPr>
            <a:r>
              <a:rPr lang="en-US" sz="900" dirty="0">
                <a:solidFill>
                  <a:srgbClr val="7C8B96"/>
                </a:solidFill>
                <a:latin typeface="Calibri" pitchFamily="34" charset="0"/>
                <a:ea typeface="Calibri" pitchFamily="34" charset="-122"/>
                <a:cs typeface="Calibri" pitchFamily="34" charset="-120"/>
              </a:rPr>
              <a:t>Beyond the GPU — 2-hour lecture</a:t>
            </a:r>
            <a:endParaRPr lang="en-US" sz="900" dirty="0"/>
          </a:p>
        </p:txBody>
      </p:sp>
      <p:sp>
        <p:nvSpPr>
          <p:cNvPr id="21" name="Text 19"/>
          <p:cNvSpPr/>
          <p:nvPr/>
        </p:nvSpPr>
        <p:spPr>
          <a:xfrm>
            <a:off x="11277295" y="6473952"/>
            <a:ext cx="457200" cy="274320"/>
          </a:xfrm>
          <a:prstGeom prst="rect">
            <a:avLst/>
          </a:prstGeom>
          <a:noFill/>
          <a:ln/>
        </p:spPr>
        <p:txBody>
          <a:bodyPr wrap="square" rtlCol="0" anchor="ctr"/>
          <a:lstStyle/>
          <a:p>
            <a:pPr algn="r" indent="0" marL="0">
              <a:buNone/>
            </a:pPr>
            <a:r>
              <a:rPr lang="en-US" sz="900" dirty="0">
                <a:solidFill>
                  <a:srgbClr val="7C8B96"/>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10896"/>
            <a:ext cx="10058400" cy="274320"/>
          </a:xfrm>
          <a:prstGeom prst="rect">
            <a:avLst/>
          </a:prstGeom>
          <a:noFill/>
          <a:ln/>
        </p:spPr>
        <p:txBody>
          <a:bodyPr wrap="square" rtlCol="0" anchor="ctr"/>
          <a:lstStyle/>
          <a:p>
            <a:pPr indent="0" marL="0">
              <a:buNone/>
            </a:pPr>
            <a:r>
              <a:rPr lang="en-US" sz="1200" b="1" spc="200" kern="0" dirty="0">
                <a:solidFill>
                  <a:srgbClr val="0E8C9B"/>
                </a:solidFill>
                <a:latin typeface="Calibri" pitchFamily="34" charset="0"/>
                <a:ea typeface="Calibri" pitchFamily="34" charset="-122"/>
                <a:cs typeface="Calibri" pitchFamily="34" charset="-120"/>
              </a:rPr>
              <a:t>DRIVING FACTOR</a:t>
            </a:r>
            <a:endParaRPr lang="en-US" sz="1200" dirty="0"/>
          </a:p>
        </p:txBody>
      </p:sp>
      <p:sp>
        <p:nvSpPr>
          <p:cNvPr id="3" name="Text 1"/>
          <p:cNvSpPr/>
          <p:nvPr/>
        </p:nvSpPr>
        <p:spPr>
          <a:xfrm>
            <a:off x="457200" y="548640"/>
            <a:ext cx="11247120" cy="822960"/>
          </a:xfrm>
          <a:prstGeom prst="rect">
            <a:avLst/>
          </a:prstGeom>
          <a:noFill/>
          <a:ln/>
        </p:spPr>
        <p:txBody>
          <a:bodyPr wrap="square" rtlCol="0" anchor="ctr"/>
          <a:lstStyle/>
          <a:p>
            <a:pPr indent="0" marL="0">
              <a:buNone/>
            </a:pPr>
            <a:r>
              <a:rPr lang="en-US" sz="3000" b="1" dirty="0">
                <a:solidFill>
                  <a:srgbClr val="263947"/>
                </a:solidFill>
                <a:latin typeface="Cambria" pitchFamily="34" charset="0"/>
                <a:ea typeface="Cambria" pitchFamily="34" charset="-122"/>
                <a:cs typeface="Cambria" pitchFamily="34" charset="-120"/>
              </a:rPr>
              <a:t>Data movement dominates energy</a:t>
            </a:r>
            <a:endParaRPr lang="en-US" sz="3000" dirty="0"/>
          </a:p>
        </p:txBody>
      </p:sp>
      <p:pic>
        <p:nvPicPr>
          <p:cNvPr id="4" name="Image 0" descr="/sessions/compassionate-blissful-planck/mnt/outputs/deck_assets/data_energy.png">    </p:cNvPr>
          <p:cNvPicPr>
            <a:picLocks noChangeAspect="1"/>
          </p:cNvPicPr>
          <p:nvPr/>
        </p:nvPicPr>
        <p:blipFill>
          <a:blip r:embed="rId1"/>
          <a:srcRect l="-45238" r="-45238" t="0" b="0"/>
          <a:stretch/>
        </p:blipFill>
        <p:spPr>
          <a:xfrm>
            <a:off x="457200" y="1554480"/>
            <a:ext cx="7315200" cy="3840480"/>
          </a:xfrm>
          <a:prstGeom prst="rect">
            <a:avLst/>
          </a:prstGeom>
        </p:spPr>
      </p:pic>
      <p:sp>
        <p:nvSpPr>
          <p:cNvPr id="5" name="Shape 2"/>
          <p:cNvSpPr/>
          <p:nvPr/>
        </p:nvSpPr>
        <p:spPr>
          <a:xfrm>
            <a:off x="8138160" y="1847088"/>
            <a:ext cx="109728" cy="109728"/>
          </a:xfrm>
          <a:prstGeom prst="rect">
            <a:avLst/>
          </a:prstGeom>
          <a:solidFill>
            <a:srgbClr val="E08A2B"/>
          </a:solidFill>
          <a:ln/>
        </p:spPr>
      </p:sp>
      <p:sp>
        <p:nvSpPr>
          <p:cNvPr id="6" name="Text 3"/>
          <p:cNvSpPr/>
          <p:nvPr/>
        </p:nvSpPr>
        <p:spPr>
          <a:xfrm>
            <a:off x="8366760" y="1673352"/>
            <a:ext cx="3291840" cy="731520"/>
          </a:xfrm>
          <a:prstGeom prst="rect">
            <a:avLst/>
          </a:prstGeom>
          <a:noFill/>
          <a:ln/>
        </p:spPr>
        <p:txBody>
          <a:bodyPr wrap="square" rtlCol="0" anchor="t"/>
          <a:lstStyle/>
          <a:p>
            <a:pPr indent="0" marL="0">
              <a:buNone/>
            </a:pPr>
            <a:r>
              <a:rPr lang="en-US" sz="1300" dirty="0">
                <a:solidFill>
                  <a:srgbClr val="263947"/>
                </a:solidFill>
                <a:latin typeface="Calibri" pitchFamily="34" charset="0"/>
                <a:ea typeface="Calibri" pitchFamily="34" charset="-122"/>
                <a:cs typeface="Calibri" pitchFamily="34" charset="-120"/>
              </a:rPr>
              <a:t>Compute is nearly free.</a:t>
            </a:r>
            <a:endParaRPr lang="en-US" sz="1300" dirty="0"/>
          </a:p>
        </p:txBody>
      </p:sp>
      <p:sp>
        <p:nvSpPr>
          <p:cNvPr id="7" name="Shape 4"/>
          <p:cNvSpPr/>
          <p:nvPr/>
        </p:nvSpPr>
        <p:spPr>
          <a:xfrm>
            <a:off x="8138160" y="2596896"/>
            <a:ext cx="109728" cy="109728"/>
          </a:xfrm>
          <a:prstGeom prst="rect">
            <a:avLst/>
          </a:prstGeom>
          <a:solidFill>
            <a:srgbClr val="E08A2B"/>
          </a:solidFill>
          <a:ln/>
        </p:spPr>
      </p:sp>
      <p:sp>
        <p:nvSpPr>
          <p:cNvPr id="8" name="Text 5"/>
          <p:cNvSpPr/>
          <p:nvPr/>
        </p:nvSpPr>
        <p:spPr>
          <a:xfrm>
            <a:off x="8366760" y="2423160"/>
            <a:ext cx="3291840" cy="731520"/>
          </a:xfrm>
          <a:prstGeom prst="rect">
            <a:avLst/>
          </a:prstGeom>
          <a:noFill/>
          <a:ln/>
        </p:spPr>
        <p:txBody>
          <a:bodyPr wrap="square" rtlCol="0" anchor="t"/>
          <a:lstStyle/>
          <a:p>
            <a:pPr indent="0" marL="0">
              <a:buNone/>
            </a:pPr>
            <a:r>
              <a:rPr lang="en-US" sz="1300" dirty="0">
                <a:solidFill>
                  <a:srgbClr val="263947"/>
                </a:solidFill>
                <a:latin typeface="Calibri" pitchFamily="34" charset="0"/>
                <a:ea typeface="Calibri" pitchFamily="34" charset="-122"/>
                <a:cs typeface="Calibri" pitchFamily="34" charset="-120"/>
              </a:rPr>
              <a:t>Moving operands is not.</a:t>
            </a:r>
            <a:endParaRPr lang="en-US" sz="1300" dirty="0"/>
          </a:p>
        </p:txBody>
      </p:sp>
      <p:sp>
        <p:nvSpPr>
          <p:cNvPr id="9" name="Shape 6"/>
          <p:cNvSpPr/>
          <p:nvPr/>
        </p:nvSpPr>
        <p:spPr>
          <a:xfrm>
            <a:off x="8138160" y="3346704"/>
            <a:ext cx="109728" cy="109728"/>
          </a:xfrm>
          <a:prstGeom prst="rect">
            <a:avLst/>
          </a:prstGeom>
          <a:solidFill>
            <a:srgbClr val="E08A2B"/>
          </a:solidFill>
          <a:ln/>
        </p:spPr>
      </p:sp>
      <p:sp>
        <p:nvSpPr>
          <p:cNvPr id="10" name="Text 7"/>
          <p:cNvSpPr/>
          <p:nvPr/>
        </p:nvSpPr>
        <p:spPr>
          <a:xfrm>
            <a:off x="8366760" y="3172968"/>
            <a:ext cx="3291840" cy="731520"/>
          </a:xfrm>
          <a:prstGeom prst="rect">
            <a:avLst/>
          </a:prstGeom>
          <a:noFill/>
          <a:ln/>
        </p:spPr>
        <p:txBody>
          <a:bodyPr wrap="square" rtlCol="0" anchor="t"/>
          <a:lstStyle/>
          <a:p>
            <a:pPr indent="0" marL="0">
              <a:buNone/>
            </a:pPr>
            <a:r>
              <a:rPr lang="en-US" sz="1300" dirty="0">
                <a:solidFill>
                  <a:srgbClr val="263947"/>
                </a:solidFill>
                <a:latin typeface="Calibri" pitchFamily="34" charset="0"/>
                <a:ea typeface="Calibri" pitchFamily="34" charset="-122"/>
                <a:cs typeface="Calibri" pitchFamily="34" charset="-120"/>
              </a:rPr>
              <a:t>Locality sets efficiency, not FLOPS.</a:t>
            </a:r>
            <a:endParaRPr lang="en-US" sz="1300" dirty="0"/>
          </a:p>
        </p:txBody>
      </p:sp>
      <p:sp>
        <p:nvSpPr>
          <p:cNvPr id="11" name="Shape 8"/>
          <p:cNvSpPr/>
          <p:nvPr/>
        </p:nvSpPr>
        <p:spPr>
          <a:xfrm>
            <a:off x="457200" y="5715000"/>
            <a:ext cx="11274552" cy="566928"/>
          </a:xfrm>
          <a:prstGeom prst="roundRect">
            <a:avLst>
              <a:gd name="adj" fmla="val 9677"/>
            </a:avLst>
          </a:prstGeom>
          <a:solidFill>
            <a:srgbClr val="F4F7F8"/>
          </a:solidFill>
          <a:ln w="12700">
            <a:solidFill>
              <a:srgbClr val="E7ECEF"/>
            </a:solidFill>
            <a:prstDash val="solid"/>
          </a:ln>
        </p:spPr>
      </p:sp>
      <p:sp>
        <p:nvSpPr>
          <p:cNvPr id="12" name="Text 9"/>
          <p:cNvSpPr/>
          <p:nvPr/>
        </p:nvSpPr>
        <p:spPr>
          <a:xfrm>
            <a:off x="731520" y="5715000"/>
            <a:ext cx="10789920" cy="566928"/>
          </a:xfrm>
          <a:prstGeom prst="rect">
            <a:avLst/>
          </a:prstGeom>
          <a:noFill/>
          <a:ln/>
        </p:spPr>
        <p:txBody>
          <a:bodyPr wrap="square" rtlCol="0" anchor="ctr"/>
          <a:lstStyle/>
          <a:p>
            <a:pPr indent="0" marL="0">
              <a:buNone/>
            </a:pPr>
            <a:r>
              <a:rPr lang="en-US" sz="1400" b="1" dirty="0">
                <a:solidFill>
                  <a:srgbClr val="E08A2B"/>
                </a:solidFill>
                <a:latin typeface="Calibri" pitchFamily="34" charset="0"/>
                <a:ea typeface="Calibri" pitchFamily="34" charset="-122"/>
                <a:cs typeface="Calibri" pitchFamily="34" charset="-120"/>
              </a:rPr>
              <a:t>⇒  </a:t>
            </a:r>
            <a:pPr indent="0" marL="0">
              <a:buNone/>
            </a:pPr>
            <a:r>
              <a:rPr lang="en-US" sz="1400" b="1" dirty="0">
                <a:solidFill>
                  <a:srgbClr val="263947"/>
                </a:solidFill>
                <a:latin typeface="Calibri" pitchFamily="34" charset="0"/>
                <a:ea typeface="Calibri" pitchFamily="34" charset="-122"/>
                <a:cs typeface="Calibri" pitchFamily="34" charset="-120"/>
              </a:rPr>
              <a:t>Every family that follows is a different way to move less data, or move it a shorter distance.</a:t>
            </a:r>
            <a:endParaRPr lang="en-US" sz="1400" dirty="0"/>
          </a:p>
        </p:txBody>
      </p:sp>
      <p:sp>
        <p:nvSpPr>
          <p:cNvPr id="13" name="Text 10"/>
          <p:cNvSpPr/>
          <p:nvPr/>
        </p:nvSpPr>
        <p:spPr>
          <a:xfrm>
            <a:off x="457200" y="6473952"/>
            <a:ext cx="7315200" cy="274320"/>
          </a:xfrm>
          <a:prstGeom prst="rect">
            <a:avLst/>
          </a:prstGeom>
          <a:noFill/>
          <a:ln/>
        </p:spPr>
        <p:txBody>
          <a:bodyPr wrap="square" rtlCol="0" anchor="ctr"/>
          <a:lstStyle/>
          <a:p>
            <a:pPr indent="0" marL="0">
              <a:buNone/>
            </a:pPr>
            <a:r>
              <a:rPr lang="en-US" sz="900" dirty="0">
                <a:solidFill>
                  <a:srgbClr val="7C8B96"/>
                </a:solidFill>
                <a:latin typeface="Calibri" pitchFamily="34" charset="0"/>
                <a:ea typeface="Calibri" pitchFamily="34" charset="-122"/>
                <a:cs typeface="Calibri" pitchFamily="34" charset="-120"/>
              </a:rPr>
              <a:t>Beyond the GPU — 2-hour lecture</a:t>
            </a:r>
            <a:endParaRPr lang="en-US" sz="900" dirty="0"/>
          </a:p>
        </p:txBody>
      </p:sp>
      <p:sp>
        <p:nvSpPr>
          <p:cNvPr id="14" name="Text 11"/>
          <p:cNvSpPr/>
          <p:nvPr/>
        </p:nvSpPr>
        <p:spPr>
          <a:xfrm>
            <a:off x="11277295" y="6473952"/>
            <a:ext cx="457200" cy="274320"/>
          </a:xfrm>
          <a:prstGeom prst="rect">
            <a:avLst/>
          </a:prstGeom>
          <a:noFill/>
          <a:ln/>
        </p:spPr>
        <p:txBody>
          <a:bodyPr wrap="square" rtlCol="0" anchor="ctr"/>
          <a:lstStyle/>
          <a:p>
            <a:pPr algn="r" indent="0" marL="0">
              <a:buNone/>
            </a:pPr>
            <a:r>
              <a:rPr lang="en-US" sz="900" dirty="0">
                <a:solidFill>
                  <a:srgbClr val="7C8B96"/>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10896"/>
            <a:ext cx="10058400" cy="274320"/>
          </a:xfrm>
          <a:prstGeom prst="rect">
            <a:avLst/>
          </a:prstGeom>
          <a:noFill/>
          <a:ln/>
        </p:spPr>
        <p:txBody>
          <a:bodyPr wrap="square" rtlCol="0" anchor="ctr"/>
          <a:lstStyle/>
          <a:p>
            <a:pPr indent="0" marL="0">
              <a:buNone/>
            </a:pPr>
            <a:r>
              <a:rPr lang="en-US" sz="1200" b="1" spc="200" kern="0" dirty="0">
                <a:solidFill>
                  <a:srgbClr val="0E8C9B"/>
                </a:solidFill>
                <a:latin typeface="Calibri" pitchFamily="34" charset="0"/>
                <a:ea typeface="Calibri" pitchFamily="34" charset="-122"/>
                <a:cs typeface="Calibri" pitchFamily="34" charset="-120"/>
              </a:rPr>
              <a:t>DRIVING FACTOR</a:t>
            </a:r>
            <a:endParaRPr lang="en-US" sz="1200" dirty="0"/>
          </a:p>
        </p:txBody>
      </p:sp>
      <p:sp>
        <p:nvSpPr>
          <p:cNvPr id="3" name="Text 1"/>
          <p:cNvSpPr/>
          <p:nvPr/>
        </p:nvSpPr>
        <p:spPr>
          <a:xfrm>
            <a:off x="457200" y="548640"/>
            <a:ext cx="11247120" cy="822960"/>
          </a:xfrm>
          <a:prstGeom prst="rect">
            <a:avLst/>
          </a:prstGeom>
          <a:noFill/>
          <a:ln/>
        </p:spPr>
        <p:txBody>
          <a:bodyPr wrap="square" rtlCol="0" anchor="ctr"/>
          <a:lstStyle/>
          <a:p>
            <a:pPr indent="0" marL="0">
              <a:buNone/>
            </a:pPr>
            <a:r>
              <a:rPr lang="en-US" sz="3000" b="1" dirty="0">
                <a:solidFill>
                  <a:srgbClr val="263947"/>
                </a:solidFill>
                <a:latin typeface="Cambria" pitchFamily="34" charset="0"/>
                <a:ea typeface="Cambria" pitchFamily="34" charset="-122"/>
                <a:cs typeface="Cambria" pitchFamily="34" charset="-120"/>
              </a:rPr>
              <a:t>Memory is a distance hierarchy</a:t>
            </a:r>
            <a:endParaRPr lang="en-US" sz="3000" dirty="0"/>
          </a:p>
        </p:txBody>
      </p:sp>
      <p:pic>
        <p:nvPicPr>
          <p:cNvPr id="4" name="Image 0" descr="/sessions/compassionate-blissful-planck/mnt/outputs/deck_assets/mem_hierarchy.png">    </p:cNvPr>
          <p:cNvPicPr>
            <a:picLocks noChangeAspect="1"/>
          </p:cNvPicPr>
          <p:nvPr/>
        </p:nvPicPr>
        <p:blipFill>
          <a:blip r:embed="rId1"/>
          <a:srcRect l="-45238" r="-45238" t="0" b="0"/>
          <a:stretch/>
        </p:blipFill>
        <p:spPr>
          <a:xfrm>
            <a:off x="457200" y="1554480"/>
            <a:ext cx="7315200" cy="3840480"/>
          </a:xfrm>
          <a:prstGeom prst="rect">
            <a:avLst/>
          </a:prstGeom>
        </p:spPr>
      </p:pic>
      <p:sp>
        <p:nvSpPr>
          <p:cNvPr id="5" name="Shape 2"/>
          <p:cNvSpPr/>
          <p:nvPr/>
        </p:nvSpPr>
        <p:spPr>
          <a:xfrm>
            <a:off x="8138160" y="1847088"/>
            <a:ext cx="109728" cy="109728"/>
          </a:xfrm>
          <a:prstGeom prst="rect">
            <a:avLst/>
          </a:prstGeom>
          <a:solidFill>
            <a:srgbClr val="E08A2B"/>
          </a:solidFill>
          <a:ln/>
        </p:spPr>
      </p:sp>
      <p:sp>
        <p:nvSpPr>
          <p:cNvPr id="6" name="Text 3"/>
          <p:cNvSpPr/>
          <p:nvPr/>
        </p:nvSpPr>
        <p:spPr>
          <a:xfrm>
            <a:off x="8366760" y="1673352"/>
            <a:ext cx="3291840" cy="731520"/>
          </a:xfrm>
          <a:prstGeom prst="rect">
            <a:avLst/>
          </a:prstGeom>
          <a:noFill/>
          <a:ln/>
        </p:spPr>
        <p:txBody>
          <a:bodyPr wrap="square" rtlCol="0" anchor="t"/>
          <a:lstStyle/>
          <a:p>
            <a:pPr indent="0" marL="0">
              <a:buNone/>
            </a:pPr>
            <a:r>
              <a:rPr lang="en-US" sz="1300" dirty="0">
                <a:solidFill>
                  <a:srgbClr val="263947"/>
                </a:solidFill>
                <a:latin typeface="Calibri" pitchFamily="34" charset="0"/>
                <a:ea typeface="Calibri" pitchFamily="34" charset="-122"/>
                <a:cs typeface="Calibri" pitchFamily="34" charset="-120"/>
              </a:rPr>
              <a:t>Farther = more capacity.</a:t>
            </a:r>
            <a:endParaRPr lang="en-US" sz="1300" dirty="0"/>
          </a:p>
        </p:txBody>
      </p:sp>
      <p:sp>
        <p:nvSpPr>
          <p:cNvPr id="7" name="Shape 4"/>
          <p:cNvSpPr/>
          <p:nvPr/>
        </p:nvSpPr>
        <p:spPr>
          <a:xfrm>
            <a:off x="8138160" y="2596896"/>
            <a:ext cx="109728" cy="109728"/>
          </a:xfrm>
          <a:prstGeom prst="rect">
            <a:avLst/>
          </a:prstGeom>
          <a:solidFill>
            <a:srgbClr val="E08A2B"/>
          </a:solidFill>
          <a:ln/>
        </p:spPr>
      </p:sp>
      <p:sp>
        <p:nvSpPr>
          <p:cNvPr id="8" name="Text 5"/>
          <p:cNvSpPr/>
          <p:nvPr/>
        </p:nvSpPr>
        <p:spPr>
          <a:xfrm>
            <a:off x="8366760" y="2423160"/>
            <a:ext cx="3291840" cy="731520"/>
          </a:xfrm>
          <a:prstGeom prst="rect">
            <a:avLst/>
          </a:prstGeom>
          <a:noFill/>
          <a:ln/>
        </p:spPr>
        <p:txBody>
          <a:bodyPr wrap="square" rtlCol="0" anchor="t"/>
          <a:lstStyle/>
          <a:p>
            <a:pPr indent="0" marL="0">
              <a:buNone/>
            </a:pPr>
            <a:r>
              <a:rPr lang="en-US" sz="1300" dirty="0">
                <a:solidFill>
                  <a:srgbClr val="263947"/>
                </a:solidFill>
                <a:latin typeface="Calibri" pitchFamily="34" charset="0"/>
                <a:ea typeface="Calibri" pitchFamily="34" charset="-122"/>
                <a:cs typeface="Calibri" pitchFamily="34" charset="-120"/>
              </a:rPr>
              <a:t>Also more latency and energy.</a:t>
            </a:r>
            <a:endParaRPr lang="en-US" sz="1300" dirty="0"/>
          </a:p>
        </p:txBody>
      </p:sp>
      <p:sp>
        <p:nvSpPr>
          <p:cNvPr id="9" name="Shape 6"/>
          <p:cNvSpPr/>
          <p:nvPr/>
        </p:nvSpPr>
        <p:spPr>
          <a:xfrm>
            <a:off x="8138160" y="3346704"/>
            <a:ext cx="109728" cy="109728"/>
          </a:xfrm>
          <a:prstGeom prst="rect">
            <a:avLst/>
          </a:prstGeom>
          <a:solidFill>
            <a:srgbClr val="E08A2B"/>
          </a:solidFill>
          <a:ln/>
        </p:spPr>
      </p:sp>
      <p:sp>
        <p:nvSpPr>
          <p:cNvPr id="10" name="Text 7"/>
          <p:cNvSpPr/>
          <p:nvPr/>
        </p:nvSpPr>
        <p:spPr>
          <a:xfrm>
            <a:off x="8366760" y="3172968"/>
            <a:ext cx="3291840" cy="731520"/>
          </a:xfrm>
          <a:prstGeom prst="rect">
            <a:avLst/>
          </a:prstGeom>
          <a:noFill/>
          <a:ln/>
        </p:spPr>
        <p:txBody>
          <a:bodyPr wrap="square" rtlCol="0" anchor="t"/>
          <a:lstStyle/>
          <a:p>
            <a:pPr indent="0" marL="0">
              <a:buNone/>
            </a:pPr>
            <a:r>
              <a:rPr lang="en-US" sz="1300" dirty="0">
                <a:solidFill>
                  <a:srgbClr val="263947"/>
                </a:solidFill>
                <a:latin typeface="Calibri" pitchFamily="34" charset="0"/>
                <a:ea typeface="Calibri" pitchFamily="34" charset="-122"/>
                <a:cs typeface="Calibri" pitchFamily="34" charset="-120"/>
              </a:rPr>
              <a:t>Caches help only with reuse.</a:t>
            </a:r>
            <a:endParaRPr lang="en-US" sz="1300" dirty="0"/>
          </a:p>
        </p:txBody>
      </p:sp>
      <p:sp>
        <p:nvSpPr>
          <p:cNvPr id="11" name="Shape 8"/>
          <p:cNvSpPr/>
          <p:nvPr/>
        </p:nvSpPr>
        <p:spPr>
          <a:xfrm>
            <a:off x="457200" y="5715000"/>
            <a:ext cx="11274552" cy="566928"/>
          </a:xfrm>
          <a:prstGeom prst="roundRect">
            <a:avLst>
              <a:gd name="adj" fmla="val 9677"/>
            </a:avLst>
          </a:prstGeom>
          <a:solidFill>
            <a:srgbClr val="F4F7F8"/>
          </a:solidFill>
          <a:ln w="12700">
            <a:solidFill>
              <a:srgbClr val="E7ECEF"/>
            </a:solidFill>
            <a:prstDash val="solid"/>
          </a:ln>
        </p:spPr>
      </p:sp>
      <p:sp>
        <p:nvSpPr>
          <p:cNvPr id="12" name="Text 9"/>
          <p:cNvSpPr/>
          <p:nvPr/>
        </p:nvSpPr>
        <p:spPr>
          <a:xfrm>
            <a:off x="731520" y="5715000"/>
            <a:ext cx="10789920" cy="566928"/>
          </a:xfrm>
          <a:prstGeom prst="rect">
            <a:avLst/>
          </a:prstGeom>
          <a:noFill/>
          <a:ln/>
        </p:spPr>
        <p:txBody>
          <a:bodyPr wrap="square" rtlCol="0" anchor="ctr"/>
          <a:lstStyle/>
          <a:p>
            <a:pPr indent="0" marL="0">
              <a:buNone/>
            </a:pPr>
            <a:r>
              <a:rPr lang="en-US" sz="1400" b="1" dirty="0">
                <a:solidFill>
                  <a:srgbClr val="E08A2B"/>
                </a:solidFill>
                <a:latin typeface="Calibri" pitchFamily="34" charset="0"/>
                <a:ea typeface="Calibri" pitchFamily="34" charset="-122"/>
                <a:cs typeface="Calibri" pitchFamily="34" charset="-120"/>
              </a:rPr>
              <a:t>⇒  </a:t>
            </a:r>
            <a:pPr indent="0" marL="0">
              <a:buNone/>
            </a:pPr>
            <a:r>
              <a:rPr lang="en-US" sz="1400" b="1" dirty="0">
                <a:solidFill>
                  <a:srgbClr val="263947"/>
                </a:solidFill>
                <a:latin typeface="Calibri" pitchFamily="34" charset="0"/>
                <a:ea typeface="Calibri" pitchFamily="34" charset="-122"/>
                <a:cs typeface="Calibri" pitchFamily="34" charset="-120"/>
              </a:rPr>
              <a:t>'Memory-bound' is many distinct problems — each a lever a specialized design can pull.</a:t>
            </a:r>
            <a:endParaRPr lang="en-US" sz="1400" dirty="0"/>
          </a:p>
        </p:txBody>
      </p:sp>
      <p:sp>
        <p:nvSpPr>
          <p:cNvPr id="13" name="Text 10"/>
          <p:cNvSpPr/>
          <p:nvPr/>
        </p:nvSpPr>
        <p:spPr>
          <a:xfrm>
            <a:off x="457200" y="6473952"/>
            <a:ext cx="7315200" cy="274320"/>
          </a:xfrm>
          <a:prstGeom prst="rect">
            <a:avLst/>
          </a:prstGeom>
          <a:noFill/>
          <a:ln/>
        </p:spPr>
        <p:txBody>
          <a:bodyPr wrap="square" rtlCol="0" anchor="ctr"/>
          <a:lstStyle/>
          <a:p>
            <a:pPr indent="0" marL="0">
              <a:buNone/>
            </a:pPr>
            <a:r>
              <a:rPr lang="en-US" sz="900" dirty="0">
                <a:solidFill>
                  <a:srgbClr val="7C8B96"/>
                </a:solidFill>
                <a:latin typeface="Calibri" pitchFamily="34" charset="0"/>
                <a:ea typeface="Calibri" pitchFamily="34" charset="-122"/>
                <a:cs typeface="Calibri" pitchFamily="34" charset="-120"/>
              </a:rPr>
              <a:t>Beyond the GPU — 2-hour lecture</a:t>
            </a:r>
            <a:endParaRPr lang="en-US" sz="900" dirty="0"/>
          </a:p>
        </p:txBody>
      </p:sp>
      <p:sp>
        <p:nvSpPr>
          <p:cNvPr id="14" name="Text 11"/>
          <p:cNvSpPr/>
          <p:nvPr/>
        </p:nvSpPr>
        <p:spPr>
          <a:xfrm>
            <a:off x="11277295" y="6473952"/>
            <a:ext cx="457200" cy="274320"/>
          </a:xfrm>
          <a:prstGeom prst="rect">
            <a:avLst/>
          </a:prstGeom>
          <a:noFill/>
          <a:ln/>
        </p:spPr>
        <p:txBody>
          <a:bodyPr wrap="square" rtlCol="0" anchor="ctr"/>
          <a:lstStyle/>
          <a:p>
            <a:pPr algn="r" indent="0" marL="0">
              <a:buNone/>
            </a:pPr>
            <a:r>
              <a:rPr lang="en-US" sz="900" dirty="0">
                <a:solidFill>
                  <a:srgbClr val="7C8B96"/>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10896"/>
            <a:ext cx="10058400" cy="274320"/>
          </a:xfrm>
          <a:prstGeom prst="rect">
            <a:avLst/>
          </a:prstGeom>
          <a:noFill/>
          <a:ln/>
        </p:spPr>
        <p:txBody>
          <a:bodyPr wrap="square" rtlCol="0" anchor="ctr"/>
          <a:lstStyle/>
          <a:p>
            <a:pPr indent="0" marL="0">
              <a:buNone/>
            </a:pPr>
            <a:r>
              <a:rPr lang="en-US" sz="1200" b="1" spc="200" kern="0" dirty="0">
                <a:solidFill>
                  <a:srgbClr val="0E8C9B"/>
                </a:solidFill>
                <a:latin typeface="Calibri" pitchFamily="34" charset="0"/>
                <a:ea typeface="Calibri" pitchFamily="34" charset="-122"/>
                <a:cs typeface="Calibri" pitchFamily="34" charset="-120"/>
              </a:rPr>
              <a:t>CONCEPT</a:t>
            </a:r>
            <a:endParaRPr lang="en-US" sz="1200" dirty="0"/>
          </a:p>
        </p:txBody>
      </p:sp>
      <p:sp>
        <p:nvSpPr>
          <p:cNvPr id="3" name="Text 1"/>
          <p:cNvSpPr/>
          <p:nvPr/>
        </p:nvSpPr>
        <p:spPr>
          <a:xfrm>
            <a:off x="457200" y="548640"/>
            <a:ext cx="11247120" cy="822960"/>
          </a:xfrm>
          <a:prstGeom prst="rect">
            <a:avLst/>
          </a:prstGeom>
          <a:noFill/>
          <a:ln/>
        </p:spPr>
        <p:txBody>
          <a:bodyPr wrap="square" rtlCol="0" anchor="ctr"/>
          <a:lstStyle/>
          <a:p>
            <a:pPr indent="0" marL="0">
              <a:buNone/>
            </a:pPr>
            <a:r>
              <a:rPr lang="en-US" sz="3000" b="1" dirty="0">
                <a:solidFill>
                  <a:srgbClr val="263947"/>
                </a:solidFill>
                <a:latin typeface="Cambria" pitchFamily="34" charset="0"/>
                <a:ea typeface="Cambria" pitchFamily="34" charset="-122"/>
                <a:cs typeface="Cambria" pitchFamily="34" charset="-120"/>
              </a:rPr>
              <a:t>CPU and GPU spend silicon differently</a:t>
            </a:r>
            <a:endParaRPr lang="en-US" sz="3000" dirty="0"/>
          </a:p>
        </p:txBody>
      </p:sp>
      <p:pic>
        <p:nvPicPr>
          <p:cNvPr id="4" name="Image 0" descr="/sessions/compassionate-blissful-planck/mnt/outputs/deck_assets/cpu_gpu.png">    </p:cNvPr>
          <p:cNvPicPr>
            <a:picLocks noChangeAspect="1"/>
          </p:cNvPicPr>
          <p:nvPr/>
        </p:nvPicPr>
        <p:blipFill>
          <a:blip r:embed="rId1"/>
          <a:srcRect l="-45238" r="-45238" t="0" b="0"/>
          <a:stretch/>
        </p:blipFill>
        <p:spPr>
          <a:xfrm>
            <a:off x="457200" y="1554480"/>
            <a:ext cx="7315200" cy="3840480"/>
          </a:xfrm>
          <a:prstGeom prst="rect">
            <a:avLst/>
          </a:prstGeom>
        </p:spPr>
      </p:pic>
      <p:sp>
        <p:nvSpPr>
          <p:cNvPr id="5" name="Shape 2"/>
          <p:cNvSpPr/>
          <p:nvPr/>
        </p:nvSpPr>
        <p:spPr>
          <a:xfrm>
            <a:off x="8138160" y="1847088"/>
            <a:ext cx="109728" cy="109728"/>
          </a:xfrm>
          <a:prstGeom prst="rect">
            <a:avLst/>
          </a:prstGeom>
          <a:solidFill>
            <a:srgbClr val="E08A2B"/>
          </a:solidFill>
          <a:ln/>
        </p:spPr>
      </p:sp>
      <p:sp>
        <p:nvSpPr>
          <p:cNvPr id="6" name="Text 3"/>
          <p:cNvSpPr/>
          <p:nvPr/>
        </p:nvSpPr>
        <p:spPr>
          <a:xfrm>
            <a:off x="8366760" y="1673352"/>
            <a:ext cx="3291840" cy="731520"/>
          </a:xfrm>
          <a:prstGeom prst="rect">
            <a:avLst/>
          </a:prstGeom>
          <a:noFill/>
          <a:ln/>
        </p:spPr>
        <p:txBody>
          <a:bodyPr wrap="square" rtlCol="0" anchor="t"/>
          <a:lstStyle/>
          <a:p>
            <a:pPr indent="0" marL="0">
              <a:buNone/>
            </a:pPr>
            <a:r>
              <a:rPr lang="en-US" sz="1300" dirty="0">
                <a:solidFill>
                  <a:srgbClr val="263947"/>
                </a:solidFill>
                <a:latin typeface="Calibri" pitchFamily="34" charset="0"/>
                <a:ea typeface="Calibri" pitchFamily="34" charset="-122"/>
                <a:cs typeface="Calibri" pitchFamily="34" charset="-120"/>
              </a:rPr>
              <a:t>CPU: latency across diverse code.</a:t>
            </a:r>
            <a:endParaRPr lang="en-US" sz="1300" dirty="0"/>
          </a:p>
        </p:txBody>
      </p:sp>
      <p:sp>
        <p:nvSpPr>
          <p:cNvPr id="7" name="Shape 4"/>
          <p:cNvSpPr/>
          <p:nvPr/>
        </p:nvSpPr>
        <p:spPr>
          <a:xfrm>
            <a:off x="8138160" y="2596896"/>
            <a:ext cx="109728" cy="109728"/>
          </a:xfrm>
          <a:prstGeom prst="rect">
            <a:avLst/>
          </a:prstGeom>
          <a:solidFill>
            <a:srgbClr val="E08A2B"/>
          </a:solidFill>
          <a:ln/>
        </p:spPr>
      </p:sp>
      <p:sp>
        <p:nvSpPr>
          <p:cNvPr id="8" name="Text 5"/>
          <p:cNvSpPr/>
          <p:nvPr/>
        </p:nvSpPr>
        <p:spPr>
          <a:xfrm>
            <a:off x="8366760" y="2423160"/>
            <a:ext cx="3291840" cy="731520"/>
          </a:xfrm>
          <a:prstGeom prst="rect">
            <a:avLst/>
          </a:prstGeom>
          <a:noFill/>
          <a:ln/>
        </p:spPr>
        <p:txBody>
          <a:bodyPr wrap="square" rtlCol="0" anchor="t"/>
          <a:lstStyle/>
          <a:p>
            <a:pPr indent="0" marL="0">
              <a:buNone/>
            </a:pPr>
            <a:r>
              <a:rPr lang="en-US" sz="1300" dirty="0">
                <a:solidFill>
                  <a:srgbClr val="263947"/>
                </a:solidFill>
                <a:latin typeface="Calibri" pitchFamily="34" charset="0"/>
                <a:ea typeface="Calibri" pitchFamily="34" charset="-122"/>
                <a:cs typeface="Calibri" pitchFamily="34" charset="-120"/>
              </a:rPr>
              <a:t>GPU: throughput across regular work.</a:t>
            </a:r>
            <a:endParaRPr lang="en-US" sz="1300" dirty="0"/>
          </a:p>
        </p:txBody>
      </p:sp>
      <p:sp>
        <p:nvSpPr>
          <p:cNvPr id="9" name="Shape 6"/>
          <p:cNvSpPr/>
          <p:nvPr/>
        </p:nvSpPr>
        <p:spPr>
          <a:xfrm>
            <a:off x="8138160" y="3346704"/>
            <a:ext cx="109728" cy="109728"/>
          </a:xfrm>
          <a:prstGeom prst="rect">
            <a:avLst/>
          </a:prstGeom>
          <a:solidFill>
            <a:srgbClr val="E08A2B"/>
          </a:solidFill>
          <a:ln/>
        </p:spPr>
      </p:sp>
      <p:sp>
        <p:nvSpPr>
          <p:cNvPr id="10" name="Text 7"/>
          <p:cNvSpPr/>
          <p:nvPr/>
        </p:nvSpPr>
        <p:spPr>
          <a:xfrm>
            <a:off x="8366760" y="3172968"/>
            <a:ext cx="3291840" cy="731520"/>
          </a:xfrm>
          <a:prstGeom prst="rect">
            <a:avLst/>
          </a:prstGeom>
          <a:noFill/>
          <a:ln/>
        </p:spPr>
        <p:txBody>
          <a:bodyPr wrap="square" rtlCol="0" anchor="t"/>
          <a:lstStyle/>
          <a:p>
            <a:pPr indent="0" marL="0">
              <a:buNone/>
            </a:pPr>
            <a:r>
              <a:rPr lang="en-US" sz="1300" dirty="0">
                <a:solidFill>
                  <a:srgbClr val="263947"/>
                </a:solidFill>
                <a:latin typeface="Calibri" pitchFamily="34" charset="0"/>
                <a:ea typeface="Calibri" pitchFamily="34" charset="-122"/>
                <a:cs typeface="Calibri" pitchFamily="34" charset="-120"/>
              </a:rPr>
              <a:t>Neither wins every phase.</a:t>
            </a:r>
            <a:endParaRPr lang="en-US" sz="1300" dirty="0"/>
          </a:p>
        </p:txBody>
      </p:sp>
      <p:sp>
        <p:nvSpPr>
          <p:cNvPr id="11" name="Shape 8"/>
          <p:cNvSpPr/>
          <p:nvPr/>
        </p:nvSpPr>
        <p:spPr>
          <a:xfrm>
            <a:off x="457200" y="5715000"/>
            <a:ext cx="11274552" cy="566928"/>
          </a:xfrm>
          <a:prstGeom prst="roundRect">
            <a:avLst>
              <a:gd name="adj" fmla="val 9677"/>
            </a:avLst>
          </a:prstGeom>
          <a:solidFill>
            <a:srgbClr val="F4F7F8"/>
          </a:solidFill>
          <a:ln w="12700">
            <a:solidFill>
              <a:srgbClr val="E7ECEF"/>
            </a:solidFill>
            <a:prstDash val="solid"/>
          </a:ln>
        </p:spPr>
      </p:sp>
      <p:sp>
        <p:nvSpPr>
          <p:cNvPr id="12" name="Text 9"/>
          <p:cNvSpPr/>
          <p:nvPr/>
        </p:nvSpPr>
        <p:spPr>
          <a:xfrm>
            <a:off x="731520" y="5715000"/>
            <a:ext cx="10789920" cy="566928"/>
          </a:xfrm>
          <a:prstGeom prst="rect">
            <a:avLst/>
          </a:prstGeom>
          <a:noFill/>
          <a:ln/>
        </p:spPr>
        <p:txBody>
          <a:bodyPr wrap="square" rtlCol="0" anchor="ctr"/>
          <a:lstStyle/>
          <a:p>
            <a:pPr indent="0" marL="0">
              <a:buNone/>
            </a:pPr>
            <a:r>
              <a:rPr lang="en-US" sz="1400" b="1" dirty="0">
                <a:solidFill>
                  <a:srgbClr val="E08A2B"/>
                </a:solidFill>
                <a:latin typeface="Calibri" pitchFamily="34" charset="0"/>
                <a:ea typeface="Calibri" pitchFamily="34" charset="-122"/>
                <a:cs typeface="Calibri" pitchFamily="34" charset="-120"/>
              </a:rPr>
              <a:t>⇒  </a:t>
            </a:r>
            <a:pPr indent="0" marL="0">
              <a:buNone/>
            </a:pPr>
            <a:r>
              <a:rPr lang="en-US" sz="1400" b="1" dirty="0">
                <a:solidFill>
                  <a:srgbClr val="263947"/>
                </a:solidFill>
                <a:latin typeface="Calibri" pitchFamily="34" charset="0"/>
                <a:ea typeface="Calibri" pitchFamily="34" charset="-122"/>
                <a:cs typeface="Calibri" pitchFamily="34" charset="-120"/>
              </a:rPr>
              <a:t>Specialization narrows the job in exchange for more useful work per area and per joule.</a:t>
            </a:r>
            <a:endParaRPr lang="en-US" sz="1400" dirty="0"/>
          </a:p>
        </p:txBody>
      </p:sp>
      <p:sp>
        <p:nvSpPr>
          <p:cNvPr id="13" name="Text 10"/>
          <p:cNvSpPr/>
          <p:nvPr/>
        </p:nvSpPr>
        <p:spPr>
          <a:xfrm>
            <a:off x="457200" y="6473952"/>
            <a:ext cx="7315200" cy="274320"/>
          </a:xfrm>
          <a:prstGeom prst="rect">
            <a:avLst/>
          </a:prstGeom>
          <a:noFill/>
          <a:ln/>
        </p:spPr>
        <p:txBody>
          <a:bodyPr wrap="square" rtlCol="0" anchor="ctr"/>
          <a:lstStyle/>
          <a:p>
            <a:pPr indent="0" marL="0">
              <a:buNone/>
            </a:pPr>
            <a:r>
              <a:rPr lang="en-US" sz="900" dirty="0">
                <a:solidFill>
                  <a:srgbClr val="7C8B96"/>
                </a:solidFill>
                <a:latin typeface="Calibri" pitchFamily="34" charset="0"/>
                <a:ea typeface="Calibri" pitchFamily="34" charset="-122"/>
                <a:cs typeface="Calibri" pitchFamily="34" charset="-120"/>
              </a:rPr>
              <a:t>Beyond the GPU — 2-hour lecture</a:t>
            </a:r>
            <a:endParaRPr lang="en-US" sz="900" dirty="0"/>
          </a:p>
        </p:txBody>
      </p:sp>
      <p:sp>
        <p:nvSpPr>
          <p:cNvPr id="14" name="Text 11"/>
          <p:cNvSpPr/>
          <p:nvPr/>
        </p:nvSpPr>
        <p:spPr>
          <a:xfrm>
            <a:off x="11277295" y="6473952"/>
            <a:ext cx="457200" cy="274320"/>
          </a:xfrm>
          <a:prstGeom prst="rect">
            <a:avLst/>
          </a:prstGeom>
          <a:noFill/>
          <a:ln/>
        </p:spPr>
        <p:txBody>
          <a:bodyPr wrap="square" rtlCol="0" anchor="ctr"/>
          <a:lstStyle/>
          <a:p>
            <a:pPr algn="r" indent="0" marL="0">
              <a:buNone/>
            </a:pPr>
            <a:r>
              <a:rPr lang="en-US" sz="900" dirty="0">
                <a:solidFill>
                  <a:srgbClr val="7C8B96"/>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10896"/>
            <a:ext cx="10058400" cy="274320"/>
          </a:xfrm>
          <a:prstGeom prst="rect">
            <a:avLst/>
          </a:prstGeom>
          <a:noFill/>
          <a:ln/>
        </p:spPr>
        <p:txBody>
          <a:bodyPr wrap="square" rtlCol="0" anchor="ctr"/>
          <a:lstStyle/>
          <a:p>
            <a:pPr indent="0" marL="0">
              <a:buNone/>
            </a:pPr>
            <a:r>
              <a:rPr lang="en-US" sz="1200" b="1" spc="200" kern="0" dirty="0">
                <a:solidFill>
                  <a:srgbClr val="0E8C9B"/>
                </a:solidFill>
                <a:latin typeface="Calibri" pitchFamily="34" charset="0"/>
                <a:ea typeface="Calibri" pitchFamily="34" charset="-122"/>
                <a:cs typeface="Calibri" pitchFamily="34" charset="-120"/>
              </a:rPr>
              <a:t>CONCEPT</a:t>
            </a:r>
            <a:endParaRPr lang="en-US" sz="1200" dirty="0"/>
          </a:p>
        </p:txBody>
      </p:sp>
      <p:sp>
        <p:nvSpPr>
          <p:cNvPr id="3" name="Text 1"/>
          <p:cNvSpPr/>
          <p:nvPr/>
        </p:nvSpPr>
        <p:spPr>
          <a:xfrm>
            <a:off x="457200" y="548640"/>
            <a:ext cx="11247120" cy="822960"/>
          </a:xfrm>
          <a:prstGeom prst="rect">
            <a:avLst/>
          </a:prstGeom>
          <a:noFill/>
          <a:ln/>
        </p:spPr>
        <p:txBody>
          <a:bodyPr wrap="square" rtlCol="0" anchor="ctr"/>
          <a:lstStyle/>
          <a:p>
            <a:pPr indent="0" marL="0">
              <a:buNone/>
            </a:pPr>
            <a:r>
              <a:rPr lang="en-US" sz="3000" b="1" dirty="0">
                <a:solidFill>
                  <a:srgbClr val="263947"/>
                </a:solidFill>
                <a:latin typeface="Cambria" pitchFamily="34" charset="0"/>
                <a:ea typeface="Cambria" pitchFamily="34" charset="-122"/>
                <a:cs typeface="Cambria" pitchFamily="34" charset="-120"/>
              </a:rPr>
              <a:t>The GPU efficiency envelope is real and bounded</a:t>
            </a:r>
            <a:endParaRPr lang="en-US" sz="3000" dirty="0"/>
          </a:p>
        </p:txBody>
      </p:sp>
      <p:pic>
        <p:nvPicPr>
          <p:cNvPr id="4" name="Image 0" descr="/sessions/compassionate-blissful-planck/mnt/outputs/deck_assets/gpu_envelope.png">    </p:cNvPr>
          <p:cNvPicPr>
            <a:picLocks noChangeAspect="1"/>
          </p:cNvPicPr>
          <p:nvPr/>
        </p:nvPicPr>
        <p:blipFill>
          <a:blip r:embed="rId1"/>
          <a:srcRect l="-78049" r="-78049" t="0" b="0"/>
          <a:stretch/>
        </p:blipFill>
        <p:spPr>
          <a:xfrm>
            <a:off x="1280160" y="1554480"/>
            <a:ext cx="9601200" cy="3749040"/>
          </a:xfrm>
          <a:prstGeom prst="rect">
            <a:avLst/>
          </a:prstGeom>
        </p:spPr>
      </p:pic>
      <p:sp>
        <p:nvSpPr>
          <p:cNvPr id="5" name="Shape 2"/>
          <p:cNvSpPr/>
          <p:nvPr/>
        </p:nvSpPr>
        <p:spPr>
          <a:xfrm>
            <a:off x="457200" y="5715000"/>
            <a:ext cx="11274552" cy="566928"/>
          </a:xfrm>
          <a:prstGeom prst="roundRect">
            <a:avLst>
              <a:gd name="adj" fmla="val 9677"/>
            </a:avLst>
          </a:prstGeom>
          <a:solidFill>
            <a:srgbClr val="F4F7F8"/>
          </a:solidFill>
          <a:ln w="12700">
            <a:solidFill>
              <a:srgbClr val="E7ECEF"/>
            </a:solidFill>
            <a:prstDash val="solid"/>
          </a:ln>
        </p:spPr>
      </p:sp>
      <p:sp>
        <p:nvSpPr>
          <p:cNvPr id="6" name="Text 3"/>
          <p:cNvSpPr/>
          <p:nvPr/>
        </p:nvSpPr>
        <p:spPr>
          <a:xfrm>
            <a:off x="731520" y="5715000"/>
            <a:ext cx="10789920" cy="566928"/>
          </a:xfrm>
          <a:prstGeom prst="rect">
            <a:avLst/>
          </a:prstGeom>
          <a:noFill/>
          <a:ln/>
        </p:spPr>
        <p:txBody>
          <a:bodyPr wrap="square" rtlCol="0" anchor="ctr"/>
          <a:lstStyle/>
          <a:p>
            <a:pPr indent="0" marL="0">
              <a:buNone/>
            </a:pPr>
            <a:r>
              <a:rPr lang="en-US" sz="1400" b="1" dirty="0">
                <a:solidFill>
                  <a:srgbClr val="E08A2B"/>
                </a:solidFill>
                <a:latin typeface="Calibri" pitchFamily="34" charset="0"/>
                <a:ea typeface="Calibri" pitchFamily="34" charset="-122"/>
                <a:cs typeface="Calibri" pitchFamily="34" charset="-120"/>
              </a:rPr>
              <a:t>⇒  </a:t>
            </a:r>
            <a:pPr indent="0" marL="0">
              <a:buNone/>
            </a:pPr>
            <a:r>
              <a:rPr lang="en-US" sz="1400" b="1" dirty="0">
                <a:solidFill>
                  <a:srgbClr val="263947"/>
                </a:solidFill>
                <a:latin typeface="Calibri" pitchFamily="34" charset="0"/>
                <a:ea typeface="Calibri" pitchFamily="34" charset="-122"/>
                <a:cs typeface="Calibri" pitchFamily="34" charset="-120"/>
              </a:rPr>
              <a:t>GPUs are unbeatable inside the envelope and leak outside it — that boundary is where specialists live.</a:t>
            </a:r>
            <a:endParaRPr lang="en-US" sz="1400" dirty="0"/>
          </a:p>
        </p:txBody>
      </p:sp>
      <p:sp>
        <p:nvSpPr>
          <p:cNvPr id="7" name="Text 4"/>
          <p:cNvSpPr/>
          <p:nvPr/>
        </p:nvSpPr>
        <p:spPr>
          <a:xfrm>
            <a:off x="457200" y="6473952"/>
            <a:ext cx="7315200" cy="274320"/>
          </a:xfrm>
          <a:prstGeom prst="rect">
            <a:avLst/>
          </a:prstGeom>
          <a:noFill/>
          <a:ln/>
        </p:spPr>
        <p:txBody>
          <a:bodyPr wrap="square" rtlCol="0" anchor="ctr"/>
          <a:lstStyle/>
          <a:p>
            <a:pPr indent="0" marL="0">
              <a:buNone/>
            </a:pPr>
            <a:r>
              <a:rPr lang="en-US" sz="900" dirty="0">
                <a:solidFill>
                  <a:srgbClr val="7C8B96"/>
                </a:solidFill>
                <a:latin typeface="Calibri" pitchFamily="34" charset="0"/>
                <a:ea typeface="Calibri" pitchFamily="34" charset="-122"/>
                <a:cs typeface="Calibri" pitchFamily="34" charset="-120"/>
              </a:rPr>
              <a:t>Beyond the GPU — 2-hour lecture</a:t>
            </a:r>
            <a:endParaRPr lang="en-US" sz="900" dirty="0"/>
          </a:p>
        </p:txBody>
      </p:sp>
      <p:sp>
        <p:nvSpPr>
          <p:cNvPr id="8" name="Text 5"/>
          <p:cNvSpPr/>
          <p:nvPr/>
        </p:nvSpPr>
        <p:spPr>
          <a:xfrm>
            <a:off x="11277295" y="6473952"/>
            <a:ext cx="457200" cy="274320"/>
          </a:xfrm>
          <a:prstGeom prst="rect">
            <a:avLst/>
          </a:prstGeom>
          <a:noFill/>
          <a:ln/>
        </p:spPr>
        <p:txBody>
          <a:bodyPr wrap="square" rtlCol="0" anchor="ctr"/>
          <a:lstStyle/>
          <a:p>
            <a:pPr algn="r" indent="0" marL="0">
              <a:buNone/>
            </a:pPr>
            <a:r>
              <a:rPr lang="en-US" sz="900" dirty="0">
                <a:solidFill>
                  <a:srgbClr val="7C8B96"/>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6232E"/>
        </a:solidFill>
      </p:bgPr>
    </p:bg>
    <p:spTree>
      <p:nvGrpSpPr>
        <p:cNvPr id="1" name=""/>
        <p:cNvGrpSpPr/>
        <p:nvPr/>
      </p:nvGrpSpPr>
      <p:grpSpPr>
        <a:xfrm>
          <a:off x="0" y="0"/>
          <a:ext cx="0" cy="0"/>
          <a:chOff x="0" y="0"/>
          <a:chExt cx="0" cy="0"/>
        </a:xfrm>
      </p:grpSpPr>
      <p:sp>
        <p:nvSpPr>
          <p:cNvPr id="2" name="Text 0"/>
          <p:cNvSpPr/>
          <p:nvPr/>
        </p:nvSpPr>
        <p:spPr>
          <a:xfrm>
            <a:off x="731520" y="2103120"/>
            <a:ext cx="2011680" cy="1645920"/>
          </a:xfrm>
          <a:prstGeom prst="rect">
            <a:avLst/>
          </a:prstGeom>
          <a:noFill/>
          <a:ln/>
        </p:spPr>
        <p:txBody>
          <a:bodyPr wrap="square" rtlCol="0" anchor="ctr"/>
          <a:lstStyle/>
          <a:p>
            <a:pPr indent="0" marL="0">
              <a:buNone/>
            </a:pPr>
            <a:r>
              <a:rPr lang="en-US" sz="8000" b="1" dirty="0">
                <a:solidFill>
                  <a:srgbClr val="E08A2B"/>
                </a:solidFill>
                <a:latin typeface="Cambria" pitchFamily="34" charset="0"/>
                <a:ea typeface="Cambria" pitchFamily="34" charset="-122"/>
                <a:cs typeface="Cambria" pitchFamily="34" charset="-120"/>
              </a:rPr>
              <a:t>02</a:t>
            </a:r>
            <a:endParaRPr lang="en-US" sz="8000" dirty="0"/>
          </a:p>
        </p:txBody>
      </p:sp>
      <p:sp>
        <p:nvSpPr>
          <p:cNvPr id="3" name="Text 1"/>
          <p:cNvSpPr/>
          <p:nvPr/>
        </p:nvSpPr>
        <p:spPr>
          <a:xfrm>
            <a:off x="2834640" y="2514600"/>
            <a:ext cx="8595360" cy="1280160"/>
          </a:xfrm>
          <a:prstGeom prst="rect">
            <a:avLst/>
          </a:prstGeom>
          <a:noFill/>
          <a:ln/>
        </p:spPr>
        <p:txBody>
          <a:bodyPr wrap="square"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The workload pressures</a:t>
            </a:r>
            <a:endParaRPr lang="en-US" sz="3800" dirty="0"/>
          </a:p>
        </p:txBody>
      </p:sp>
      <p:sp>
        <p:nvSpPr>
          <p:cNvPr id="4" name="Text 2"/>
          <p:cNvSpPr/>
          <p:nvPr/>
        </p:nvSpPr>
        <p:spPr>
          <a:xfrm>
            <a:off x="2880360" y="3703320"/>
            <a:ext cx="8412480" cy="822960"/>
          </a:xfrm>
          <a:prstGeom prst="rect">
            <a:avLst/>
          </a:prstGeom>
          <a:noFill/>
          <a:ln/>
        </p:spPr>
        <p:txBody>
          <a:bodyPr wrap="square" rtlCol="0" anchor="ctr"/>
          <a:lstStyle/>
          <a:p>
            <a:pPr indent="0" marL="0">
              <a:buNone/>
            </a:pPr>
            <a:r>
              <a:rPr lang="en-US" sz="1600" dirty="0">
                <a:solidFill>
                  <a:srgbClr val="E7ECEF"/>
                </a:solidFill>
                <a:latin typeface="Calibri" pitchFamily="34" charset="0"/>
                <a:ea typeface="Calibri" pitchFamily="34" charset="-122"/>
                <a:cs typeface="Calibri" pitchFamily="34" charset="-120"/>
              </a:rPr>
              <a:t>The measured bounds that reshape silicon</a:t>
            </a:r>
            <a:endParaRPr lang="en-US" sz="1600" dirty="0"/>
          </a:p>
        </p:txBody>
      </p:sp>
      <p:sp>
        <p:nvSpPr>
          <p:cNvPr id="5" name="Text 3"/>
          <p:cNvSpPr/>
          <p:nvPr/>
        </p:nvSpPr>
        <p:spPr>
          <a:xfrm>
            <a:off x="457200" y="6473952"/>
            <a:ext cx="7315200" cy="274320"/>
          </a:xfrm>
          <a:prstGeom prst="rect">
            <a:avLst/>
          </a:prstGeom>
          <a:noFill/>
          <a:ln/>
        </p:spPr>
        <p:txBody>
          <a:bodyPr wrap="square" rtlCol="0" anchor="ctr"/>
          <a:lstStyle/>
          <a:p>
            <a:pPr indent="0" marL="0">
              <a:buNone/>
            </a:pPr>
            <a:r>
              <a:rPr lang="en-US" sz="900" dirty="0">
                <a:solidFill>
                  <a:srgbClr val="7C8B96"/>
                </a:solidFill>
                <a:latin typeface="Calibri" pitchFamily="34" charset="0"/>
                <a:ea typeface="Calibri" pitchFamily="34" charset="-122"/>
                <a:cs typeface="Calibri" pitchFamily="34" charset="-120"/>
              </a:rPr>
              <a:t>Beyond the GPU — 2-hour lecture</a:t>
            </a:r>
            <a:endParaRPr lang="en-US" sz="900" dirty="0"/>
          </a:p>
        </p:txBody>
      </p:sp>
      <p:sp>
        <p:nvSpPr>
          <p:cNvPr id="6" name="Text 4"/>
          <p:cNvSpPr/>
          <p:nvPr/>
        </p:nvSpPr>
        <p:spPr>
          <a:xfrm>
            <a:off x="11277295" y="6473952"/>
            <a:ext cx="457200" cy="274320"/>
          </a:xfrm>
          <a:prstGeom prst="rect">
            <a:avLst/>
          </a:prstGeom>
          <a:noFill/>
          <a:ln/>
        </p:spPr>
        <p:txBody>
          <a:bodyPr wrap="square" rtlCol="0" anchor="ctr"/>
          <a:lstStyle/>
          <a:p>
            <a:pPr algn="r" indent="0" marL="0">
              <a:buNone/>
            </a:pPr>
            <a:r>
              <a:rPr lang="en-US" sz="900" dirty="0">
                <a:solidFill>
                  <a:srgbClr val="7C8B96"/>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10896"/>
            <a:ext cx="10058400" cy="274320"/>
          </a:xfrm>
          <a:prstGeom prst="rect">
            <a:avLst/>
          </a:prstGeom>
          <a:noFill/>
          <a:ln/>
        </p:spPr>
        <p:txBody>
          <a:bodyPr wrap="square" rtlCol="0" anchor="ctr"/>
          <a:lstStyle/>
          <a:p>
            <a:pPr indent="0" marL="0">
              <a:buNone/>
            </a:pPr>
            <a:r>
              <a:rPr lang="en-US" sz="1200" b="1" spc="200" kern="0" dirty="0">
                <a:solidFill>
                  <a:srgbClr val="0E8C9B"/>
                </a:solidFill>
                <a:latin typeface="Calibri" pitchFamily="34" charset="0"/>
                <a:ea typeface="Calibri" pitchFamily="34" charset="-122"/>
                <a:cs typeface="Calibri" pitchFamily="34" charset="-120"/>
              </a:rPr>
              <a:t>METHOD</a:t>
            </a:r>
            <a:endParaRPr lang="en-US" sz="1200" dirty="0"/>
          </a:p>
        </p:txBody>
      </p:sp>
      <p:sp>
        <p:nvSpPr>
          <p:cNvPr id="3" name="Text 1"/>
          <p:cNvSpPr/>
          <p:nvPr/>
        </p:nvSpPr>
        <p:spPr>
          <a:xfrm>
            <a:off x="457200" y="548640"/>
            <a:ext cx="11247120" cy="822960"/>
          </a:xfrm>
          <a:prstGeom prst="rect">
            <a:avLst/>
          </a:prstGeom>
          <a:noFill/>
          <a:ln/>
        </p:spPr>
        <p:txBody>
          <a:bodyPr wrap="square" rtlCol="0" anchor="ctr"/>
          <a:lstStyle/>
          <a:p>
            <a:pPr indent="0" marL="0">
              <a:buNone/>
            </a:pPr>
            <a:r>
              <a:rPr lang="en-US" sz="3000" b="1" dirty="0">
                <a:solidFill>
                  <a:srgbClr val="263947"/>
                </a:solidFill>
                <a:latin typeface="Cambria" pitchFamily="34" charset="0"/>
                <a:ea typeface="Cambria" pitchFamily="34" charset="-122"/>
                <a:cs typeface="Cambria" pitchFamily="34" charset="-120"/>
              </a:rPr>
              <a:t>Signatures, not labels</a:t>
            </a:r>
            <a:endParaRPr lang="en-US" sz="3000" dirty="0"/>
          </a:p>
        </p:txBody>
      </p:sp>
      <p:pic>
        <p:nvPicPr>
          <p:cNvPr id="4" name="Image 0" descr="/sessions/compassionate-blissful-planck/mnt/outputs/deck_assets/signatures.png">    </p:cNvPr>
          <p:cNvPicPr>
            <a:picLocks noChangeAspect="1"/>
          </p:cNvPicPr>
          <p:nvPr/>
        </p:nvPicPr>
        <p:blipFill>
          <a:blip r:embed="rId1"/>
          <a:srcRect l="-78049" r="-78049" t="0" b="0"/>
          <a:stretch/>
        </p:blipFill>
        <p:spPr>
          <a:xfrm>
            <a:off x="1280160" y="1554480"/>
            <a:ext cx="9601200" cy="3749040"/>
          </a:xfrm>
          <a:prstGeom prst="rect">
            <a:avLst/>
          </a:prstGeom>
        </p:spPr>
      </p:pic>
      <p:sp>
        <p:nvSpPr>
          <p:cNvPr id="5" name="Shape 2"/>
          <p:cNvSpPr/>
          <p:nvPr/>
        </p:nvSpPr>
        <p:spPr>
          <a:xfrm>
            <a:off x="457200" y="5715000"/>
            <a:ext cx="11274552" cy="566928"/>
          </a:xfrm>
          <a:prstGeom prst="roundRect">
            <a:avLst>
              <a:gd name="adj" fmla="val 9677"/>
            </a:avLst>
          </a:prstGeom>
          <a:solidFill>
            <a:srgbClr val="F4F7F8"/>
          </a:solidFill>
          <a:ln w="12700">
            <a:solidFill>
              <a:srgbClr val="E7ECEF"/>
            </a:solidFill>
            <a:prstDash val="solid"/>
          </a:ln>
        </p:spPr>
      </p:sp>
      <p:sp>
        <p:nvSpPr>
          <p:cNvPr id="6" name="Text 3"/>
          <p:cNvSpPr/>
          <p:nvPr/>
        </p:nvSpPr>
        <p:spPr>
          <a:xfrm>
            <a:off x="731520" y="5715000"/>
            <a:ext cx="10789920" cy="566928"/>
          </a:xfrm>
          <a:prstGeom prst="rect">
            <a:avLst/>
          </a:prstGeom>
          <a:noFill/>
          <a:ln/>
        </p:spPr>
        <p:txBody>
          <a:bodyPr wrap="square" rtlCol="0" anchor="ctr"/>
          <a:lstStyle/>
          <a:p>
            <a:pPr indent="0" marL="0">
              <a:buNone/>
            </a:pPr>
            <a:r>
              <a:rPr lang="en-US" sz="1400" b="1" dirty="0">
                <a:solidFill>
                  <a:srgbClr val="E08A2B"/>
                </a:solidFill>
                <a:latin typeface="Calibri" pitchFamily="34" charset="0"/>
                <a:ea typeface="Calibri" pitchFamily="34" charset="-122"/>
                <a:cs typeface="Calibri" pitchFamily="34" charset="-120"/>
              </a:rPr>
              <a:t>⇒  </a:t>
            </a:r>
            <a:pPr indent="0" marL="0">
              <a:buNone/>
            </a:pPr>
            <a:r>
              <a:rPr lang="en-US" sz="1400" b="1" dirty="0">
                <a:solidFill>
                  <a:srgbClr val="263947"/>
                </a:solidFill>
                <a:latin typeface="Calibri" pitchFamily="34" charset="0"/>
                <a:ea typeface="Calibri" pitchFamily="34" charset="-122"/>
                <a:cs typeface="Calibri" pitchFamily="34" charset="-120"/>
              </a:rPr>
              <a:t>Characterize each phase by its behavior — the same model is compute-, bandwidth-, and capacity-bound in one request.</a:t>
            </a:r>
            <a:endParaRPr lang="en-US" sz="1400" dirty="0"/>
          </a:p>
        </p:txBody>
      </p:sp>
      <p:sp>
        <p:nvSpPr>
          <p:cNvPr id="7" name="Text 4"/>
          <p:cNvSpPr/>
          <p:nvPr/>
        </p:nvSpPr>
        <p:spPr>
          <a:xfrm>
            <a:off x="457200" y="6473952"/>
            <a:ext cx="7315200" cy="274320"/>
          </a:xfrm>
          <a:prstGeom prst="rect">
            <a:avLst/>
          </a:prstGeom>
          <a:noFill/>
          <a:ln/>
        </p:spPr>
        <p:txBody>
          <a:bodyPr wrap="square" rtlCol="0" anchor="ctr"/>
          <a:lstStyle/>
          <a:p>
            <a:pPr indent="0" marL="0">
              <a:buNone/>
            </a:pPr>
            <a:r>
              <a:rPr lang="en-US" sz="900" dirty="0">
                <a:solidFill>
                  <a:srgbClr val="7C8B96"/>
                </a:solidFill>
                <a:latin typeface="Calibri" pitchFamily="34" charset="0"/>
                <a:ea typeface="Calibri" pitchFamily="34" charset="-122"/>
                <a:cs typeface="Calibri" pitchFamily="34" charset="-120"/>
              </a:rPr>
              <a:t>Beyond the GPU — 2-hour lecture</a:t>
            </a:r>
            <a:endParaRPr lang="en-US" sz="900" dirty="0"/>
          </a:p>
        </p:txBody>
      </p:sp>
      <p:sp>
        <p:nvSpPr>
          <p:cNvPr id="8" name="Text 5"/>
          <p:cNvSpPr/>
          <p:nvPr/>
        </p:nvSpPr>
        <p:spPr>
          <a:xfrm>
            <a:off x="11277295" y="6473952"/>
            <a:ext cx="457200" cy="274320"/>
          </a:xfrm>
          <a:prstGeom prst="rect">
            <a:avLst/>
          </a:prstGeom>
          <a:noFill/>
          <a:ln/>
        </p:spPr>
        <p:txBody>
          <a:bodyPr wrap="square" rtlCol="0" anchor="ctr"/>
          <a:lstStyle/>
          <a:p>
            <a:pPr algn="r" indent="0" marL="0">
              <a:buNone/>
            </a:pPr>
            <a:r>
              <a:rPr lang="en-US" sz="900" dirty="0">
                <a:solidFill>
                  <a:srgbClr val="7C8B96"/>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10896"/>
            <a:ext cx="10058400" cy="274320"/>
          </a:xfrm>
          <a:prstGeom prst="rect">
            <a:avLst/>
          </a:prstGeom>
          <a:noFill/>
          <a:ln/>
        </p:spPr>
        <p:txBody>
          <a:bodyPr wrap="square" rtlCol="0" anchor="ctr"/>
          <a:lstStyle/>
          <a:p>
            <a:pPr indent="0" marL="0">
              <a:buNone/>
            </a:pPr>
            <a:r>
              <a:rPr lang="en-US" sz="1200" b="1" spc="200" kern="0" dirty="0">
                <a:solidFill>
                  <a:srgbClr val="0E8C9B"/>
                </a:solidFill>
                <a:latin typeface="Calibri" pitchFamily="34" charset="0"/>
                <a:ea typeface="Calibri" pitchFamily="34" charset="-122"/>
                <a:cs typeface="Calibri" pitchFamily="34" charset="-120"/>
              </a:rPr>
              <a:t>TWO PHASES</a:t>
            </a:r>
            <a:endParaRPr lang="en-US" sz="1200" dirty="0"/>
          </a:p>
        </p:txBody>
      </p:sp>
      <p:sp>
        <p:nvSpPr>
          <p:cNvPr id="3" name="Text 1"/>
          <p:cNvSpPr/>
          <p:nvPr/>
        </p:nvSpPr>
        <p:spPr>
          <a:xfrm>
            <a:off x="457200" y="548640"/>
            <a:ext cx="11247120" cy="822960"/>
          </a:xfrm>
          <a:prstGeom prst="rect">
            <a:avLst/>
          </a:prstGeom>
          <a:noFill/>
          <a:ln/>
        </p:spPr>
        <p:txBody>
          <a:bodyPr wrap="square" rtlCol="0" anchor="ctr"/>
          <a:lstStyle/>
          <a:p>
            <a:pPr indent="0" marL="0">
              <a:buNone/>
            </a:pPr>
            <a:r>
              <a:rPr lang="en-US" sz="3000" b="1" dirty="0">
                <a:solidFill>
                  <a:srgbClr val="263947"/>
                </a:solidFill>
                <a:latin typeface="Cambria" pitchFamily="34" charset="0"/>
                <a:ea typeface="Cambria" pitchFamily="34" charset="-122"/>
                <a:cs typeface="Cambria" pitchFamily="34" charset="-120"/>
              </a:rPr>
              <a:t>Prefill and decode want different machines</a:t>
            </a:r>
            <a:endParaRPr lang="en-US" sz="3000" dirty="0"/>
          </a:p>
        </p:txBody>
      </p:sp>
      <p:pic>
        <p:nvPicPr>
          <p:cNvPr id="4" name="Image 0" descr="/sessions/compassionate-blissful-planck/mnt/outputs/deck_assets/prefill_decode.png">    </p:cNvPr>
          <p:cNvPicPr>
            <a:picLocks noChangeAspect="1"/>
          </p:cNvPicPr>
          <p:nvPr/>
        </p:nvPicPr>
        <p:blipFill>
          <a:blip r:embed="rId1"/>
          <a:srcRect l="-78049" r="-78049" t="0" b="0"/>
          <a:stretch/>
        </p:blipFill>
        <p:spPr>
          <a:xfrm>
            <a:off x="1280160" y="1554480"/>
            <a:ext cx="9601200" cy="3749040"/>
          </a:xfrm>
          <a:prstGeom prst="rect">
            <a:avLst/>
          </a:prstGeom>
        </p:spPr>
      </p:pic>
      <p:sp>
        <p:nvSpPr>
          <p:cNvPr id="5" name="Shape 2"/>
          <p:cNvSpPr/>
          <p:nvPr/>
        </p:nvSpPr>
        <p:spPr>
          <a:xfrm>
            <a:off x="457200" y="5715000"/>
            <a:ext cx="11274552" cy="566928"/>
          </a:xfrm>
          <a:prstGeom prst="roundRect">
            <a:avLst>
              <a:gd name="adj" fmla="val 9677"/>
            </a:avLst>
          </a:prstGeom>
          <a:solidFill>
            <a:srgbClr val="F4F7F8"/>
          </a:solidFill>
          <a:ln w="12700">
            <a:solidFill>
              <a:srgbClr val="E7ECEF"/>
            </a:solidFill>
            <a:prstDash val="solid"/>
          </a:ln>
        </p:spPr>
      </p:sp>
      <p:sp>
        <p:nvSpPr>
          <p:cNvPr id="6" name="Text 3"/>
          <p:cNvSpPr/>
          <p:nvPr/>
        </p:nvSpPr>
        <p:spPr>
          <a:xfrm>
            <a:off x="731520" y="5715000"/>
            <a:ext cx="10789920" cy="566928"/>
          </a:xfrm>
          <a:prstGeom prst="rect">
            <a:avLst/>
          </a:prstGeom>
          <a:noFill/>
          <a:ln/>
        </p:spPr>
        <p:txBody>
          <a:bodyPr wrap="square" rtlCol="0" anchor="ctr"/>
          <a:lstStyle/>
          <a:p>
            <a:pPr indent="0" marL="0">
              <a:buNone/>
            </a:pPr>
            <a:r>
              <a:rPr lang="en-US" sz="1400" b="1" dirty="0">
                <a:solidFill>
                  <a:srgbClr val="E08A2B"/>
                </a:solidFill>
                <a:latin typeface="Calibri" pitchFamily="34" charset="0"/>
                <a:ea typeface="Calibri" pitchFamily="34" charset="-122"/>
                <a:cs typeface="Calibri" pitchFamily="34" charset="-120"/>
              </a:rPr>
              <a:t>⇒  </a:t>
            </a:r>
            <a:pPr indent="0" marL="0">
              <a:buNone/>
            </a:pPr>
            <a:r>
              <a:rPr lang="en-US" sz="1400" b="1" dirty="0">
                <a:solidFill>
                  <a:srgbClr val="263947"/>
                </a:solidFill>
                <a:latin typeface="Calibri" pitchFamily="34" charset="0"/>
                <a:ea typeface="Calibri" pitchFamily="34" charset="-122"/>
                <a:cs typeface="Calibri" pitchFamily="34" charset="-120"/>
              </a:rPr>
              <a:t>One pooled device compromises; phase-specialized silicon is now reaching hyperscale roadmaps.</a:t>
            </a:r>
            <a:endParaRPr lang="en-US" sz="1400" dirty="0"/>
          </a:p>
        </p:txBody>
      </p:sp>
      <p:sp>
        <p:nvSpPr>
          <p:cNvPr id="7" name="Text 4"/>
          <p:cNvSpPr/>
          <p:nvPr/>
        </p:nvSpPr>
        <p:spPr>
          <a:xfrm>
            <a:off x="457200" y="6473952"/>
            <a:ext cx="7315200" cy="274320"/>
          </a:xfrm>
          <a:prstGeom prst="rect">
            <a:avLst/>
          </a:prstGeom>
          <a:noFill/>
          <a:ln/>
        </p:spPr>
        <p:txBody>
          <a:bodyPr wrap="square" rtlCol="0" anchor="ctr"/>
          <a:lstStyle/>
          <a:p>
            <a:pPr indent="0" marL="0">
              <a:buNone/>
            </a:pPr>
            <a:r>
              <a:rPr lang="en-US" sz="900" dirty="0">
                <a:solidFill>
                  <a:srgbClr val="7C8B96"/>
                </a:solidFill>
                <a:latin typeface="Calibri" pitchFamily="34" charset="0"/>
                <a:ea typeface="Calibri" pitchFamily="34" charset="-122"/>
                <a:cs typeface="Calibri" pitchFamily="34" charset="-120"/>
              </a:rPr>
              <a:t>Beyond the GPU — 2-hour lecture</a:t>
            </a:r>
            <a:endParaRPr lang="en-US" sz="900" dirty="0"/>
          </a:p>
        </p:txBody>
      </p:sp>
      <p:sp>
        <p:nvSpPr>
          <p:cNvPr id="8" name="Text 5"/>
          <p:cNvSpPr/>
          <p:nvPr/>
        </p:nvSpPr>
        <p:spPr>
          <a:xfrm>
            <a:off x="11277295" y="6473952"/>
            <a:ext cx="457200" cy="274320"/>
          </a:xfrm>
          <a:prstGeom prst="rect">
            <a:avLst/>
          </a:prstGeom>
          <a:noFill/>
          <a:ln/>
        </p:spPr>
        <p:txBody>
          <a:bodyPr wrap="square" rtlCol="0" anchor="ctr"/>
          <a:lstStyle/>
          <a:p>
            <a:pPr algn="r" indent="0" marL="0">
              <a:buNone/>
            </a:pPr>
            <a:r>
              <a:rPr lang="en-US" sz="900" dirty="0">
                <a:solidFill>
                  <a:srgbClr val="7C8B96"/>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10896"/>
            <a:ext cx="10058400" cy="274320"/>
          </a:xfrm>
          <a:prstGeom prst="rect">
            <a:avLst/>
          </a:prstGeom>
          <a:noFill/>
          <a:ln/>
        </p:spPr>
        <p:txBody>
          <a:bodyPr wrap="square" rtlCol="0" anchor="ctr"/>
          <a:lstStyle/>
          <a:p>
            <a:pPr indent="0" marL="0">
              <a:buNone/>
            </a:pPr>
            <a:r>
              <a:rPr lang="en-US" sz="1200" b="1" spc="200" kern="0" dirty="0">
                <a:solidFill>
                  <a:srgbClr val="0E8C9B"/>
                </a:solidFill>
                <a:latin typeface="Calibri" pitchFamily="34" charset="0"/>
                <a:ea typeface="Calibri" pitchFamily="34" charset="-122"/>
                <a:cs typeface="Calibri" pitchFamily="34" charset="-120"/>
              </a:rPr>
              <a:t>WORKED BOUND</a:t>
            </a:r>
            <a:endParaRPr lang="en-US" sz="1200" dirty="0"/>
          </a:p>
        </p:txBody>
      </p:sp>
      <p:sp>
        <p:nvSpPr>
          <p:cNvPr id="3" name="Text 1"/>
          <p:cNvSpPr/>
          <p:nvPr/>
        </p:nvSpPr>
        <p:spPr>
          <a:xfrm>
            <a:off x="457200" y="548640"/>
            <a:ext cx="11247120" cy="822960"/>
          </a:xfrm>
          <a:prstGeom prst="rect">
            <a:avLst/>
          </a:prstGeom>
          <a:noFill/>
          <a:ln/>
        </p:spPr>
        <p:txBody>
          <a:bodyPr wrap="square" rtlCol="0" anchor="ctr"/>
          <a:lstStyle/>
          <a:p>
            <a:pPr indent="0" marL="0">
              <a:buNone/>
            </a:pPr>
            <a:r>
              <a:rPr lang="en-US" sz="3000" b="1" dirty="0">
                <a:solidFill>
                  <a:srgbClr val="263947"/>
                </a:solidFill>
                <a:latin typeface="Cambria" pitchFamily="34" charset="0"/>
                <a:ea typeface="Cambria" pitchFamily="34" charset="-122"/>
                <a:cs typeface="Cambria" pitchFamily="34" charset="-120"/>
              </a:rPr>
              <a:t>Batch-one decode is a bandwidth wall</a:t>
            </a:r>
            <a:endParaRPr lang="en-US" sz="3000" dirty="0"/>
          </a:p>
        </p:txBody>
      </p:sp>
      <p:pic>
        <p:nvPicPr>
          <p:cNvPr id="4" name="Image 0" descr="/sessions/compassionate-blissful-planck/mnt/outputs/deck_assets/roofline_decode.png">    </p:cNvPr>
          <p:cNvPicPr>
            <a:picLocks noChangeAspect="1"/>
          </p:cNvPicPr>
          <p:nvPr/>
        </p:nvPicPr>
        <p:blipFill>
          <a:blip r:embed="rId1"/>
          <a:srcRect l="-45238" r="-45238" t="0" b="0"/>
          <a:stretch/>
        </p:blipFill>
        <p:spPr>
          <a:xfrm>
            <a:off x="457200" y="1554480"/>
            <a:ext cx="7315200" cy="3840480"/>
          </a:xfrm>
          <a:prstGeom prst="rect">
            <a:avLst/>
          </a:prstGeom>
        </p:spPr>
      </p:pic>
      <p:sp>
        <p:nvSpPr>
          <p:cNvPr id="5" name="Shape 2"/>
          <p:cNvSpPr/>
          <p:nvPr/>
        </p:nvSpPr>
        <p:spPr>
          <a:xfrm>
            <a:off x="8138160" y="1847088"/>
            <a:ext cx="109728" cy="109728"/>
          </a:xfrm>
          <a:prstGeom prst="rect">
            <a:avLst/>
          </a:prstGeom>
          <a:solidFill>
            <a:srgbClr val="E08A2B"/>
          </a:solidFill>
          <a:ln/>
        </p:spPr>
      </p:sp>
      <p:sp>
        <p:nvSpPr>
          <p:cNvPr id="6" name="Text 3"/>
          <p:cNvSpPr/>
          <p:nvPr/>
        </p:nvSpPr>
        <p:spPr>
          <a:xfrm>
            <a:off x="8366760" y="1673352"/>
            <a:ext cx="3291840" cy="731520"/>
          </a:xfrm>
          <a:prstGeom prst="rect">
            <a:avLst/>
          </a:prstGeom>
          <a:noFill/>
          <a:ln/>
        </p:spPr>
        <p:txBody>
          <a:bodyPr wrap="square" rtlCol="0" anchor="t"/>
          <a:lstStyle/>
          <a:p>
            <a:pPr indent="0" marL="0">
              <a:buNone/>
            </a:pPr>
            <a:r>
              <a:rPr lang="en-US" sz="1300" dirty="0">
                <a:solidFill>
                  <a:srgbClr val="263947"/>
                </a:solidFill>
                <a:latin typeface="Calibri" pitchFamily="34" charset="0"/>
                <a:ea typeface="Calibri" pitchFamily="34" charset="-122"/>
                <a:cs typeface="Calibri" pitchFamily="34" charset="-120"/>
              </a:rPr>
              <a:t>70B model, 8-bit, one sequence.</a:t>
            </a:r>
            <a:endParaRPr lang="en-US" sz="1300" dirty="0"/>
          </a:p>
        </p:txBody>
      </p:sp>
      <p:sp>
        <p:nvSpPr>
          <p:cNvPr id="7" name="Shape 4"/>
          <p:cNvSpPr/>
          <p:nvPr/>
        </p:nvSpPr>
        <p:spPr>
          <a:xfrm>
            <a:off x="8138160" y="2596896"/>
            <a:ext cx="109728" cy="109728"/>
          </a:xfrm>
          <a:prstGeom prst="rect">
            <a:avLst/>
          </a:prstGeom>
          <a:solidFill>
            <a:srgbClr val="E08A2B"/>
          </a:solidFill>
          <a:ln/>
        </p:spPr>
      </p:sp>
      <p:sp>
        <p:nvSpPr>
          <p:cNvPr id="8" name="Text 5"/>
          <p:cNvSpPr/>
          <p:nvPr/>
        </p:nvSpPr>
        <p:spPr>
          <a:xfrm>
            <a:off x="8366760" y="2423160"/>
            <a:ext cx="3291840" cy="731520"/>
          </a:xfrm>
          <a:prstGeom prst="rect">
            <a:avLst/>
          </a:prstGeom>
          <a:noFill/>
          <a:ln/>
        </p:spPr>
        <p:txBody>
          <a:bodyPr wrap="square" rtlCol="0" anchor="t"/>
          <a:lstStyle/>
          <a:p>
            <a:pPr indent="0" marL="0">
              <a:buNone/>
            </a:pPr>
            <a:r>
              <a:rPr lang="en-US" sz="1300" dirty="0">
                <a:solidFill>
                  <a:srgbClr val="263947"/>
                </a:solidFill>
                <a:latin typeface="Calibri" pitchFamily="34" charset="0"/>
                <a:ea typeface="Calibri" pitchFamily="34" charset="-122"/>
                <a:cs typeface="Calibri" pitchFamily="34" charset="-120"/>
              </a:rPr>
              <a:t>≈48 tokens/s ceiling on an H100.</a:t>
            </a:r>
            <a:endParaRPr lang="en-US" sz="1300" dirty="0"/>
          </a:p>
        </p:txBody>
      </p:sp>
      <p:sp>
        <p:nvSpPr>
          <p:cNvPr id="9" name="Shape 6"/>
          <p:cNvSpPr/>
          <p:nvPr/>
        </p:nvSpPr>
        <p:spPr>
          <a:xfrm>
            <a:off x="8138160" y="3346704"/>
            <a:ext cx="109728" cy="109728"/>
          </a:xfrm>
          <a:prstGeom prst="rect">
            <a:avLst/>
          </a:prstGeom>
          <a:solidFill>
            <a:srgbClr val="E08A2B"/>
          </a:solidFill>
          <a:ln/>
        </p:spPr>
      </p:sp>
      <p:sp>
        <p:nvSpPr>
          <p:cNvPr id="10" name="Text 7"/>
          <p:cNvSpPr/>
          <p:nvPr/>
        </p:nvSpPr>
        <p:spPr>
          <a:xfrm>
            <a:off x="8366760" y="3172968"/>
            <a:ext cx="3291840" cy="731520"/>
          </a:xfrm>
          <a:prstGeom prst="rect">
            <a:avLst/>
          </a:prstGeom>
          <a:noFill/>
          <a:ln/>
        </p:spPr>
        <p:txBody>
          <a:bodyPr wrap="square" rtlCol="0" anchor="t"/>
          <a:lstStyle/>
          <a:p>
            <a:pPr indent="0" marL="0">
              <a:buNone/>
            </a:pPr>
            <a:r>
              <a:rPr lang="en-US" sz="1300" dirty="0">
                <a:solidFill>
                  <a:srgbClr val="263947"/>
                </a:solidFill>
                <a:latin typeface="Calibri" pitchFamily="34" charset="0"/>
                <a:ea typeface="Calibri" pitchFamily="34" charset="-122"/>
                <a:cs typeface="Calibri" pitchFamily="34" charset="-120"/>
              </a:rPr>
              <a:t>~0.3% of matrix throughput used.</a:t>
            </a:r>
            <a:endParaRPr lang="en-US" sz="1300" dirty="0"/>
          </a:p>
        </p:txBody>
      </p:sp>
      <p:sp>
        <p:nvSpPr>
          <p:cNvPr id="11" name="Shape 8"/>
          <p:cNvSpPr/>
          <p:nvPr/>
        </p:nvSpPr>
        <p:spPr>
          <a:xfrm>
            <a:off x="457200" y="5715000"/>
            <a:ext cx="11274552" cy="566928"/>
          </a:xfrm>
          <a:prstGeom prst="roundRect">
            <a:avLst>
              <a:gd name="adj" fmla="val 9677"/>
            </a:avLst>
          </a:prstGeom>
          <a:solidFill>
            <a:srgbClr val="F4F7F8"/>
          </a:solidFill>
          <a:ln w="12700">
            <a:solidFill>
              <a:srgbClr val="E7ECEF"/>
            </a:solidFill>
            <a:prstDash val="solid"/>
          </a:ln>
        </p:spPr>
      </p:sp>
      <p:sp>
        <p:nvSpPr>
          <p:cNvPr id="12" name="Text 9"/>
          <p:cNvSpPr/>
          <p:nvPr/>
        </p:nvSpPr>
        <p:spPr>
          <a:xfrm>
            <a:off x="731520" y="5715000"/>
            <a:ext cx="10789920" cy="566928"/>
          </a:xfrm>
          <a:prstGeom prst="rect">
            <a:avLst/>
          </a:prstGeom>
          <a:noFill/>
          <a:ln/>
        </p:spPr>
        <p:txBody>
          <a:bodyPr wrap="square" rtlCol="0" anchor="ctr"/>
          <a:lstStyle/>
          <a:p>
            <a:pPr indent="0" marL="0">
              <a:buNone/>
            </a:pPr>
            <a:r>
              <a:rPr lang="en-US" sz="1400" b="1" dirty="0">
                <a:solidFill>
                  <a:srgbClr val="E08A2B"/>
                </a:solidFill>
                <a:latin typeface="Calibri" pitchFamily="34" charset="0"/>
                <a:ea typeface="Calibri" pitchFamily="34" charset="-122"/>
                <a:cs typeface="Calibri" pitchFamily="34" charset="-120"/>
              </a:rPr>
              <a:t>⇒  </a:t>
            </a:r>
            <a:pPr indent="0" marL="0">
              <a:buNone/>
            </a:pPr>
            <a:r>
              <a:rPr lang="en-US" sz="1400" b="1" dirty="0">
                <a:solidFill>
                  <a:srgbClr val="263947"/>
                </a:solidFill>
                <a:latin typeface="Calibri" pitchFamily="34" charset="0"/>
                <a:ea typeface="Calibri" pitchFamily="34" charset="-122"/>
                <a:cs typeface="Calibri" pitchFamily="34" charset="-120"/>
              </a:rPr>
              <a:t>Only batching or a changed memory contract moves this — the pressure behind inference-first silicon.</a:t>
            </a:r>
            <a:endParaRPr lang="en-US" sz="1400" dirty="0"/>
          </a:p>
        </p:txBody>
      </p:sp>
      <p:sp>
        <p:nvSpPr>
          <p:cNvPr id="13" name="Text 10"/>
          <p:cNvSpPr/>
          <p:nvPr/>
        </p:nvSpPr>
        <p:spPr>
          <a:xfrm>
            <a:off x="457200" y="6473952"/>
            <a:ext cx="7315200" cy="274320"/>
          </a:xfrm>
          <a:prstGeom prst="rect">
            <a:avLst/>
          </a:prstGeom>
          <a:noFill/>
          <a:ln/>
        </p:spPr>
        <p:txBody>
          <a:bodyPr wrap="square" rtlCol="0" anchor="ctr"/>
          <a:lstStyle/>
          <a:p>
            <a:pPr indent="0" marL="0">
              <a:buNone/>
            </a:pPr>
            <a:r>
              <a:rPr lang="en-US" sz="900" dirty="0">
                <a:solidFill>
                  <a:srgbClr val="7C8B96"/>
                </a:solidFill>
                <a:latin typeface="Calibri" pitchFamily="34" charset="0"/>
                <a:ea typeface="Calibri" pitchFamily="34" charset="-122"/>
                <a:cs typeface="Calibri" pitchFamily="34" charset="-120"/>
              </a:rPr>
              <a:t>Beyond the GPU — 2-hour lecture</a:t>
            </a:r>
            <a:endParaRPr lang="en-US" sz="900" dirty="0"/>
          </a:p>
        </p:txBody>
      </p:sp>
      <p:sp>
        <p:nvSpPr>
          <p:cNvPr id="14" name="Text 11"/>
          <p:cNvSpPr/>
          <p:nvPr/>
        </p:nvSpPr>
        <p:spPr>
          <a:xfrm>
            <a:off x="11277295" y="6473952"/>
            <a:ext cx="457200" cy="274320"/>
          </a:xfrm>
          <a:prstGeom prst="rect">
            <a:avLst/>
          </a:prstGeom>
          <a:noFill/>
          <a:ln/>
        </p:spPr>
        <p:txBody>
          <a:bodyPr wrap="square" rtlCol="0" anchor="ctr"/>
          <a:lstStyle/>
          <a:p>
            <a:pPr algn="r" indent="0" marL="0">
              <a:buNone/>
            </a:pPr>
            <a:r>
              <a:rPr lang="en-US" sz="900" dirty="0">
                <a:solidFill>
                  <a:srgbClr val="7C8B96"/>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10896"/>
            <a:ext cx="10058400" cy="274320"/>
          </a:xfrm>
          <a:prstGeom prst="rect">
            <a:avLst/>
          </a:prstGeom>
          <a:noFill/>
          <a:ln/>
        </p:spPr>
        <p:txBody>
          <a:bodyPr wrap="square" rtlCol="0" anchor="ctr"/>
          <a:lstStyle/>
          <a:p>
            <a:pPr indent="0" marL="0">
              <a:buNone/>
            </a:pPr>
            <a:r>
              <a:rPr lang="en-US" sz="1200" b="1" spc="200" kern="0" dirty="0">
                <a:solidFill>
                  <a:srgbClr val="0E8C9B"/>
                </a:solidFill>
                <a:latin typeface="Calibri" pitchFamily="34" charset="0"/>
                <a:ea typeface="Calibri" pitchFamily="34" charset="-122"/>
                <a:cs typeface="Calibri" pitchFamily="34" charset="-120"/>
              </a:rPr>
              <a:t>DRIVING FACTOR</a:t>
            </a:r>
            <a:endParaRPr lang="en-US" sz="1200" dirty="0"/>
          </a:p>
        </p:txBody>
      </p:sp>
      <p:sp>
        <p:nvSpPr>
          <p:cNvPr id="3" name="Text 1"/>
          <p:cNvSpPr/>
          <p:nvPr/>
        </p:nvSpPr>
        <p:spPr>
          <a:xfrm>
            <a:off x="457200" y="548640"/>
            <a:ext cx="11247120" cy="822960"/>
          </a:xfrm>
          <a:prstGeom prst="rect">
            <a:avLst/>
          </a:prstGeom>
          <a:noFill/>
          <a:ln/>
        </p:spPr>
        <p:txBody>
          <a:bodyPr wrap="square" rtlCol="0" anchor="ctr"/>
          <a:lstStyle/>
          <a:p>
            <a:pPr indent="0" marL="0">
              <a:buNone/>
            </a:pPr>
            <a:r>
              <a:rPr lang="en-US" sz="3000" b="1" dirty="0">
                <a:solidFill>
                  <a:srgbClr val="263947"/>
                </a:solidFill>
                <a:latin typeface="Cambria" pitchFamily="34" charset="0"/>
                <a:ea typeface="Cambria" pitchFamily="34" charset="-122"/>
                <a:cs typeface="Cambria" pitchFamily="34" charset="-120"/>
              </a:rPr>
              <a:t>Energy spans four orders of magnitude</a:t>
            </a:r>
            <a:endParaRPr lang="en-US" sz="3000" dirty="0"/>
          </a:p>
        </p:txBody>
      </p:sp>
      <p:pic>
        <p:nvPicPr>
          <p:cNvPr id="4" name="Image 0" descr="/sessions/compassionate-blissful-planck/mnt/outputs/deck_assets/wake_scope.png">    </p:cNvPr>
          <p:cNvPicPr>
            <a:picLocks noChangeAspect="1"/>
          </p:cNvPicPr>
          <p:nvPr/>
        </p:nvPicPr>
        <p:blipFill>
          <a:blip r:embed="rId1"/>
          <a:srcRect l="-45238" r="-45238" t="0" b="0"/>
          <a:stretch/>
        </p:blipFill>
        <p:spPr>
          <a:xfrm>
            <a:off x="457200" y="1554480"/>
            <a:ext cx="7315200" cy="3840480"/>
          </a:xfrm>
          <a:prstGeom prst="rect">
            <a:avLst/>
          </a:prstGeom>
        </p:spPr>
      </p:pic>
      <p:sp>
        <p:nvSpPr>
          <p:cNvPr id="5" name="Shape 2"/>
          <p:cNvSpPr/>
          <p:nvPr/>
        </p:nvSpPr>
        <p:spPr>
          <a:xfrm>
            <a:off x="8138160" y="1847088"/>
            <a:ext cx="109728" cy="109728"/>
          </a:xfrm>
          <a:prstGeom prst="rect">
            <a:avLst/>
          </a:prstGeom>
          <a:solidFill>
            <a:srgbClr val="E08A2B"/>
          </a:solidFill>
          <a:ln/>
        </p:spPr>
      </p:sp>
      <p:sp>
        <p:nvSpPr>
          <p:cNvPr id="6" name="Text 3"/>
          <p:cNvSpPr/>
          <p:nvPr/>
        </p:nvSpPr>
        <p:spPr>
          <a:xfrm>
            <a:off x="8366760" y="1673352"/>
            <a:ext cx="3291840" cy="731520"/>
          </a:xfrm>
          <a:prstGeom prst="rect">
            <a:avLst/>
          </a:prstGeom>
          <a:noFill/>
          <a:ln/>
        </p:spPr>
        <p:txBody>
          <a:bodyPr wrap="square" rtlCol="0" anchor="t"/>
          <a:lstStyle/>
          <a:p>
            <a:pPr indent="0" marL="0">
              <a:buNone/>
            </a:pPr>
            <a:r>
              <a:rPr lang="en-US" sz="1300" dirty="0">
                <a:solidFill>
                  <a:srgbClr val="263947"/>
                </a:solidFill>
                <a:latin typeface="Calibri" pitchFamily="34" charset="0"/>
                <a:ea typeface="Calibri" pitchFamily="34" charset="-122"/>
                <a:cs typeface="Calibri" pitchFamily="34" charset="-120"/>
              </a:rPr>
              <a:t>Always-on: microwatts.</a:t>
            </a:r>
            <a:endParaRPr lang="en-US" sz="1300" dirty="0"/>
          </a:p>
        </p:txBody>
      </p:sp>
      <p:sp>
        <p:nvSpPr>
          <p:cNvPr id="7" name="Shape 4"/>
          <p:cNvSpPr/>
          <p:nvPr/>
        </p:nvSpPr>
        <p:spPr>
          <a:xfrm>
            <a:off x="8138160" y="2596896"/>
            <a:ext cx="109728" cy="109728"/>
          </a:xfrm>
          <a:prstGeom prst="rect">
            <a:avLst/>
          </a:prstGeom>
          <a:solidFill>
            <a:srgbClr val="E08A2B"/>
          </a:solidFill>
          <a:ln/>
        </p:spPr>
      </p:sp>
      <p:sp>
        <p:nvSpPr>
          <p:cNvPr id="8" name="Text 5"/>
          <p:cNvSpPr/>
          <p:nvPr/>
        </p:nvSpPr>
        <p:spPr>
          <a:xfrm>
            <a:off x="8366760" y="2423160"/>
            <a:ext cx="3291840" cy="731520"/>
          </a:xfrm>
          <a:prstGeom prst="rect">
            <a:avLst/>
          </a:prstGeom>
          <a:noFill/>
          <a:ln/>
        </p:spPr>
        <p:txBody>
          <a:bodyPr wrap="square" rtlCol="0" anchor="t"/>
          <a:lstStyle/>
          <a:p>
            <a:pPr indent="0" marL="0">
              <a:buNone/>
            </a:pPr>
            <a:r>
              <a:rPr lang="en-US" sz="1300" dirty="0">
                <a:solidFill>
                  <a:srgbClr val="263947"/>
                </a:solidFill>
                <a:latin typeface="Calibri" pitchFamily="34" charset="0"/>
                <a:ea typeface="Calibri" pitchFamily="34" charset="-122"/>
                <a:cs typeface="Calibri" pitchFamily="34" charset="-120"/>
              </a:rPr>
              <a:t>Cloud round-trip: watts.</a:t>
            </a:r>
            <a:endParaRPr lang="en-US" sz="1300" dirty="0"/>
          </a:p>
        </p:txBody>
      </p:sp>
      <p:sp>
        <p:nvSpPr>
          <p:cNvPr id="9" name="Shape 6"/>
          <p:cNvSpPr/>
          <p:nvPr/>
        </p:nvSpPr>
        <p:spPr>
          <a:xfrm>
            <a:off x="8138160" y="3346704"/>
            <a:ext cx="109728" cy="109728"/>
          </a:xfrm>
          <a:prstGeom prst="rect">
            <a:avLst/>
          </a:prstGeom>
          <a:solidFill>
            <a:srgbClr val="E08A2B"/>
          </a:solidFill>
          <a:ln/>
        </p:spPr>
      </p:sp>
      <p:sp>
        <p:nvSpPr>
          <p:cNvPr id="10" name="Text 7"/>
          <p:cNvSpPr/>
          <p:nvPr/>
        </p:nvSpPr>
        <p:spPr>
          <a:xfrm>
            <a:off x="8366760" y="3172968"/>
            <a:ext cx="3291840" cy="731520"/>
          </a:xfrm>
          <a:prstGeom prst="rect">
            <a:avLst/>
          </a:prstGeom>
          <a:noFill/>
          <a:ln/>
        </p:spPr>
        <p:txBody>
          <a:bodyPr wrap="square" rtlCol="0" anchor="t"/>
          <a:lstStyle/>
          <a:p>
            <a:pPr indent="0" marL="0">
              <a:buNone/>
            </a:pPr>
            <a:r>
              <a:rPr lang="en-US" sz="1300" dirty="0">
                <a:solidFill>
                  <a:srgbClr val="263947"/>
                </a:solidFill>
                <a:latin typeface="Calibri" pitchFamily="34" charset="0"/>
                <a:ea typeface="Calibri" pitchFamily="34" charset="-122"/>
                <a:cs typeface="Calibri" pitchFamily="34" charset="-120"/>
              </a:rPr>
              <a:t>Wake scope sets the cost.</a:t>
            </a:r>
            <a:endParaRPr lang="en-US" sz="1300" dirty="0"/>
          </a:p>
        </p:txBody>
      </p:sp>
      <p:sp>
        <p:nvSpPr>
          <p:cNvPr id="11" name="Shape 8"/>
          <p:cNvSpPr/>
          <p:nvPr/>
        </p:nvSpPr>
        <p:spPr>
          <a:xfrm>
            <a:off x="457200" y="5715000"/>
            <a:ext cx="11274552" cy="566928"/>
          </a:xfrm>
          <a:prstGeom prst="roundRect">
            <a:avLst>
              <a:gd name="adj" fmla="val 9677"/>
            </a:avLst>
          </a:prstGeom>
          <a:solidFill>
            <a:srgbClr val="F4F7F8"/>
          </a:solidFill>
          <a:ln w="12700">
            <a:solidFill>
              <a:srgbClr val="E7ECEF"/>
            </a:solidFill>
            <a:prstDash val="solid"/>
          </a:ln>
        </p:spPr>
      </p:sp>
      <p:sp>
        <p:nvSpPr>
          <p:cNvPr id="12" name="Text 9"/>
          <p:cNvSpPr/>
          <p:nvPr/>
        </p:nvSpPr>
        <p:spPr>
          <a:xfrm>
            <a:off x="731520" y="5715000"/>
            <a:ext cx="10789920" cy="566928"/>
          </a:xfrm>
          <a:prstGeom prst="rect">
            <a:avLst/>
          </a:prstGeom>
          <a:noFill/>
          <a:ln/>
        </p:spPr>
        <p:txBody>
          <a:bodyPr wrap="square" rtlCol="0" anchor="ctr"/>
          <a:lstStyle/>
          <a:p>
            <a:pPr indent="0" marL="0">
              <a:buNone/>
            </a:pPr>
            <a:r>
              <a:rPr lang="en-US" sz="1400" b="1" dirty="0">
                <a:solidFill>
                  <a:srgbClr val="E08A2B"/>
                </a:solidFill>
                <a:latin typeface="Calibri" pitchFamily="34" charset="0"/>
                <a:ea typeface="Calibri" pitchFamily="34" charset="-122"/>
                <a:cs typeface="Calibri" pitchFamily="34" charset="-120"/>
              </a:rPr>
              <a:t>⇒  </a:t>
            </a:r>
            <a:pPr indent="0" marL="0">
              <a:buNone/>
            </a:pPr>
            <a:r>
              <a:rPr lang="en-US" sz="1400" b="1" dirty="0">
                <a:solidFill>
                  <a:srgbClr val="263947"/>
                </a:solidFill>
                <a:latin typeface="Calibri" pitchFamily="34" charset="0"/>
                <a:ea typeface="Calibri" pitchFamily="34" charset="-122"/>
                <a:cs typeface="Calibri" pitchFamily="34" charset="-120"/>
              </a:rPr>
              <a:t>Always-on features are impossible on a GPU contract — a structural bound, not an efficiency gap.</a:t>
            </a:r>
            <a:endParaRPr lang="en-US" sz="1400" dirty="0"/>
          </a:p>
        </p:txBody>
      </p:sp>
      <p:sp>
        <p:nvSpPr>
          <p:cNvPr id="13" name="Text 10"/>
          <p:cNvSpPr/>
          <p:nvPr/>
        </p:nvSpPr>
        <p:spPr>
          <a:xfrm>
            <a:off x="457200" y="6473952"/>
            <a:ext cx="7315200" cy="274320"/>
          </a:xfrm>
          <a:prstGeom prst="rect">
            <a:avLst/>
          </a:prstGeom>
          <a:noFill/>
          <a:ln/>
        </p:spPr>
        <p:txBody>
          <a:bodyPr wrap="square" rtlCol="0" anchor="ctr"/>
          <a:lstStyle/>
          <a:p>
            <a:pPr indent="0" marL="0">
              <a:buNone/>
            </a:pPr>
            <a:r>
              <a:rPr lang="en-US" sz="900" dirty="0">
                <a:solidFill>
                  <a:srgbClr val="7C8B96"/>
                </a:solidFill>
                <a:latin typeface="Calibri" pitchFamily="34" charset="0"/>
                <a:ea typeface="Calibri" pitchFamily="34" charset="-122"/>
                <a:cs typeface="Calibri" pitchFamily="34" charset="-120"/>
              </a:rPr>
              <a:t>Beyond the GPU — 2-hour lecture</a:t>
            </a:r>
            <a:endParaRPr lang="en-US" sz="900" dirty="0"/>
          </a:p>
        </p:txBody>
      </p:sp>
      <p:sp>
        <p:nvSpPr>
          <p:cNvPr id="14" name="Text 11"/>
          <p:cNvSpPr/>
          <p:nvPr/>
        </p:nvSpPr>
        <p:spPr>
          <a:xfrm>
            <a:off x="11277295" y="6473952"/>
            <a:ext cx="457200" cy="274320"/>
          </a:xfrm>
          <a:prstGeom prst="rect">
            <a:avLst/>
          </a:prstGeom>
          <a:noFill/>
          <a:ln/>
        </p:spPr>
        <p:txBody>
          <a:bodyPr wrap="square" rtlCol="0" anchor="ctr"/>
          <a:lstStyle/>
          <a:p>
            <a:pPr algn="r" indent="0" marL="0">
              <a:buNone/>
            </a:pPr>
            <a:r>
              <a:rPr lang="en-US" sz="900" dirty="0">
                <a:solidFill>
                  <a:srgbClr val="7C8B96"/>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10896"/>
            <a:ext cx="10058400" cy="274320"/>
          </a:xfrm>
          <a:prstGeom prst="rect">
            <a:avLst/>
          </a:prstGeom>
          <a:noFill/>
          <a:ln/>
        </p:spPr>
        <p:txBody>
          <a:bodyPr wrap="square" rtlCol="0" anchor="ctr"/>
          <a:lstStyle/>
          <a:p>
            <a:pPr indent="0" marL="0">
              <a:buNone/>
            </a:pPr>
            <a:r>
              <a:rPr lang="en-US" sz="1200" b="1" spc="200" kern="0" dirty="0">
                <a:solidFill>
                  <a:srgbClr val="0E8C9B"/>
                </a:solidFill>
                <a:latin typeface="Calibri" pitchFamily="34" charset="0"/>
                <a:ea typeface="Calibri" pitchFamily="34" charset="-122"/>
                <a:cs typeface="Calibri" pitchFamily="34" charset="-120"/>
              </a:rPr>
              <a:t>DRIVING FACTOR</a:t>
            </a:r>
            <a:endParaRPr lang="en-US" sz="1200" dirty="0"/>
          </a:p>
        </p:txBody>
      </p:sp>
      <p:sp>
        <p:nvSpPr>
          <p:cNvPr id="3" name="Text 1"/>
          <p:cNvSpPr/>
          <p:nvPr/>
        </p:nvSpPr>
        <p:spPr>
          <a:xfrm>
            <a:off x="457200" y="548640"/>
            <a:ext cx="11247120" cy="822960"/>
          </a:xfrm>
          <a:prstGeom prst="rect">
            <a:avLst/>
          </a:prstGeom>
          <a:noFill/>
          <a:ln/>
        </p:spPr>
        <p:txBody>
          <a:bodyPr wrap="square" rtlCol="0" anchor="ctr"/>
          <a:lstStyle/>
          <a:p>
            <a:pPr indent="0" marL="0">
              <a:buNone/>
            </a:pPr>
            <a:r>
              <a:rPr lang="en-US" sz="3000" b="1" dirty="0">
                <a:solidFill>
                  <a:srgbClr val="263947"/>
                </a:solidFill>
                <a:latin typeface="Cambria" pitchFamily="34" charset="0"/>
                <a:ea typeface="Cambria" pitchFamily="34" charset="-122"/>
                <a:cs typeface="Cambria" pitchFamily="34" charset="-120"/>
              </a:rPr>
              <a:t>MoE turns compute into communication</a:t>
            </a:r>
            <a:endParaRPr lang="en-US" sz="3000" dirty="0"/>
          </a:p>
        </p:txBody>
      </p:sp>
      <p:pic>
        <p:nvPicPr>
          <p:cNvPr id="4" name="Image 0" descr="/sessions/compassionate-blissful-planck/mnt/outputs/deck_assets/moe.png">    </p:cNvPr>
          <p:cNvPicPr>
            <a:picLocks noChangeAspect="1"/>
          </p:cNvPicPr>
          <p:nvPr/>
        </p:nvPicPr>
        <p:blipFill>
          <a:blip r:embed="rId1"/>
          <a:srcRect l="-78049" r="-78049" t="0" b="0"/>
          <a:stretch/>
        </p:blipFill>
        <p:spPr>
          <a:xfrm>
            <a:off x="1280160" y="1554480"/>
            <a:ext cx="9601200" cy="3749040"/>
          </a:xfrm>
          <a:prstGeom prst="rect">
            <a:avLst/>
          </a:prstGeom>
        </p:spPr>
      </p:pic>
      <p:sp>
        <p:nvSpPr>
          <p:cNvPr id="5" name="Shape 2"/>
          <p:cNvSpPr/>
          <p:nvPr/>
        </p:nvSpPr>
        <p:spPr>
          <a:xfrm>
            <a:off x="457200" y="5715000"/>
            <a:ext cx="11274552" cy="566928"/>
          </a:xfrm>
          <a:prstGeom prst="roundRect">
            <a:avLst>
              <a:gd name="adj" fmla="val 9677"/>
            </a:avLst>
          </a:prstGeom>
          <a:solidFill>
            <a:srgbClr val="F4F7F8"/>
          </a:solidFill>
          <a:ln w="12700">
            <a:solidFill>
              <a:srgbClr val="E7ECEF"/>
            </a:solidFill>
            <a:prstDash val="solid"/>
          </a:ln>
        </p:spPr>
      </p:sp>
      <p:sp>
        <p:nvSpPr>
          <p:cNvPr id="6" name="Text 3"/>
          <p:cNvSpPr/>
          <p:nvPr/>
        </p:nvSpPr>
        <p:spPr>
          <a:xfrm>
            <a:off x="731520" y="5715000"/>
            <a:ext cx="10789920" cy="566928"/>
          </a:xfrm>
          <a:prstGeom prst="rect">
            <a:avLst/>
          </a:prstGeom>
          <a:noFill/>
          <a:ln/>
        </p:spPr>
        <p:txBody>
          <a:bodyPr wrap="square" rtlCol="0" anchor="ctr"/>
          <a:lstStyle/>
          <a:p>
            <a:pPr indent="0" marL="0">
              <a:buNone/>
            </a:pPr>
            <a:r>
              <a:rPr lang="en-US" sz="1400" b="1" dirty="0">
                <a:solidFill>
                  <a:srgbClr val="E08A2B"/>
                </a:solidFill>
                <a:latin typeface="Calibri" pitchFamily="34" charset="0"/>
                <a:ea typeface="Calibri" pitchFamily="34" charset="-122"/>
                <a:cs typeface="Calibri" pitchFamily="34" charset="-120"/>
              </a:rPr>
              <a:t>⇒  </a:t>
            </a:r>
            <a:pPr indent="0" marL="0">
              <a:buNone/>
            </a:pPr>
            <a:r>
              <a:rPr lang="en-US" sz="1400" b="1" dirty="0">
                <a:solidFill>
                  <a:srgbClr val="263947"/>
                </a:solidFill>
                <a:latin typeface="Calibri" pitchFamily="34" charset="0"/>
                <a:ea typeface="Calibri" pitchFamily="34" charset="-122"/>
                <a:cs typeface="Calibri" pitchFamily="34" charset="-120"/>
              </a:rPr>
              <a:t>All-to-all routing can be ~1/3 of a training step — a bound in the fabric, not the arithmetic.</a:t>
            </a:r>
            <a:endParaRPr lang="en-US" sz="1400" dirty="0"/>
          </a:p>
        </p:txBody>
      </p:sp>
      <p:sp>
        <p:nvSpPr>
          <p:cNvPr id="7" name="Text 4"/>
          <p:cNvSpPr/>
          <p:nvPr/>
        </p:nvSpPr>
        <p:spPr>
          <a:xfrm>
            <a:off x="457200" y="6473952"/>
            <a:ext cx="7315200" cy="274320"/>
          </a:xfrm>
          <a:prstGeom prst="rect">
            <a:avLst/>
          </a:prstGeom>
          <a:noFill/>
          <a:ln/>
        </p:spPr>
        <p:txBody>
          <a:bodyPr wrap="square" rtlCol="0" anchor="ctr"/>
          <a:lstStyle/>
          <a:p>
            <a:pPr indent="0" marL="0">
              <a:buNone/>
            </a:pPr>
            <a:r>
              <a:rPr lang="en-US" sz="900" dirty="0">
                <a:solidFill>
                  <a:srgbClr val="7C8B96"/>
                </a:solidFill>
                <a:latin typeface="Calibri" pitchFamily="34" charset="0"/>
                <a:ea typeface="Calibri" pitchFamily="34" charset="-122"/>
                <a:cs typeface="Calibri" pitchFamily="34" charset="-120"/>
              </a:rPr>
              <a:t>Beyond the GPU — 2-hour lecture</a:t>
            </a:r>
            <a:endParaRPr lang="en-US" sz="900" dirty="0"/>
          </a:p>
        </p:txBody>
      </p:sp>
      <p:sp>
        <p:nvSpPr>
          <p:cNvPr id="8" name="Text 5"/>
          <p:cNvSpPr/>
          <p:nvPr/>
        </p:nvSpPr>
        <p:spPr>
          <a:xfrm>
            <a:off x="11277295" y="6473952"/>
            <a:ext cx="457200" cy="274320"/>
          </a:xfrm>
          <a:prstGeom prst="rect">
            <a:avLst/>
          </a:prstGeom>
          <a:noFill/>
          <a:ln/>
        </p:spPr>
        <p:txBody>
          <a:bodyPr wrap="square" rtlCol="0" anchor="ctr"/>
          <a:lstStyle/>
          <a:p>
            <a:pPr algn="r" indent="0" marL="0">
              <a:buNone/>
            </a:pPr>
            <a:r>
              <a:rPr lang="en-US" sz="900" dirty="0">
                <a:solidFill>
                  <a:srgbClr val="7C8B96"/>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10896"/>
            <a:ext cx="10058400" cy="274320"/>
          </a:xfrm>
          <a:prstGeom prst="rect">
            <a:avLst/>
          </a:prstGeom>
          <a:noFill/>
          <a:ln/>
        </p:spPr>
        <p:txBody>
          <a:bodyPr wrap="square" rtlCol="0" anchor="ctr"/>
          <a:lstStyle/>
          <a:p>
            <a:pPr indent="0" marL="0">
              <a:buNone/>
            </a:pPr>
            <a:r>
              <a:rPr lang="en-US" sz="1200" b="1" spc="200" kern="0" dirty="0">
                <a:solidFill>
                  <a:srgbClr val="0E8C9B"/>
                </a:solidFill>
                <a:latin typeface="Calibri" pitchFamily="34" charset="0"/>
                <a:ea typeface="Calibri" pitchFamily="34" charset="-122"/>
                <a:cs typeface="Calibri" pitchFamily="34" charset="-120"/>
              </a:rPr>
              <a:t>DRIVING FACTOR</a:t>
            </a:r>
            <a:endParaRPr lang="en-US" sz="1200" dirty="0"/>
          </a:p>
        </p:txBody>
      </p:sp>
      <p:sp>
        <p:nvSpPr>
          <p:cNvPr id="3" name="Text 1"/>
          <p:cNvSpPr/>
          <p:nvPr/>
        </p:nvSpPr>
        <p:spPr>
          <a:xfrm>
            <a:off x="457200" y="548640"/>
            <a:ext cx="11247120" cy="822960"/>
          </a:xfrm>
          <a:prstGeom prst="rect">
            <a:avLst/>
          </a:prstGeom>
          <a:noFill/>
          <a:ln/>
        </p:spPr>
        <p:txBody>
          <a:bodyPr wrap="square" rtlCol="0" anchor="ctr"/>
          <a:lstStyle/>
          <a:p>
            <a:pPr indent="0" marL="0">
              <a:buNone/>
            </a:pPr>
            <a:r>
              <a:rPr lang="en-US" sz="3000" b="1" dirty="0">
                <a:solidFill>
                  <a:srgbClr val="263947"/>
                </a:solidFill>
                <a:latin typeface="Cambria" pitchFamily="34" charset="0"/>
                <a:ea typeface="Cambria" pitchFamily="34" charset="-122"/>
                <a:cs typeface="Cambria" pitchFamily="34" charset="-120"/>
              </a:rPr>
              <a:t>Irregular access defeats the cache</a:t>
            </a:r>
            <a:endParaRPr lang="en-US" sz="3000" dirty="0"/>
          </a:p>
        </p:txBody>
      </p:sp>
      <p:pic>
        <p:nvPicPr>
          <p:cNvPr id="4" name="Image 0" descr="/sessions/compassionate-blissful-planck/mnt/outputs/deck_assets/irregular.png">    </p:cNvPr>
          <p:cNvPicPr>
            <a:picLocks noChangeAspect="1"/>
          </p:cNvPicPr>
          <p:nvPr/>
        </p:nvPicPr>
        <p:blipFill>
          <a:blip r:embed="rId1"/>
          <a:srcRect l="-78049" r="-78049" t="0" b="0"/>
          <a:stretch/>
        </p:blipFill>
        <p:spPr>
          <a:xfrm>
            <a:off x="1280160" y="1554480"/>
            <a:ext cx="9601200" cy="3749040"/>
          </a:xfrm>
          <a:prstGeom prst="rect">
            <a:avLst/>
          </a:prstGeom>
        </p:spPr>
      </p:pic>
      <p:sp>
        <p:nvSpPr>
          <p:cNvPr id="5" name="Shape 2"/>
          <p:cNvSpPr/>
          <p:nvPr/>
        </p:nvSpPr>
        <p:spPr>
          <a:xfrm>
            <a:off x="457200" y="5715000"/>
            <a:ext cx="11274552" cy="566928"/>
          </a:xfrm>
          <a:prstGeom prst="roundRect">
            <a:avLst>
              <a:gd name="adj" fmla="val 9677"/>
            </a:avLst>
          </a:prstGeom>
          <a:solidFill>
            <a:srgbClr val="F4F7F8"/>
          </a:solidFill>
          <a:ln w="12700">
            <a:solidFill>
              <a:srgbClr val="E7ECEF"/>
            </a:solidFill>
            <a:prstDash val="solid"/>
          </a:ln>
        </p:spPr>
      </p:sp>
      <p:sp>
        <p:nvSpPr>
          <p:cNvPr id="6" name="Text 3"/>
          <p:cNvSpPr/>
          <p:nvPr/>
        </p:nvSpPr>
        <p:spPr>
          <a:xfrm>
            <a:off x="731520" y="5715000"/>
            <a:ext cx="10789920" cy="566928"/>
          </a:xfrm>
          <a:prstGeom prst="rect">
            <a:avLst/>
          </a:prstGeom>
          <a:noFill/>
          <a:ln/>
        </p:spPr>
        <p:txBody>
          <a:bodyPr wrap="square" rtlCol="0" anchor="ctr"/>
          <a:lstStyle/>
          <a:p>
            <a:pPr indent="0" marL="0">
              <a:buNone/>
            </a:pPr>
            <a:r>
              <a:rPr lang="en-US" sz="1400" b="1" dirty="0">
                <a:solidFill>
                  <a:srgbClr val="E08A2B"/>
                </a:solidFill>
                <a:latin typeface="Calibri" pitchFamily="34" charset="0"/>
                <a:ea typeface="Calibri" pitchFamily="34" charset="-122"/>
                <a:cs typeface="Calibri" pitchFamily="34" charset="-120"/>
              </a:rPr>
              <a:t>⇒  </a:t>
            </a:r>
            <a:pPr indent="0" marL="0">
              <a:buNone/>
            </a:pPr>
            <a:r>
              <a:rPr lang="en-US" sz="1400" b="1" dirty="0">
                <a:solidFill>
                  <a:srgbClr val="263947"/>
                </a:solidFill>
                <a:latin typeface="Calibri" pitchFamily="34" charset="0"/>
                <a:ea typeface="Calibri" pitchFamily="34" charset="-122"/>
                <a:cs typeface="Calibri" pitchFamily="34" charset="-120"/>
              </a:rPr>
              <a:t>Embeddings, gather, and graph traversal are the bound no family yet owns cleanly.</a:t>
            </a:r>
            <a:endParaRPr lang="en-US" sz="1400" dirty="0"/>
          </a:p>
        </p:txBody>
      </p:sp>
      <p:sp>
        <p:nvSpPr>
          <p:cNvPr id="7" name="Text 4"/>
          <p:cNvSpPr/>
          <p:nvPr/>
        </p:nvSpPr>
        <p:spPr>
          <a:xfrm>
            <a:off x="457200" y="6473952"/>
            <a:ext cx="7315200" cy="274320"/>
          </a:xfrm>
          <a:prstGeom prst="rect">
            <a:avLst/>
          </a:prstGeom>
          <a:noFill/>
          <a:ln/>
        </p:spPr>
        <p:txBody>
          <a:bodyPr wrap="square" rtlCol="0" anchor="ctr"/>
          <a:lstStyle/>
          <a:p>
            <a:pPr indent="0" marL="0">
              <a:buNone/>
            </a:pPr>
            <a:r>
              <a:rPr lang="en-US" sz="900" dirty="0">
                <a:solidFill>
                  <a:srgbClr val="7C8B96"/>
                </a:solidFill>
                <a:latin typeface="Calibri" pitchFamily="34" charset="0"/>
                <a:ea typeface="Calibri" pitchFamily="34" charset="-122"/>
                <a:cs typeface="Calibri" pitchFamily="34" charset="-120"/>
              </a:rPr>
              <a:t>Beyond the GPU — 2-hour lecture</a:t>
            </a:r>
            <a:endParaRPr lang="en-US" sz="900" dirty="0"/>
          </a:p>
        </p:txBody>
      </p:sp>
      <p:sp>
        <p:nvSpPr>
          <p:cNvPr id="8" name="Text 5"/>
          <p:cNvSpPr/>
          <p:nvPr/>
        </p:nvSpPr>
        <p:spPr>
          <a:xfrm>
            <a:off x="11277295" y="6473952"/>
            <a:ext cx="457200" cy="274320"/>
          </a:xfrm>
          <a:prstGeom prst="rect">
            <a:avLst/>
          </a:prstGeom>
          <a:noFill/>
          <a:ln/>
        </p:spPr>
        <p:txBody>
          <a:bodyPr wrap="square" rtlCol="0" anchor="ctr"/>
          <a:lstStyle/>
          <a:p>
            <a:pPr algn="r" indent="0" marL="0">
              <a:buNone/>
            </a:pPr>
            <a:r>
              <a:rPr lang="en-US" sz="900" dirty="0">
                <a:solidFill>
                  <a:srgbClr val="7C8B96"/>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10896"/>
            <a:ext cx="10058400" cy="274320"/>
          </a:xfrm>
          <a:prstGeom prst="rect">
            <a:avLst/>
          </a:prstGeom>
          <a:noFill/>
          <a:ln/>
        </p:spPr>
        <p:txBody>
          <a:bodyPr wrap="square" rtlCol="0" anchor="ctr"/>
          <a:lstStyle/>
          <a:p>
            <a:pPr indent="0" marL="0">
              <a:buNone/>
            </a:pPr>
            <a:r>
              <a:rPr lang="en-US" sz="1200" b="1" spc="200" kern="0" dirty="0">
                <a:solidFill>
                  <a:srgbClr val="0E8C9B"/>
                </a:solidFill>
                <a:latin typeface="Calibri" pitchFamily="34" charset="0"/>
                <a:ea typeface="Calibri" pitchFamily="34" charset="-122"/>
                <a:cs typeface="Calibri" pitchFamily="34" charset="-120"/>
              </a:rPr>
              <a:t>THE HONEST BASELINE</a:t>
            </a:r>
            <a:endParaRPr lang="en-US" sz="1200" dirty="0"/>
          </a:p>
        </p:txBody>
      </p:sp>
      <p:sp>
        <p:nvSpPr>
          <p:cNvPr id="3" name="Text 1"/>
          <p:cNvSpPr/>
          <p:nvPr/>
        </p:nvSpPr>
        <p:spPr>
          <a:xfrm>
            <a:off x="457200" y="548640"/>
            <a:ext cx="11247120" cy="822960"/>
          </a:xfrm>
          <a:prstGeom prst="rect">
            <a:avLst/>
          </a:prstGeom>
          <a:noFill/>
          <a:ln/>
        </p:spPr>
        <p:txBody>
          <a:bodyPr wrap="square" rtlCol="0" anchor="ctr"/>
          <a:lstStyle/>
          <a:p>
            <a:pPr indent="0" marL="0">
              <a:buNone/>
            </a:pPr>
            <a:r>
              <a:rPr lang="en-US" sz="3000" b="1" dirty="0">
                <a:solidFill>
                  <a:srgbClr val="263947"/>
                </a:solidFill>
                <a:latin typeface="Cambria" pitchFamily="34" charset="0"/>
                <a:ea typeface="Cambria" pitchFamily="34" charset="-122"/>
                <a:cs typeface="Cambria" pitchFamily="34" charset="-120"/>
              </a:rPr>
              <a:t>Software succeeds — until it meets physics</a:t>
            </a:r>
            <a:endParaRPr lang="en-US" sz="3000" dirty="0"/>
          </a:p>
        </p:txBody>
      </p:sp>
      <p:sp>
        <p:nvSpPr>
          <p:cNvPr id="4" name="Shape 2"/>
          <p:cNvSpPr/>
          <p:nvPr/>
        </p:nvSpPr>
        <p:spPr>
          <a:xfrm>
            <a:off x="457200" y="2011680"/>
            <a:ext cx="2544318" cy="2651760"/>
          </a:xfrm>
          <a:prstGeom prst="roundRect">
            <a:avLst>
              <a:gd name="adj" fmla="val 2875"/>
            </a:avLst>
          </a:prstGeom>
          <a:solidFill>
            <a:srgbClr val="F4F7F8"/>
          </a:solidFill>
          <a:ln w="12700">
            <a:solidFill>
              <a:srgbClr val="E7ECEF"/>
            </a:solidFill>
            <a:prstDash val="solid"/>
          </a:ln>
        </p:spPr>
      </p:sp>
      <p:sp>
        <p:nvSpPr>
          <p:cNvPr id="5" name="Text 3"/>
          <p:cNvSpPr/>
          <p:nvPr/>
        </p:nvSpPr>
        <p:spPr>
          <a:xfrm>
            <a:off x="457200" y="2331720"/>
            <a:ext cx="2544318" cy="1097280"/>
          </a:xfrm>
          <a:prstGeom prst="rect">
            <a:avLst/>
          </a:prstGeom>
          <a:noFill/>
          <a:ln/>
        </p:spPr>
        <p:txBody>
          <a:bodyPr wrap="square" rtlCol="0" anchor="ctr"/>
          <a:lstStyle/>
          <a:p>
            <a:pPr algn="ctr" indent="0" marL="0">
              <a:buNone/>
            </a:pPr>
            <a:r>
              <a:rPr lang="en-US" sz="3800" b="1" dirty="0">
                <a:solidFill>
                  <a:srgbClr val="0E8C9B"/>
                </a:solidFill>
                <a:latin typeface="Cambria" pitchFamily="34" charset="0"/>
                <a:ea typeface="Cambria" pitchFamily="34" charset="-122"/>
                <a:cs typeface="Cambria" pitchFamily="34" charset="-120"/>
              </a:rPr>
              <a:t>3×</a:t>
            </a:r>
            <a:endParaRPr lang="en-US" sz="3800" dirty="0"/>
          </a:p>
        </p:txBody>
      </p:sp>
      <p:sp>
        <p:nvSpPr>
          <p:cNvPr id="6" name="Text 4"/>
          <p:cNvSpPr/>
          <p:nvPr/>
        </p:nvSpPr>
        <p:spPr>
          <a:xfrm>
            <a:off x="594360" y="3566160"/>
            <a:ext cx="2269998" cy="914400"/>
          </a:xfrm>
          <a:prstGeom prst="rect">
            <a:avLst/>
          </a:prstGeom>
          <a:noFill/>
          <a:ln/>
        </p:spPr>
        <p:txBody>
          <a:bodyPr wrap="square" rtlCol="0" anchor="t"/>
          <a:lstStyle/>
          <a:p>
            <a:pPr algn="ctr" indent="0" marL="0">
              <a:buNone/>
            </a:pPr>
            <a:r>
              <a:rPr lang="en-US" sz="1250" dirty="0">
                <a:solidFill>
                  <a:srgbClr val="263947"/>
                </a:solidFill>
                <a:latin typeface="Calibri" pitchFamily="34" charset="0"/>
                <a:ea typeface="Calibri" pitchFamily="34" charset="-122"/>
                <a:cs typeface="Calibri" pitchFamily="34" charset="-120"/>
              </a:rPr>
              <a:t>IO-aware attention throughput (FlashAttention)</a:t>
            </a:r>
            <a:endParaRPr lang="en-US" sz="1250" dirty="0"/>
          </a:p>
        </p:txBody>
      </p:sp>
      <p:sp>
        <p:nvSpPr>
          <p:cNvPr id="7" name="Shape 5"/>
          <p:cNvSpPr/>
          <p:nvPr/>
        </p:nvSpPr>
        <p:spPr>
          <a:xfrm>
            <a:off x="3367278" y="2011680"/>
            <a:ext cx="2544318" cy="2651760"/>
          </a:xfrm>
          <a:prstGeom prst="roundRect">
            <a:avLst>
              <a:gd name="adj" fmla="val 2875"/>
            </a:avLst>
          </a:prstGeom>
          <a:solidFill>
            <a:srgbClr val="F4F7F8"/>
          </a:solidFill>
          <a:ln w="12700">
            <a:solidFill>
              <a:srgbClr val="E7ECEF"/>
            </a:solidFill>
            <a:prstDash val="solid"/>
          </a:ln>
        </p:spPr>
      </p:sp>
      <p:sp>
        <p:nvSpPr>
          <p:cNvPr id="8" name="Text 6"/>
          <p:cNvSpPr/>
          <p:nvPr/>
        </p:nvSpPr>
        <p:spPr>
          <a:xfrm>
            <a:off x="3367278" y="2331720"/>
            <a:ext cx="2544318" cy="1097280"/>
          </a:xfrm>
          <a:prstGeom prst="rect">
            <a:avLst/>
          </a:prstGeom>
          <a:noFill/>
          <a:ln/>
        </p:spPr>
        <p:txBody>
          <a:bodyPr wrap="square" rtlCol="0" anchor="ctr"/>
          <a:lstStyle/>
          <a:p>
            <a:pPr algn="ctr" indent="0" marL="0">
              <a:buNone/>
            </a:pPr>
            <a:r>
              <a:rPr lang="en-US" sz="3800" b="1" dirty="0">
                <a:solidFill>
                  <a:srgbClr val="2E6E9E"/>
                </a:solidFill>
                <a:latin typeface="Cambria" pitchFamily="34" charset="0"/>
                <a:ea typeface="Cambria" pitchFamily="34" charset="-122"/>
                <a:cs typeface="Cambria" pitchFamily="34" charset="-120"/>
              </a:rPr>
              <a:t>2–4×</a:t>
            </a:r>
            <a:endParaRPr lang="en-US" sz="3800" dirty="0"/>
          </a:p>
        </p:txBody>
      </p:sp>
      <p:sp>
        <p:nvSpPr>
          <p:cNvPr id="9" name="Text 7"/>
          <p:cNvSpPr/>
          <p:nvPr/>
        </p:nvSpPr>
        <p:spPr>
          <a:xfrm>
            <a:off x="3504438" y="3566160"/>
            <a:ext cx="2269998" cy="914400"/>
          </a:xfrm>
          <a:prstGeom prst="rect">
            <a:avLst/>
          </a:prstGeom>
          <a:noFill/>
          <a:ln/>
        </p:spPr>
        <p:txBody>
          <a:bodyPr wrap="square" rtlCol="0" anchor="t"/>
          <a:lstStyle/>
          <a:p>
            <a:pPr algn="ctr" indent="0" marL="0">
              <a:buNone/>
            </a:pPr>
            <a:r>
              <a:rPr lang="en-US" sz="1250" dirty="0">
                <a:solidFill>
                  <a:srgbClr val="263947"/>
                </a:solidFill>
                <a:latin typeface="Calibri" pitchFamily="34" charset="0"/>
                <a:ea typeface="Calibri" pitchFamily="34" charset="-122"/>
                <a:cs typeface="Calibri" pitchFamily="34" charset="-120"/>
              </a:rPr>
              <a:t>KV paging / continuous batching (vLLM)</a:t>
            </a:r>
            <a:endParaRPr lang="en-US" sz="1250" dirty="0"/>
          </a:p>
        </p:txBody>
      </p:sp>
      <p:sp>
        <p:nvSpPr>
          <p:cNvPr id="10" name="Shape 8"/>
          <p:cNvSpPr/>
          <p:nvPr/>
        </p:nvSpPr>
        <p:spPr>
          <a:xfrm>
            <a:off x="6277356" y="2011680"/>
            <a:ext cx="2544318" cy="2651760"/>
          </a:xfrm>
          <a:prstGeom prst="roundRect">
            <a:avLst>
              <a:gd name="adj" fmla="val 2875"/>
            </a:avLst>
          </a:prstGeom>
          <a:solidFill>
            <a:srgbClr val="F4F7F8"/>
          </a:solidFill>
          <a:ln w="12700">
            <a:solidFill>
              <a:srgbClr val="E7ECEF"/>
            </a:solidFill>
            <a:prstDash val="solid"/>
          </a:ln>
        </p:spPr>
      </p:sp>
      <p:sp>
        <p:nvSpPr>
          <p:cNvPr id="11" name="Text 9"/>
          <p:cNvSpPr/>
          <p:nvPr/>
        </p:nvSpPr>
        <p:spPr>
          <a:xfrm>
            <a:off x="6277356" y="2331720"/>
            <a:ext cx="2544318" cy="1097280"/>
          </a:xfrm>
          <a:prstGeom prst="rect">
            <a:avLst/>
          </a:prstGeom>
          <a:noFill/>
          <a:ln/>
        </p:spPr>
        <p:txBody>
          <a:bodyPr wrap="square" rtlCol="0" anchor="ctr"/>
          <a:lstStyle/>
          <a:p>
            <a:pPr algn="ctr" indent="0" marL="0">
              <a:buNone/>
            </a:pPr>
            <a:r>
              <a:rPr lang="en-US" sz="3800" b="1" dirty="0">
                <a:solidFill>
                  <a:srgbClr val="E08A2B"/>
                </a:solidFill>
                <a:latin typeface="Cambria" pitchFamily="34" charset="0"/>
                <a:ea typeface="Cambria" pitchFamily="34" charset="-122"/>
                <a:cs typeface="Cambria" pitchFamily="34" charset="-120"/>
              </a:rPr>
              <a:t>~34%</a:t>
            </a:r>
            <a:endParaRPr lang="en-US" sz="3800" dirty="0"/>
          </a:p>
        </p:txBody>
      </p:sp>
      <p:sp>
        <p:nvSpPr>
          <p:cNvPr id="12" name="Text 10"/>
          <p:cNvSpPr/>
          <p:nvPr/>
        </p:nvSpPr>
        <p:spPr>
          <a:xfrm>
            <a:off x="6414516" y="3566160"/>
            <a:ext cx="2269998" cy="914400"/>
          </a:xfrm>
          <a:prstGeom prst="rect">
            <a:avLst/>
          </a:prstGeom>
          <a:noFill/>
          <a:ln/>
        </p:spPr>
        <p:txBody>
          <a:bodyPr wrap="square" rtlCol="0" anchor="t"/>
          <a:lstStyle/>
          <a:p>
            <a:pPr algn="ctr" indent="0" marL="0">
              <a:buNone/>
            </a:pPr>
            <a:r>
              <a:rPr lang="en-US" sz="1250" dirty="0">
                <a:solidFill>
                  <a:srgbClr val="263947"/>
                </a:solidFill>
                <a:latin typeface="Calibri" pitchFamily="34" charset="0"/>
                <a:ea typeface="Calibri" pitchFamily="34" charset="-122"/>
                <a:cs typeface="Calibri" pitchFamily="34" charset="-120"/>
              </a:rPr>
              <a:t>of a training step in MoE all-to-all</a:t>
            </a:r>
            <a:endParaRPr lang="en-US" sz="1250" dirty="0"/>
          </a:p>
        </p:txBody>
      </p:sp>
      <p:sp>
        <p:nvSpPr>
          <p:cNvPr id="13" name="Shape 11"/>
          <p:cNvSpPr/>
          <p:nvPr/>
        </p:nvSpPr>
        <p:spPr>
          <a:xfrm>
            <a:off x="9187434" y="2011680"/>
            <a:ext cx="2544318" cy="2651760"/>
          </a:xfrm>
          <a:prstGeom prst="roundRect">
            <a:avLst>
              <a:gd name="adj" fmla="val 2875"/>
            </a:avLst>
          </a:prstGeom>
          <a:solidFill>
            <a:srgbClr val="F4F7F8"/>
          </a:solidFill>
          <a:ln w="12700">
            <a:solidFill>
              <a:srgbClr val="E7ECEF"/>
            </a:solidFill>
            <a:prstDash val="solid"/>
          </a:ln>
        </p:spPr>
      </p:sp>
      <p:sp>
        <p:nvSpPr>
          <p:cNvPr id="14" name="Text 12"/>
          <p:cNvSpPr/>
          <p:nvPr/>
        </p:nvSpPr>
        <p:spPr>
          <a:xfrm>
            <a:off x="9187434" y="2331720"/>
            <a:ext cx="2544318" cy="1097280"/>
          </a:xfrm>
          <a:prstGeom prst="rect">
            <a:avLst/>
          </a:prstGeom>
          <a:noFill/>
          <a:ln/>
        </p:spPr>
        <p:txBody>
          <a:bodyPr wrap="square" rtlCol="0" anchor="ctr"/>
          <a:lstStyle/>
          <a:p>
            <a:pPr algn="ctr" indent="0" marL="0">
              <a:buNone/>
            </a:pPr>
            <a:r>
              <a:rPr lang="en-US" sz="3800" b="1" dirty="0">
                <a:solidFill>
                  <a:srgbClr val="3F9E6A"/>
                </a:solidFill>
                <a:latin typeface="Cambria" pitchFamily="34" charset="0"/>
                <a:ea typeface="Cambria" pitchFamily="34" charset="-122"/>
                <a:cs typeface="Cambria" pitchFamily="34" charset="-120"/>
              </a:rPr>
              <a:t>&lt;300 µW</a:t>
            </a:r>
            <a:endParaRPr lang="en-US" sz="3800" dirty="0"/>
          </a:p>
        </p:txBody>
      </p:sp>
      <p:sp>
        <p:nvSpPr>
          <p:cNvPr id="15" name="Text 13"/>
          <p:cNvSpPr/>
          <p:nvPr/>
        </p:nvSpPr>
        <p:spPr>
          <a:xfrm>
            <a:off x="9324594" y="3566160"/>
            <a:ext cx="2269998" cy="914400"/>
          </a:xfrm>
          <a:prstGeom prst="rect">
            <a:avLst/>
          </a:prstGeom>
          <a:noFill/>
          <a:ln/>
        </p:spPr>
        <p:txBody>
          <a:bodyPr wrap="square" rtlCol="0" anchor="t"/>
          <a:lstStyle/>
          <a:p>
            <a:pPr algn="ctr" indent="0" marL="0">
              <a:buNone/>
            </a:pPr>
            <a:r>
              <a:rPr lang="en-US" sz="1250" dirty="0">
                <a:solidFill>
                  <a:srgbClr val="263947"/>
                </a:solidFill>
                <a:latin typeface="Calibri" pitchFamily="34" charset="0"/>
                <a:ea typeface="Calibri" pitchFamily="34" charset="-122"/>
                <a:cs typeface="Calibri" pitchFamily="34" charset="-120"/>
              </a:rPr>
              <a:t>always-on keyword spotting budget</a:t>
            </a:r>
            <a:endParaRPr lang="en-US" sz="1250" dirty="0"/>
          </a:p>
        </p:txBody>
      </p:sp>
      <p:sp>
        <p:nvSpPr>
          <p:cNvPr id="16" name="Shape 14"/>
          <p:cNvSpPr/>
          <p:nvPr/>
        </p:nvSpPr>
        <p:spPr>
          <a:xfrm>
            <a:off x="457200" y="5715000"/>
            <a:ext cx="11274552" cy="566928"/>
          </a:xfrm>
          <a:prstGeom prst="roundRect">
            <a:avLst>
              <a:gd name="adj" fmla="val 9677"/>
            </a:avLst>
          </a:prstGeom>
          <a:solidFill>
            <a:srgbClr val="16232E"/>
          </a:solidFill>
          <a:ln/>
        </p:spPr>
      </p:sp>
      <p:sp>
        <p:nvSpPr>
          <p:cNvPr id="17" name="Text 15"/>
          <p:cNvSpPr/>
          <p:nvPr/>
        </p:nvSpPr>
        <p:spPr>
          <a:xfrm>
            <a:off x="731520" y="5715000"/>
            <a:ext cx="10789920" cy="566928"/>
          </a:xfrm>
          <a:prstGeom prst="rect">
            <a:avLst/>
          </a:prstGeom>
          <a:noFill/>
          <a:ln/>
        </p:spPr>
        <p:txBody>
          <a:bodyPr wrap="square" rtlCol="0" anchor="ctr"/>
          <a:lstStyle/>
          <a:p>
            <a:pPr indent="0" marL="0">
              <a:buNone/>
            </a:pPr>
            <a:r>
              <a:rPr lang="en-US" sz="1400" b="1" dirty="0">
                <a:solidFill>
                  <a:srgbClr val="E08A2B"/>
                </a:solidFill>
                <a:latin typeface="Calibri" pitchFamily="34" charset="0"/>
                <a:ea typeface="Calibri" pitchFamily="34" charset="-122"/>
                <a:cs typeface="Calibri" pitchFamily="34" charset="-120"/>
              </a:rPr>
              <a:t>⇒  </a:t>
            </a:r>
            <a:pPr indent="0" marL="0">
              <a:buNone/>
            </a:pPr>
            <a:r>
              <a:rPr lang="en-US" sz="1400" b="1" dirty="0">
                <a:solidFill>
                  <a:srgbClr val="FFFFFF"/>
                </a:solidFill>
                <a:latin typeface="Calibri" pitchFamily="34" charset="0"/>
                <a:ea typeface="Calibri" pitchFamily="34" charset="-122"/>
                <a:cs typeface="Calibri" pitchFamily="34" charset="-120"/>
              </a:rPr>
              <a:t>Each gain is real and each exposes a residual bound software cannot move — that residue is the case for hardware.</a:t>
            </a:r>
            <a:endParaRPr lang="en-US" sz="1400" dirty="0"/>
          </a:p>
        </p:txBody>
      </p:sp>
      <p:sp>
        <p:nvSpPr>
          <p:cNvPr id="18" name="Text 16"/>
          <p:cNvSpPr/>
          <p:nvPr/>
        </p:nvSpPr>
        <p:spPr>
          <a:xfrm>
            <a:off x="457200" y="6473952"/>
            <a:ext cx="7315200" cy="274320"/>
          </a:xfrm>
          <a:prstGeom prst="rect">
            <a:avLst/>
          </a:prstGeom>
          <a:noFill/>
          <a:ln/>
        </p:spPr>
        <p:txBody>
          <a:bodyPr wrap="square" rtlCol="0" anchor="ctr"/>
          <a:lstStyle/>
          <a:p>
            <a:pPr indent="0" marL="0">
              <a:buNone/>
            </a:pPr>
            <a:r>
              <a:rPr lang="en-US" sz="900" dirty="0">
                <a:solidFill>
                  <a:srgbClr val="7C8B96"/>
                </a:solidFill>
                <a:latin typeface="Calibri" pitchFamily="34" charset="0"/>
                <a:ea typeface="Calibri" pitchFamily="34" charset="-122"/>
                <a:cs typeface="Calibri" pitchFamily="34" charset="-120"/>
              </a:rPr>
              <a:t>Beyond the GPU — 2-hour lecture</a:t>
            </a:r>
            <a:endParaRPr lang="en-US" sz="900" dirty="0"/>
          </a:p>
        </p:txBody>
      </p:sp>
      <p:sp>
        <p:nvSpPr>
          <p:cNvPr id="19" name="Text 17"/>
          <p:cNvSpPr/>
          <p:nvPr/>
        </p:nvSpPr>
        <p:spPr>
          <a:xfrm>
            <a:off x="11277295" y="6473952"/>
            <a:ext cx="457200" cy="274320"/>
          </a:xfrm>
          <a:prstGeom prst="rect">
            <a:avLst/>
          </a:prstGeom>
          <a:noFill/>
          <a:ln/>
        </p:spPr>
        <p:txBody>
          <a:bodyPr wrap="square" rtlCol="0" anchor="ctr"/>
          <a:lstStyle/>
          <a:p>
            <a:pPr algn="r" indent="0" marL="0">
              <a:buNone/>
            </a:pPr>
            <a:r>
              <a:rPr lang="en-US" sz="900" dirty="0">
                <a:solidFill>
                  <a:srgbClr val="7C8B96"/>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6232E"/>
        </a:solidFill>
      </p:bgPr>
    </p:bg>
    <p:spTree>
      <p:nvGrpSpPr>
        <p:cNvPr id="1" name=""/>
        <p:cNvGrpSpPr/>
        <p:nvPr/>
      </p:nvGrpSpPr>
      <p:grpSpPr>
        <a:xfrm>
          <a:off x="0" y="0"/>
          <a:ext cx="0" cy="0"/>
          <a:chOff x="0" y="0"/>
          <a:chExt cx="0" cy="0"/>
        </a:xfrm>
      </p:grpSpPr>
      <p:sp>
        <p:nvSpPr>
          <p:cNvPr id="2" name="Text 0"/>
          <p:cNvSpPr/>
          <p:nvPr/>
        </p:nvSpPr>
        <p:spPr>
          <a:xfrm>
            <a:off x="731520" y="2103120"/>
            <a:ext cx="2011680" cy="1645920"/>
          </a:xfrm>
          <a:prstGeom prst="rect">
            <a:avLst/>
          </a:prstGeom>
          <a:noFill/>
          <a:ln/>
        </p:spPr>
        <p:txBody>
          <a:bodyPr wrap="square" rtlCol="0" anchor="ctr"/>
          <a:lstStyle/>
          <a:p>
            <a:pPr indent="0" marL="0">
              <a:buNone/>
            </a:pPr>
            <a:r>
              <a:rPr lang="en-US" sz="8000" b="1" dirty="0">
                <a:solidFill>
                  <a:srgbClr val="E08A2B"/>
                </a:solidFill>
                <a:latin typeface="Cambria" pitchFamily="34" charset="0"/>
                <a:ea typeface="Cambria" pitchFamily="34" charset="-122"/>
                <a:cs typeface="Cambria" pitchFamily="34" charset="-120"/>
              </a:rPr>
              <a:t>03</a:t>
            </a:r>
            <a:endParaRPr lang="en-US" sz="8000" dirty="0"/>
          </a:p>
        </p:txBody>
      </p:sp>
      <p:sp>
        <p:nvSpPr>
          <p:cNvPr id="3" name="Text 1"/>
          <p:cNvSpPr/>
          <p:nvPr/>
        </p:nvSpPr>
        <p:spPr>
          <a:xfrm>
            <a:off x="2834640" y="2514600"/>
            <a:ext cx="8595360" cy="1280160"/>
          </a:xfrm>
          <a:prstGeom prst="rect">
            <a:avLst/>
          </a:prstGeom>
          <a:noFill/>
          <a:ln/>
        </p:spPr>
        <p:txBody>
          <a:bodyPr wrap="square"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The decision framework</a:t>
            </a:r>
            <a:endParaRPr lang="en-US" sz="3800" dirty="0"/>
          </a:p>
        </p:txBody>
      </p:sp>
      <p:sp>
        <p:nvSpPr>
          <p:cNvPr id="4" name="Text 2"/>
          <p:cNvSpPr/>
          <p:nvPr/>
        </p:nvSpPr>
        <p:spPr>
          <a:xfrm>
            <a:off x="2880360" y="3703320"/>
            <a:ext cx="8412480" cy="822960"/>
          </a:xfrm>
          <a:prstGeom prst="rect">
            <a:avLst/>
          </a:prstGeom>
          <a:noFill/>
          <a:ln/>
        </p:spPr>
        <p:txBody>
          <a:bodyPr wrap="square" rtlCol="0" anchor="ctr"/>
          <a:lstStyle/>
          <a:p>
            <a:pPr indent="0" marL="0">
              <a:buNone/>
            </a:pPr>
            <a:r>
              <a:rPr lang="en-US" sz="1600" dirty="0">
                <a:solidFill>
                  <a:srgbClr val="E7ECEF"/>
                </a:solidFill>
                <a:latin typeface="Calibri" pitchFamily="34" charset="0"/>
                <a:ea typeface="Calibri" pitchFamily="34" charset="-122"/>
                <a:cs typeface="Calibri" pitchFamily="34" charset="-120"/>
              </a:rPr>
              <a:t>Contracts, and a test for when to specialize</a:t>
            </a:r>
            <a:endParaRPr lang="en-US" sz="1600" dirty="0"/>
          </a:p>
        </p:txBody>
      </p:sp>
      <p:sp>
        <p:nvSpPr>
          <p:cNvPr id="5" name="Text 3"/>
          <p:cNvSpPr/>
          <p:nvPr/>
        </p:nvSpPr>
        <p:spPr>
          <a:xfrm>
            <a:off x="457200" y="6473952"/>
            <a:ext cx="7315200" cy="274320"/>
          </a:xfrm>
          <a:prstGeom prst="rect">
            <a:avLst/>
          </a:prstGeom>
          <a:noFill/>
          <a:ln/>
        </p:spPr>
        <p:txBody>
          <a:bodyPr wrap="square" rtlCol="0" anchor="ctr"/>
          <a:lstStyle/>
          <a:p>
            <a:pPr indent="0" marL="0">
              <a:buNone/>
            </a:pPr>
            <a:r>
              <a:rPr lang="en-US" sz="900" dirty="0">
                <a:solidFill>
                  <a:srgbClr val="7C8B96"/>
                </a:solidFill>
                <a:latin typeface="Calibri" pitchFamily="34" charset="0"/>
                <a:ea typeface="Calibri" pitchFamily="34" charset="-122"/>
                <a:cs typeface="Calibri" pitchFamily="34" charset="-120"/>
              </a:rPr>
              <a:t>Beyond the GPU — 2-hour lecture</a:t>
            </a:r>
            <a:endParaRPr lang="en-US" sz="900" dirty="0"/>
          </a:p>
        </p:txBody>
      </p:sp>
      <p:sp>
        <p:nvSpPr>
          <p:cNvPr id="6" name="Text 4"/>
          <p:cNvSpPr/>
          <p:nvPr/>
        </p:nvSpPr>
        <p:spPr>
          <a:xfrm>
            <a:off x="11277295" y="6473952"/>
            <a:ext cx="457200" cy="274320"/>
          </a:xfrm>
          <a:prstGeom prst="rect">
            <a:avLst/>
          </a:prstGeom>
          <a:noFill/>
          <a:ln/>
        </p:spPr>
        <p:txBody>
          <a:bodyPr wrap="square" rtlCol="0" anchor="ctr"/>
          <a:lstStyle/>
          <a:p>
            <a:pPr algn="r" indent="0" marL="0">
              <a:buNone/>
            </a:pPr>
            <a:r>
              <a:rPr lang="en-US" sz="900" dirty="0">
                <a:solidFill>
                  <a:srgbClr val="7C8B96"/>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10896"/>
            <a:ext cx="10058400" cy="274320"/>
          </a:xfrm>
          <a:prstGeom prst="rect">
            <a:avLst/>
          </a:prstGeom>
          <a:noFill/>
          <a:ln/>
        </p:spPr>
        <p:txBody>
          <a:bodyPr wrap="square" rtlCol="0" anchor="ctr"/>
          <a:lstStyle/>
          <a:p>
            <a:pPr indent="0" marL="0">
              <a:buNone/>
            </a:pPr>
            <a:r>
              <a:rPr lang="en-US" sz="1200" b="1" spc="200" kern="0" dirty="0">
                <a:solidFill>
                  <a:srgbClr val="0E8C9B"/>
                </a:solidFill>
                <a:latin typeface="Calibri" pitchFamily="34" charset="0"/>
                <a:ea typeface="Calibri" pitchFamily="34" charset="-122"/>
                <a:cs typeface="Calibri" pitchFamily="34" charset="-120"/>
              </a:rPr>
              <a:t>THE FRAMEWORK</a:t>
            </a:r>
            <a:endParaRPr lang="en-US" sz="1200" dirty="0"/>
          </a:p>
        </p:txBody>
      </p:sp>
      <p:sp>
        <p:nvSpPr>
          <p:cNvPr id="3" name="Text 1"/>
          <p:cNvSpPr/>
          <p:nvPr/>
        </p:nvSpPr>
        <p:spPr>
          <a:xfrm>
            <a:off x="457200" y="548640"/>
            <a:ext cx="11247120" cy="822960"/>
          </a:xfrm>
          <a:prstGeom prst="rect">
            <a:avLst/>
          </a:prstGeom>
          <a:noFill/>
          <a:ln/>
        </p:spPr>
        <p:txBody>
          <a:bodyPr wrap="square" rtlCol="0" anchor="ctr"/>
          <a:lstStyle/>
          <a:p>
            <a:pPr indent="0" marL="0">
              <a:buNone/>
            </a:pPr>
            <a:r>
              <a:rPr lang="en-US" sz="3000" b="1" dirty="0">
                <a:solidFill>
                  <a:srgbClr val="263947"/>
                </a:solidFill>
                <a:latin typeface="Cambria" pitchFamily="34" charset="0"/>
                <a:ea typeface="Cambria" pitchFamily="34" charset="-122"/>
                <a:cs typeface="Cambria" pitchFamily="34" charset="-120"/>
              </a:rPr>
              <a:t>Hardware defines six contracts</a:t>
            </a:r>
            <a:endParaRPr lang="en-US" sz="3000" dirty="0"/>
          </a:p>
        </p:txBody>
      </p:sp>
      <p:pic>
        <p:nvPicPr>
          <p:cNvPr id="4" name="Image 0" descr="/sessions/compassionate-blissful-planck/mnt/outputs/deck_assets/six_contracts.png">    </p:cNvPr>
          <p:cNvPicPr>
            <a:picLocks noChangeAspect="1"/>
          </p:cNvPicPr>
          <p:nvPr/>
        </p:nvPicPr>
        <p:blipFill>
          <a:blip r:embed="rId1"/>
          <a:srcRect l="-78049" r="-78049" t="0" b="0"/>
          <a:stretch/>
        </p:blipFill>
        <p:spPr>
          <a:xfrm>
            <a:off x="1280160" y="1554480"/>
            <a:ext cx="9601200" cy="3749040"/>
          </a:xfrm>
          <a:prstGeom prst="rect">
            <a:avLst/>
          </a:prstGeom>
        </p:spPr>
      </p:pic>
      <p:sp>
        <p:nvSpPr>
          <p:cNvPr id="5" name="Shape 2"/>
          <p:cNvSpPr/>
          <p:nvPr/>
        </p:nvSpPr>
        <p:spPr>
          <a:xfrm>
            <a:off x="457200" y="5715000"/>
            <a:ext cx="11274552" cy="566928"/>
          </a:xfrm>
          <a:prstGeom prst="roundRect">
            <a:avLst>
              <a:gd name="adj" fmla="val 9677"/>
            </a:avLst>
          </a:prstGeom>
          <a:solidFill>
            <a:srgbClr val="F4F7F8"/>
          </a:solidFill>
          <a:ln w="12700">
            <a:solidFill>
              <a:srgbClr val="E7ECEF"/>
            </a:solidFill>
            <a:prstDash val="solid"/>
          </a:ln>
        </p:spPr>
      </p:sp>
      <p:sp>
        <p:nvSpPr>
          <p:cNvPr id="6" name="Text 3"/>
          <p:cNvSpPr/>
          <p:nvPr/>
        </p:nvSpPr>
        <p:spPr>
          <a:xfrm>
            <a:off x="731520" y="5715000"/>
            <a:ext cx="10789920" cy="566928"/>
          </a:xfrm>
          <a:prstGeom prst="rect">
            <a:avLst/>
          </a:prstGeom>
          <a:noFill/>
          <a:ln/>
        </p:spPr>
        <p:txBody>
          <a:bodyPr wrap="square" rtlCol="0" anchor="ctr"/>
          <a:lstStyle/>
          <a:p>
            <a:pPr indent="0" marL="0">
              <a:buNone/>
            </a:pPr>
            <a:r>
              <a:rPr lang="en-US" sz="1400" b="1" dirty="0">
                <a:solidFill>
                  <a:srgbClr val="E08A2B"/>
                </a:solidFill>
                <a:latin typeface="Calibri" pitchFamily="34" charset="0"/>
                <a:ea typeface="Calibri" pitchFamily="34" charset="-122"/>
                <a:cs typeface="Calibri" pitchFamily="34" charset="-120"/>
              </a:rPr>
              <a:t>⇒  </a:t>
            </a:r>
            <a:pPr indent="0" marL="0">
              <a:buNone/>
            </a:pPr>
            <a:r>
              <a:rPr lang="en-US" sz="1400" b="1" dirty="0">
                <a:solidFill>
                  <a:srgbClr val="263947"/>
                </a:solidFill>
                <a:latin typeface="Calibri" pitchFamily="34" charset="0"/>
                <a:ea typeface="Calibri" pitchFamily="34" charset="-122"/>
                <a:cs typeface="Calibri" pitchFamily="34" charset="-120"/>
              </a:rPr>
              <a:t>A signature stresses some contracts, not others — that mismatch is where a new architecture earns its place.</a:t>
            </a:r>
            <a:endParaRPr lang="en-US" sz="1400" dirty="0"/>
          </a:p>
        </p:txBody>
      </p:sp>
      <p:sp>
        <p:nvSpPr>
          <p:cNvPr id="7" name="Text 4"/>
          <p:cNvSpPr/>
          <p:nvPr/>
        </p:nvSpPr>
        <p:spPr>
          <a:xfrm>
            <a:off x="457200" y="6473952"/>
            <a:ext cx="7315200" cy="274320"/>
          </a:xfrm>
          <a:prstGeom prst="rect">
            <a:avLst/>
          </a:prstGeom>
          <a:noFill/>
          <a:ln/>
        </p:spPr>
        <p:txBody>
          <a:bodyPr wrap="square" rtlCol="0" anchor="ctr"/>
          <a:lstStyle/>
          <a:p>
            <a:pPr indent="0" marL="0">
              <a:buNone/>
            </a:pPr>
            <a:r>
              <a:rPr lang="en-US" sz="900" dirty="0">
                <a:solidFill>
                  <a:srgbClr val="7C8B96"/>
                </a:solidFill>
                <a:latin typeface="Calibri" pitchFamily="34" charset="0"/>
                <a:ea typeface="Calibri" pitchFamily="34" charset="-122"/>
                <a:cs typeface="Calibri" pitchFamily="34" charset="-120"/>
              </a:rPr>
              <a:t>Beyond the GPU — 2-hour lecture</a:t>
            </a:r>
            <a:endParaRPr lang="en-US" sz="900" dirty="0"/>
          </a:p>
        </p:txBody>
      </p:sp>
      <p:sp>
        <p:nvSpPr>
          <p:cNvPr id="8" name="Text 5"/>
          <p:cNvSpPr/>
          <p:nvPr/>
        </p:nvSpPr>
        <p:spPr>
          <a:xfrm>
            <a:off x="11277295" y="6473952"/>
            <a:ext cx="457200" cy="274320"/>
          </a:xfrm>
          <a:prstGeom prst="rect">
            <a:avLst/>
          </a:prstGeom>
          <a:noFill/>
          <a:ln/>
        </p:spPr>
        <p:txBody>
          <a:bodyPr wrap="square" rtlCol="0" anchor="ctr"/>
          <a:lstStyle/>
          <a:p>
            <a:pPr algn="r" indent="0" marL="0">
              <a:buNone/>
            </a:pPr>
            <a:r>
              <a:rPr lang="en-US" sz="900" dirty="0">
                <a:solidFill>
                  <a:srgbClr val="7C8B96"/>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10896"/>
            <a:ext cx="10058400" cy="274320"/>
          </a:xfrm>
          <a:prstGeom prst="rect">
            <a:avLst/>
          </a:prstGeom>
          <a:noFill/>
          <a:ln/>
        </p:spPr>
        <p:txBody>
          <a:bodyPr wrap="square" rtlCol="0" anchor="ctr"/>
          <a:lstStyle/>
          <a:p>
            <a:pPr indent="0" marL="0">
              <a:buNone/>
            </a:pPr>
            <a:r>
              <a:rPr lang="en-US" sz="1200" b="1" spc="200" kern="0" dirty="0">
                <a:solidFill>
                  <a:srgbClr val="0E8C9B"/>
                </a:solidFill>
                <a:latin typeface="Calibri" pitchFamily="34" charset="0"/>
                <a:ea typeface="Calibri" pitchFamily="34" charset="-122"/>
                <a:cs typeface="Calibri" pitchFamily="34" charset="-120"/>
              </a:rPr>
              <a:t>THE NECESSITY TEST</a:t>
            </a:r>
            <a:endParaRPr lang="en-US" sz="1200" dirty="0"/>
          </a:p>
        </p:txBody>
      </p:sp>
      <p:sp>
        <p:nvSpPr>
          <p:cNvPr id="3" name="Text 1"/>
          <p:cNvSpPr/>
          <p:nvPr/>
        </p:nvSpPr>
        <p:spPr>
          <a:xfrm>
            <a:off x="457200" y="548640"/>
            <a:ext cx="11247120" cy="822960"/>
          </a:xfrm>
          <a:prstGeom prst="rect">
            <a:avLst/>
          </a:prstGeom>
          <a:noFill/>
          <a:ln/>
        </p:spPr>
        <p:txBody>
          <a:bodyPr wrap="square" rtlCol="0" anchor="ctr"/>
          <a:lstStyle/>
          <a:p>
            <a:pPr indent="0" marL="0">
              <a:buNone/>
            </a:pPr>
            <a:r>
              <a:rPr lang="en-US" sz="3000" b="1" dirty="0">
                <a:solidFill>
                  <a:srgbClr val="263947"/>
                </a:solidFill>
                <a:latin typeface="Cambria" pitchFamily="34" charset="0"/>
                <a:ea typeface="Cambria" pitchFamily="34" charset="-122"/>
                <a:cs typeface="Cambria" pitchFamily="34" charset="-120"/>
              </a:rPr>
              <a:t>Four conditions — all must hold</a:t>
            </a:r>
            <a:endParaRPr lang="en-US" sz="3000" dirty="0"/>
          </a:p>
        </p:txBody>
      </p:sp>
      <p:sp>
        <p:nvSpPr>
          <p:cNvPr id="4" name="Shape 2"/>
          <p:cNvSpPr/>
          <p:nvPr/>
        </p:nvSpPr>
        <p:spPr>
          <a:xfrm>
            <a:off x="457200" y="1600200"/>
            <a:ext cx="2578608" cy="4343400"/>
          </a:xfrm>
          <a:prstGeom prst="roundRect">
            <a:avLst>
              <a:gd name="adj" fmla="val 2482"/>
            </a:avLst>
          </a:prstGeom>
          <a:solidFill>
            <a:srgbClr val="F4F7F8"/>
          </a:solidFill>
          <a:ln w="12700">
            <a:solidFill>
              <a:srgbClr val="E7ECEF"/>
            </a:solidFill>
            <a:prstDash val="solid"/>
          </a:ln>
        </p:spPr>
      </p:sp>
      <p:sp>
        <p:nvSpPr>
          <p:cNvPr id="5" name="Shape 3"/>
          <p:cNvSpPr/>
          <p:nvPr/>
        </p:nvSpPr>
        <p:spPr>
          <a:xfrm>
            <a:off x="658368" y="1801368"/>
            <a:ext cx="457200" cy="457200"/>
          </a:xfrm>
          <a:prstGeom prst="roundRect">
            <a:avLst>
              <a:gd name="adj" fmla="val 12000"/>
            </a:avLst>
          </a:prstGeom>
          <a:solidFill>
            <a:srgbClr val="0E8C9B"/>
          </a:solidFill>
          <a:ln/>
        </p:spPr>
      </p:sp>
      <p:sp>
        <p:nvSpPr>
          <p:cNvPr id="6" name="Text 4"/>
          <p:cNvSpPr/>
          <p:nvPr/>
        </p:nvSpPr>
        <p:spPr>
          <a:xfrm>
            <a:off x="658368" y="1801368"/>
            <a:ext cx="457200" cy="457200"/>
          </a:xfrm>
          <a:prstGeom prst="rect">
            <a:avLst/>
          </a:prstGeom>
          <a:noFill/>
          <a:ln/>
        </p:spPr>
        <p:txBody>
          <a:bodyPr wrap="square"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7" name="Text 5"/>
          <p:cNvSpPr/>
          <p:nvPr/>
        </p:nvSpPr>
        <p:spPr>
          <a:xfrm>
            <a:off x="1234440" y="1783080"/>
            <a:ext cx="1618488" cy="502920"/>
          </a:xfrm>
          <a:prstGeom prst="rect">
            <a:avLst/>
          </a:prstGeom>
          <a:noFill/>
          <a:ln/>
        </p:spPr>
        <p:txBody>
          <a:bodyPr wrap="square" rtlCol="0" anchor="ctr"/>
          <a:lstStyle/>
          <a:p>
            <a:pPr indent="0" marL="0">
              <a:buNone/>
            </a:pPr>
            <a:r>
              <a:rPr lang="en-US" sz="1450" b="1" dirty="0">
                <a:solidFill>
                  <a:srgbClr val="263947"/>
                </a:solidFill>
                <a:latin typeface="Calibri" pitchFamily="34" charset="0"/>
                <a:ea typeface="Calibri" pitchFamily="34" charset="-122"/>
                <a:cs typeface="Calibri" pitchFamily="34" charset="-120"/>
              </a:rPr>
              <a:t>Residual bound</a:t>
            </a:r>
            <a:endParaRPr lang="en-US" sz="1450" dirty="0"/>
          </a:p>
        </p:txBody>
      </p:sp>
      <p:sp>
        <p:nvSpPr>
          <p:cNvPr id="8" name="Text 6"/>
          <p:cNvSpPr/>
          <p:nvPr/>
        </p:nvSpPr>
        <p:spPr>
          <a:xfrm>
            <a:off x="676656" y="2377440"/>
            <a:ext cx="2139696" cy="3429000"/>
          </a:xfrm>
          <a:prstGeom prst="rect">
            <a:avLst/>
          </a:prstGeom>
          <a:noFill/>
          <a:ln/>
        </p:spPr>
        <p:txBody>
          <a:bodyPr wrap="square" rtlCol="0" anchor="t"/>
          <a:lstStyle/>
          <a:p>
            <a:pPr indent="0" marL="0">
              <a:buNone/>
            </a:pPr>
            <a:r>
              <a:rPr lang="en-US" sz="1200" dirty="0">
                <a:solidFill>
                  <a:srgbClr val="263947"/>
                </a:solidFill>
                <a:latin typeface="Calibri" pitchFamily="34" charset="0"/>
                <a:ea typeface="Calibri" pitchFamily="34" charset="-122"/>
                <a:cs typeface="Calibri" pitchFamily="34" charset="-120"/>
              </a:rPr>
              <a:t>A limit remains after software has done its best.</a:t>
            </a:r>
            <a:endParaRPr lang="en-US" sz="1200" dirty="0"/>
          </a:p>
        </p:txBody>
      </p:sp>
      <p:sp>
        <p:nvSpPr>
          <p:cNvPr id="9" name="Shape 7"/>
          <p:cNvSpPr/>
          <p:nvPr/>
        </p:nvSpPr>
        <p:spPr>
          <a:xfrm>
            <a:off x="3355848" y="1600200"/>
            <a:ext cx="2578608" cy="4343400"/>
          </a:xfrm>
          <a:prstGeom prst="roundRect">
            <a:avLst>
              <a:gd name="adj" fmla="val 2482"/>
            </a:avLst>
          </a:prstGeom>
          <a:solidFill>
            <a:srgbClr val="F4F7F8"/>
          </a:solidFill>
          <a:ln w="12700">
            <a:solidFill>
              <a:srgbClr val="E7ECEF"/>
            </a:solidFill>
            <a:prstDash val="solid"/>
          </a:ln>
        </p:spPr>
      </p:sp>
      <p:sp>
        <p:nvSpPr>
          <p:cNvPr id="10" name="Shape 8"/>
          <p:cNvSpPr/>
          <p:nvPr/>
        </p:nvSpPr>
        <p:spPr>
          <a:xfrm>
            <a:off x="3557016" y="1801368"/>
            <a:ext cx="457200" cy="457200"/>
          </a:xfrm>
          <a:prstGeom prst="roundRect">
            <a:avLst>
              <a:gd name="adj" fmla="val 12000"/>
            </a:avLst>
          </a:prstGeom>
          <a:solidFill>
            <a:srgbClr val="2E6E9E"/>
          </a:solidFill>
          <a:ln/>
        </p:spPr>
      </p:sp>
      <p:sp>
        <p:nvSpPr>
          <p:cNvPr id="11" name="Text 9"/>
          <p:cNvSpPr/>
          <p:nvPr/>
        </p:nvSpPr>
        <p:spPr>
          <a:xfrm>
            <a:off x="3557016" y="1801368"/>
            <a:ext cx="457200" cy="457200"/>
          </a:xfrm>
          <a:prstGeom prst="rect">
            <a:avLst/>
          </a:prstGeom>
          <a:noFill/>
          <a:ln/>
        </p:spPr>
        <p:txBody>
          <a:bodyPr wrap="square"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2" name="Text 10"/>
          <p:cNvSpPr/>
          <p:nvPr/>
        </p:nvSpPr>
        <p:spPr>
          <a:xfrm>
            <a:off x="4133088" y="1783080"/>
            <a:ext cx="1618488" cy="502920"/>
          </a:xfrm>
          <a:prstGeom prst="rect">
            <a:avLst/>
          </a:prstGeom>
          <a:noFill/>
          <a:ln/>
        </p:spPr>
        <p:txBody>
          <a:bodyPr wrap="square" rtlCol="0" anchor="ctr"/>
          <a:lstStyle/>
          <a:p>
            <a:pPr indent="0" marL="0">
              <a:buNone/>
            </a:pPr>
            <a:r>
              <a:rPr lang="en-US" sz="1450" b="1" dirty="0">
                <a:solidFill>
                  <a:srgbClr val="263947"/>
                </a:solidFill>
                <a:latin typeface="Calibri" pitchFamily="34" charset="0"/>
                <a:ea typeface="Calibri" pitchFamily="34" charset="-122"/>
                <a:cs typeface="Calibri" pitchFamily="34" charset="-120"/>
              </a:rPr>
              <a:t>Material consequence</a:t>
            </a:r>
            <a:endParaRPr lang="en-US" sz="1450" dirty="0"/>
          </a:p>
        </p:txBody>
      </p:sp>
      <p:sp>
        <p:nvSpPr>
          <p:cNvPr id="13" name="Text 11"/>
          <p:cNvSpPr/>
          <p:nvPr/>
        </p:nvSpPr>
        <p:spPr>
          <a:xfrm>
            <a:off x="3575304" y="2377440"/>
            <a:ext cx="2139696" cy="3429000"/>
          </a:xfrm>
          <a:prstGeom prst="rect">
            <a:avLst/>
          </a:prstGeom>
          <a:noFill/>
          <a:ln/>
        </p:spPr>
        <p:txBody>
          <a:bodyPr wrap="square" rtlCol="0" anchor="t"/>
          <a:lstStyle/>
          <a:p>
            <a:pPr indent="0" marL="0">
              <a:buNone/>
            </a:pPr>
            <a:r>
              <a:rPr lang="en-US" sz="1200" dirty="0">
                <a:solidFill>
                  <a:srgbClr val="263947"/>
                </a:solidFill>
                <a:latin typeface="Calibri" pitchFamily="34" charset="0"/>
                <a:ea typeface="Calibri" pitchFamily="34" charset="-122"/>
                <a:cs typeface="Calibri" pitchFamily="34" charset="-120"/>
              </a:rPr>
              <a:t>The bound actually hurts under the deployment's objective.</a:t>
            </a:r>
            <a:endParaRPr lang="en-US" sz="1200" dirty="0"/>
          </a:p>
        </p:txBody>
      </p:sp>
      <p:sp>
        <p:nvSpPr>
          <p:cNvPr id="14" name="Shape 12"/>
          <p:cNvSpPr/>
          <p:nvPr/>
        </p:nvSpPr>
        <p:spPr>
          <a:xfrm>
            <a:off x="6254496" y="1600200"/>
            <a:ext cx="2578608" cy="4343400"/>
          </a:xfrm>
          <a:prstGeom prst="roundRect">
            <a:avLst>
              <a:gd name="adj" fmla="val 2482"/>
            </a:avLst>
          </a:prstGeom>
          <a:solidFill>
            <a:srgbClr val="F4F7F8"/>
          </a:solidFill>
          <a:ln w="12700">
            <a:solidFill>
              <a:srgbClr val="E7ECEF"/>
            </a:solidFill>
            <a:prstDash val="solid"/>
          </a:ln>
        </p:spPr>
      </p:sp>
      <p:sp>
        <p:nvSpPr>
          <p:cNvPr id="15" name="Shape 13"/>
          <p:cNvSpPr/>
          <p:nvPr/>
        </p:nvSpPr>
        <p:spPr>
          <a:xfrm>
            <a:off x="6455664" y="1801368"/>
            <a:ext cx="457200" cy="457200"/>
          </a:xfrm>
          <a:prstGeom prst="roundRect">
            <a:avLst>
              <a:gd name="adj" fmla="val 12000"/>
            </a:avLst>
          </a:prstGeom>
          <a:solidFill>
            <a:srgbClr val="E08A2B"/>
          </a:solidFill>
          <a:ln/>
        </p:spPr>
      </p:sp>
      <p:sp>
        <p:nvSpPr>
          <p:cNvPr id="16" name="Text 14"/>
          <p:cNvSpPr/>
          <p:nvPr/>
        </p:nvSpPr>
        <p:spPr>
          <a:xfrm>
            <a:off x="6455664" y="1801368"/>
            <a:ext cx="457200" cy="457200"/>
          </a:xfrm>
          <a:prstGeom prst="rect">
            <a:avLst/>
          </a:prstGeom>
          <a:noFill/>
          <a:ln/>
        </p:spPr>
        <p:txBody>
          <a:bodyPr wrap="square"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7" name="Text 15"/>
          <p:cNvSpPr/>
          <p:nvPr/>
        </p:nvSpPr>
        <p:spPr>
          <a:xfrm>
            <a:off x="7031736" y="1783080"/>
            <a:ext cx="1618488" cy="502920"/>
          </a:xfrm>
          <a:prstGeom prst="rect">
            <a:avLst/>
          </a:prstGeom>
          <a:noFill/>
          <a:ln/>
        </p:spPr>
        <p:txBody>
          <a:bodyPr wrap="square" rtlCol="0" anchor="ctr"/>
          <a:lstStyle/>
          <a:p>
            <a:pPr indent="0" marL="0">
              <a:buNone/>
            </a:pPr>
            <a:r>
              <a:rPr lang="en-US" sz="1450" b="1" dirty="0">
                <a:solidFill>
                  <a:srgbClr val="263947"/>
                </a:solidFill>
                <a:latin typeface="Calibri" pitchFamily="34" charset="0"/>
                <a:ea typeface="Calibri" pitchFamily="34" charset="-122"/>
                <a:cs typeface="Calibri" pitchFamily="34" charset="-120"/>
              </a:rPr>
              <a:t>Effective lever</a:t>
            </a:r>
            <a:endParaRPr lang="en-US" sz="1450" dirty="0"/>
          </a:p>
        </p:txBody>
      </p:sp>
      <p:sp>
        <p:nvSpPr>
          <p:cNvPr id="18" name="Text 16"/>
          <p:cNvSpPr/>
          <p:nvPr/>
        </p:nvSpPr>
        <p:spPr>
          <a:xfrm>
            <a:off x="6473952" y="2377440"/>
            <a:ext cx="2139696" cy="3429000"/>
          </a:xfrm>
          <a:prstGeom prst="rect">
            <a:avLst/>
          </a:prstGeom>
          <a:noFill/>
          <a:ln/>
        </p:spPr>
        <p:txBody>
          <a:bodyPr wrap="square" rtlCol="0" anchor="t"/>
          <a:lstStyle/>
          <a:p>
            <a:pPr indent="0" marL="0">
              <a:buNone/>
            </a:pPr>
            <a:r>
              <a:rPr lang="en-US" sz="1200" dirty="0">
                <a:solidFill>
                  <a:srgbClr val="263947"/>
                </a:solidFill>
                <a:latin typeface="Calibri" pitchFamily="34" charset="0"/>
                <a:ea typeface="Calibri" pitchFamily="34" charset="-122"/>
                <a:cs typeface="Calibri" pitchFamily="34" charset="-120"/>
              </a:rPr>
              <a:t>Hardware changes the bound rather than relocating it.</a:t>
            </a:r>
            <a:endParaRPr lang="en-US" sz="1200" dirty="0"/>
          </a:p>
        </p:txBody>
      </p:sp>
      <p:sp>
        <p:nvSpPr>
          <p:cNvPr id="19" name="Shape 17"/>
          <p:cNvSpPr/>
          <p:nvPr/>
        </p:nvSpPr>
        <p:spPr>
          <a:xfrm>
            <a:off x="9153144" y="1600200"/>
            <a:ext cx="2578608" cy="4343400"/>
          </a:xfrm>
          <a:prstGeom prst="roundRect">
            <a:avLst>
              <a:gd name="adj" fmla="val 2482"/>
            </a:avLst>
          </a:prstGeom>
          <a:solidFill>
            <a:srgbClr val="F4F7F8"/>
          </a:solidFill>
          <a:ln w="12700">
            <a:solidFill>
              <a:srgbClr val="E7ECEF"/>
            </a:solidFill>
            <a:prstDash val="solid"/>
          </a:ln>
        </p:spPr>
      </p:sp>
      <p:sp>
        <p:nvSpPr>
          <p:cNvPr id="20" name="Shape 18"/>
          <p:cNvSpPr/>
          <p:nvPr/>
        </p:nvSpPr>
        <p:spPr>
          <a:xfrm>
            <a:off x="9354312" y="1801368"/>
            <a:ext cx="457200" cy="457200"/>
          </a:xfrm>
          <a:prstGeom prst="roundRect">
            <a:avLst>
              <a:gd name="adj" fmla="val 12000"/>
            </a:avLst>
          </a:prstGeom>
          <a:solidFill>
            <a:srgbClr val="3F9E6A"/>
          </a:solidFill>
          <a:ln/>
        </p:spPr>
      </p:sp>
      <p:sp>
        <p:nvSpPr>
          <p:cNvPr id="21" name="Text 19"/>
          <p:cNvSpPr/>
          <p:nvPr/>
        </p:nvSpPr>
        <p:spPr>
          <a:xfrm>
            <a:off x="9354312" y="1801368"/>
            <a:ext cx="457200" cy="457200"/>
          </a:xfrm>
          <a:prstGeom prst="rect">
            <a:avLst/>
          </a:prstGeom>
          <a:noFill/>
          <a:ln/>
        </p:spPr>
        <p:txBody>
          <a:bodyPr wrap="square"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2" name="Text 20"/>
          <p:cNvSpPr/>
          <p:nvPr/>
        </p:nvSpPr>
        <p:spPr>
          <a:xfrm>
            <a:off x="9930384" y="1783080"/>
            <a:ext cx="1618488" cy="502920"/>
          </a:xfrm>
          <a:prstGeom prst="rect">
            <a:avLst/>
          </a:prstGeom>
          <a:noFill/>
          <a:ln/>
        </p:spPr>
        <p:txBody>
          <a:bodyPr wrap="square" rtlCol="0" anchor="ctr"/>
          <a:lstStyle/>
          <a:p>
            <a:pPr indent="0" marL="0">
              <a:buNone/>
            </a:pPr>
            <a:r>
              <a:rPr lang="en-US" sz="1450" b="1" dirty="0">
                <a:solidFill>
                  <a:srgbClr val="263947"/>
                </a:solidFill>
                <a:latin typeface="Calibri" pitchFamily="34" charset="0"/>
                <a:ea typeface="Calibri" pitchFamily="34" charset="-122"/>
                <a:cs typeface="Calibri" pitchFamily="34" charset="-120"/>
              </a:rPr>
              <a:t>Lifetime economics</a:t>
            </a:r>
            <a:endParaRPr lang="en-US" sz="1450" dirty="0"/>
          </a:p>
        </p:txBody>
      </p:sp>
      <p:sp>
        <p:nvSpPr>
          <p:cNvPr id="23" name="Text 21"/>
          <p:cNvSpPr/>
          <p:nvPr/>
        </p:nvSpPr>
        <p:spPr>
          <a:xfrm>
            <a:off x="9372600" y="2377440"/>
            <a:ext cx="2139696" cy="3429000"/>
          </a:xfrm>
          <a:prstGeom prst="rect">
            <a:avLst/>
          </a:prstGeom>
          <a:noFill/>
          <a:ln/>
        </p:spPr>
        <p:txBody>
          <a:bodyPr wrap="square" rtlCol="0" anchor="t"/>
          <a:lstStyle/>
          <a:p>
            <a:pPr indent="0" marL="0">
              <a:buNone/>
            </a:pPr>
            <a:r>
              <a:rPr lang="en-US" sz="1200" dirty="0">
                <a:solidFill>
                  <a:srgbClr val="263947"/>
                </a:solidFill>
                <a:latin typeface="Calibri" pitchFamily="34" charset="0"/>
                <a:ea typeface="Calibri" pitchFamily="34" charset="-122"/>
                <a:cs typeface="Calibri" pitchFamily="34" charset="-120"/>
              </a:rPr>
              <a:t>Recurring benefit repays fixed cost, software, and lost flexibility.</a:t>
            </a:r>
            <a:endParaRPr lang="en-US" sz="1200" dirty="0"/>
          </a:p>
        </p:txBody>
      </p:sp>
      <p:sp>
        <p:nvSpPr>
          <p:cNvPr id="24" name="Text 22"/>
          <p:cNvSpPr/>
          <p:nvPr/>
        </p:nvSpPr>
        <p:spPr>
          <a:xfrm>
            <a:off x="457200" y="6108192"/>
            <a:ext cx="11274552" cy="365760"/>
          </a:xfrm>
          <a:prstGeom prst="rect">
            <a:avLst/>
          </a:prstGeom>
          <a:noFill/>
          <a:ln/>
        </p:spPr>
        <p:txBody>
          <a:bodyPr wrap="square" rtlCol="0" anchor="ctr"/>
          <a:lstStyle/>
          <a:p>
            <a:pPr indent="0" marL="0">
              <a:buNone/>
            </a:pPr>
            <a:r>
              <a:rPr lang="en-US" sz="1350" b="1" dirty="0">
                <a:solidFill>
                  <a:srgbClr val="E08A2B"/>
                </a:solidFill>
                <a:latin typeface="Calibri" pitchFamily="34" charset="0"/>
                <a:ea typeface="Calibri" pitchFamily="34" charset="-122"/>
                <a:cs typeface="Calibri" pitchFamily="34" charset="-120"/>
              </a:rPr>
              <a:t>⇒  </a:t>
            </a:r>
            <a:pPr indent="0" marL="0">
              <a:buNone/>
            </a:pPr>
            <a:r>
              <a:rPr lang="en-US" sz="1350" b="1" dirty="0">
                <a:solidFill>
                  <a:srgbClr val="263947"/>
                </a:solidFill>
                <a:latin typeface="Calibri" pitchFamily="34" charset="0"/>
                <a:ea typeface="Calibri" pitchFamily="34" charset="-122"/>
                <a:cs typeface="Calibri" pitchFamily="34" charset="-120"/>
              </a:rPr>
              <a:t>Conditions 1–3 are the architect's analysis; condition 4 is the business case — and it decides most outcomes.</a:t>
            </a:r>
            <a:endParaRPr lang="en-US" sz="1350" dirty="0"/>
          </a:p>
        </p:txBody>
      </p:sp>
      <p:sp>
        <p:nvSpPr>
          <p:cNvPr id="25" name="Text 23"/>
          <p:cNvSpPr/>
          <p:nvPr/>
        </p:nvSpPr>
        <p:spPr>
          <a:xfrm>
            <a:off x="457200" y="6473952"/>
            <a:ext cx="7315200" cy="274320"/>
          </a:xfrm>
          <a:prstGeom prst="rect">
            <a:avLst/>
          </a:prstGeom>
          <a:noFill/>
          <a:ln/>
        </p:spPr>
        <p:txBody>
          <a:bodyPr wrap="square" rtlCol="0" anchor="ctr"/>
          <a:lstStyle/>
          <a:p>
            <a:pPr indent="0" marL="0">
              <a:buNone/>
            </a:pPr>
            <a:r>
              <a:rPr lang="en-US" sz="900" dirty="0">
                <a:solidFill>
                  <a:srgbClr val="7C8B96"/>
                </a:solidFill>
                <a:latin typeface="Calibri" pitchFamily="34" charset="0"/>
                <a:ea typeface="Calibri" pitchFamily="34" charset="-122"/>
                <a:cs typeface="Calibri" pitchFamily="34" charset="-120"/>
              </a:rPr>
              <a:t>Beyond the GPU — 2-hour lecture</a:t>
            </a:r>
            <a:endParaRPr lang="en-US" sz="900" dirty="0"/>
          </a:p>
        </p:txBody>
      </p:sp>
      <p:sp>
        <p:nvSpPr>
          <p:cNvPr id="26" name="Text 24"/>
          <p:cNvSpPr/>
          <p:nvPr/>
        </p:nvSpPr>
        <p:spPr>
          <a:xfrm>
            <a:off x="11277295" y="6473952"/>
            <a:ext cx="457200" cy="274320"/>
          </a:xfrm>
          <a:prstGeom prst="rect">
            <a:avLst/>
          </a:prstGeom>
          <a:noFill/>
          <a:ln/>
        </p:spPr>
        <p:txBody>
          <a:bodyPr wrap="square" rtlCol="0" anchor="ctr"/>
          <a:lstStyle/>
          <a:p>
            <a:pPr algn="r" indent="0" marL="0">
              <a:buNone/>
            </a:pPr>
            <a:r>
              <a:rPr lang="en-US" sz="900" dirty="0">
                <a:solidFill>
                  <a:srgbClr val="7C8B96"/>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10896"/>
            <a:ext cx="10058400" cy="274320"/>
          </a:xfrm>
          <a:prstGeom prst="rect">
            <a:avLst/>
          </a:prstGeom>
          <a:noFill/>
          <a:ln/>
        </p:spPr>
        <p:txBody>
          <a:bodyPr wrap="square" rtlCol="0" anchor="ctr"/>
          <a:lstStyle/>
          <a:p>
            <a:pPr indent="0" marL="0">
              <a:buNone/>
            </a:pPr>
            <a:r>
              <a:rPr lang="en-US" sz="1200" b="1" spc="200" kern="0" dirty="0">
                <a:solidFill>
                  <a:srgbClr val="0E8C9B"/>
                </a:solidFill>
                <a:latin typeface="Calibri" pitchFamily="34" charset="0"/>
                <a:ea typeface="Calibri" pitchFamily="34" charset="-122"/>
                <a:cs typeface="Calibri" pitchFamily="34" charset="-120"/>
              </a:rPr>
              <a:t>THE TEST, EXECUTED</a:t>
            </a:r>
            <a:endParaRPr lang="en-US" sz="1200" dirty="0"/>
          </a:p>
        </p:txBody>
      </p:sp>
      <p:sp>
        <p:nvSpPr>
          <p:cNvPr id="3" name="Text 1"/>
          <p:cNvSpPr/>
          <p:nvPr/>
        </p:nvSpPr>
        <p:spPr>
          <a:xfrm>
            <a:off x="457200" y="548640"/>
            <a:ext cx="11247120" cy="822960"/>
          </a:xfrm>
          <a:prstGeom prst="rect">
            <a:avLst/>
          </a:prstGeom>
          <a:noFill/>
          <a:ln/>
        </p:spPr>
        <p:txBody>
          <a:bodyPr wrap="square" rtlCol="0" anchor="ctr"/>
          <a:lstStyle/>
          <a:p>
            <a:pPr indent="0" marL="0">
              <a:buNone/>
            </a:pPr>
            <a:r>
              <a:rPr lang="en-US" sz="3000" b="1" dirty="0">
                <a:solidFill>
                  <a:srgbClr val="263947"/>
                </a:solidFill>
                <a:latin typeface="Cambria" pitchFamily="34" charset="0"/>
                <a:ea typeface="Cambria" pitchFamily="34" charset="-122"/>
                <a:cs typeface="Cambria" pitchFamily="34" charset="-120"/>
              </a:rPr>
              <a:t>Same architecture, opposite verdicts</a:t>
            </a:r>
            <a:endParaRPr lang="en-US" sz="3000" dirty="0"/>
          </a:p>
        </p:txBody>
      </p:sp>
      <p:pic>
        <p:nvPicPr>
          <p:cNvPr id="4" name="Image 0" descr="/sessions/compassionate-blissful-planck/mnt/outputs/deck_assets/necessity_cases.png">    </p:cNvPr>
          <p:cNvPicPr>
            <a:picLocks noChangeAspect="1"/>
          </p:cNvPicPr>
          <p:nvPr/>
        </p:nvPicPr>
        <p:blipFill>
          <a:blip r:embed="rId1"/>
          <a:srcRect l="-78049" r="-78049" t="0" b="0"/>
          <a:stretch/>
        </p:blipFill>
        <p:spPr>
          <a:xfrm>
            <a:off x="1280160" y="1554480"/>
            <a:ext cx="9601200" cy="3749040"/>
          </a:xfrm>
          <a:prstGeom prst="rect">
            <a:avLst/>
          </a:prstGeom>
        </p:spPr>
      </p:pic>
      <p:sp>
        <p:nvSpPr>
          <p:cNvPr id="5" name="Shape 2"/>
          <p:cNvSpPr/>
          <p:nvPr/>
        </p:nvSpPr>
        <p:spPr>
          <a:xfrm>
            <a:off x="457200" y="5715000"/>
            <a:ext cx="11274552" cy="566928"/>
          </a:xfrm>
          <a:prstGeom prst="roundRect">
            <a:avLst>
              <a:gd name="adj" fmla="val 9677"/>
            </a:avLst>
          </a:prstGeom>
          <a:solidFill>
            <a:srgbClr val="F4F7F8"/>
          </a:solidFill>
          <a:ln w="12700">
            <a:solidFill>
              <a:srgbClr val="E7ECEF"/>
            </a:solidFill>
            <a:prstDash val="solid"/>
          </a:ln>
        </p:spPr>
      </p:sp>
      <p:sp>
        <p:nvSpPr>
          <p:cNvPr id="6" name="Text 3"/>
          <p:cNvSpPr/>
          <p:nvPr/>
        </p:nvSpPr>
        <p:spPr>
          <a:xfrm>
            <a:off x="731520" y="5715000"/>
            <a:ext cx="10789920" cy="566928"/>
          </a:xfrm>
          <a:prstGeom prst="rect">
            <a:avLst/>
          </a:prstGeom>
          <a:noFill/>
          <a:ln/>
        </p:spPr>
        <p:txBody>
          <a:bodyPr wrap="square" rtlCol="0" anchor="ctr"/>
          <a:lstStyle/>
          <a:p>
            <a:pPr indent="0" marL="0">
              <a:buNone/>
            </a:pPr>
            <a:r>
              <a:rPr lang="en-US" sz="1400" b="1" dirty="0">
                <a:solidFill>
                  <a:srgbClr val="E08A2B"/>
                </a:solidFill>
                <a:latin typeface="Calibri" pitchFamily="34" charset="0"/>
                <a:ea typeface="Calibri" pitchFamily="34" charset="-122"/>
                <a:cs typeface="Calibri" pitchFamily="34" charset="-120"/>
              </a:rPr>
              <a:t>⇒  </a:t>
            </a:r>
            <a:pPr indent="0" marL="0">
              <a:buNone/>
            </a:pPr>
            <a:r>
              <a:rPr lang="en-US" sz="1400" b="1" dirty="0">
                <a:solidFill>
                  <a:srgbClr val="263947"/>
                </a:solidFill>
                <a:latin typeface="Calibri" pitchFamily="34" charset="0"/>
                <a:ea typeface="Calibri" pitchFamily="34" charset="-122"/>
                <a:cs typeface="Calibri" pitchFamily="34" charset="-120"/>
              </a:rPr>
              <a:t>TPU v1 specialized; Nervana/Graphcore were right on architecture but failed condition 4; enterprise stays on GPU.</a:t>
            </a:r>
            <a:endParaRPr lang="en-US" sz="1400" dirty="0"/>
          </a:p>
        </p:txBody>
      </p:sp>
      <p:sp>
        <p:nvSpPr>
          <p:cNvPr id="7" name="Text 4"/>
          <p:cNvSpPr/>
          <p:nvPr/>
        </p:nvSpPr>
        <p:spPr>
          <a:xfrm>
            <a:off x="457200" y="6473952"/>
            <a:ext cx="7315200" cy="274320"/>
          </a:xfrm>
          <a:prstGeom prst="rect">
            <a:avLst/>
          </a:prstGeom>
          <a:noFill/>
          <a:ln/>
        </p:spPr>
        <p:txBody>
          <a:bodyPr wrap="square" rtlCol="0" anchor="ctr"/>
          <a:lstStyle/>
          <a:p>
            <a:pPr indent="0" marL="0">
              <a:buNone/>
            </a:pPr>
            <a:r>
              <a:rPr lang="en-US" sz="900" dirty="0">
                <a:solidFill>
                  <a:srgbClr val="7C8B96"/>
                </a:solidFill>
                <a:latin typeface="Calibri" pitchFamily="34" charset="0"/>
                <a:ea typeface="Calibri" pitchFamily="34" charset="-122"/>
                <a:cs typeface="Calibri" pitchFamily="34" charset="-120"/>
              </a:rPr>
              <a:t>Beyond the GPU — 2-hour lecture</a:t>
            </a:r>
            <a:endParaRPr lang="en-US" sz="900" dirty="0"/>
          </a:p>
        </p:txBody>
      </p:sp>
      <p:sp>
        <p:nvSpPr>
          <p:cNvPr id="8" name="Text 5"/>
          <p:cNvSpPr/>
          <p:nvPr/>
        </p:nvSpPr>
        <p:spPr>
          <a:xfrm>
            <a:off x="11277295" y="6473952"/>
            <a:ext cx="457200" cy="274320"/>
          </a:xfrm>
          <a:prstGeom prst="rect">
            <a:avLst/>
          </a:prstGeom>
          <a:noFill/>
          <a:ln/>
        </p:spPr>
        <p:txBody>
          <a:bodyPr wrap="square" rtlCol="0" anchor="ctr"/>
          <a:lstStyle/>
          <a:p>
            <a:pPr algn="r" indent="0" marL="0">
              <a:buNone/>
            </a:pPr>
            <a:r>
              <a:rPr lang="en-US" sz="900" dirty="0">
                <a:solidFill>
                  <a:srgbClr val="7C8B96"/>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10896"/>
            <a:ext cx="10058400" cy="274320"/>
          </a:xfrm>
          <a:prstGeom prst="rect">
            <a:avLst/>
          </a:prstGeom>
          <a:noFill/>
          <a:ln/>
        </p:spPr>
        <p:txBody>
          <a:bodyPr wrap="square" rtlCol="0" anchor="ctr"/>
          <a:lstStyle/>
          <a:p>
            <a:pPr indent="0" marL="0">
              <a:buNone/>
            </a:pPr>
            <a:r>
              <a:rPr lang="en-US" sz="1200" b="1" spc="200" kern="0" dirty="0">
                <a:solidFill>
                  <a:srgbClr val="0E8C9B"/>
                </a:solidFill>
                <a:latin typeface="Calibri" pitchFamily="34" charset="0"/>
                <a:ea typeface="Calibri" pitchFamily="34" charset="-122"/>
                <a:cs typeface="Calibri" pitchFamily="34" charset="-120"/>
              </a:rPr>
              <a:t>GPU VS SPECIALIZATION</a:t>
            </a:r>
            <a:endParaRPr lang="en-US" sz="1200" dirty="0"/>
          </a:p>
        </p:txBody>
      </p:sp>
      <p:sp>
        <p:nvSpPr>
          <p:cNvPr id="3" name="Text 1"/>
          <p:cNvSpPr/>
          <p:nvPr/>
        </p:nvSpPr>
        <p:spPr>
          <a:xfrm>
            <a:off x="457200" y="548640"/>
            <a:ext cx="11247120" cy="822960"/>
          </a:xfrm>
          <a:prstGeom prst="rect">
            <a:avLst/>
          </a:prstGeom>
          <a:noFill/>
          <a:ln/>
        </p:spPr>
        <p:txBody>
          <a:bodyPr wrap="square" rtlCol="0" anchor="ctr"/>
          <a:lstStyle/>
          <a:p>
            <a:pPr indent="0" marL="0">
              <a:buNone/>
            </a:pPr>
            <a:r>
              <a:rPr lang="en-US" sz="3000" b="1" dirty="0">
                <a:solidFill>
                  <a:srgbClr val="263947"/>
                </a:solidFill>
                <a:latin typeface="Cambria" pitchFamily="34" charset="0"/>
                <a:ea typeface="Cambria" pitchFamily="34" charset="-122"/>
                <a:cs typeface="Cambria" pitchFamily="34" charset="-120"/>
              </a:rPr>
              <a:t>What the GPU absorbs — and what it cannot</a:t>
            </a:r>
            <a:endParaRPr lang="en-US" sz="3000" dirty="0"/>
          </a:p>
        </p:txBody>
      </p:sp>
      <p:pic>
        <p:nvPicPr>
          <p:cNvPr id="4" name="Image 0" descr="/sessions/compassionate-blissful-planck/mnt/outputs/deck_assets/fig05-05-absorption-partition.png">    </p:cNvPr>
          <p:cNvPicPr>
            <a:picLocks noChangeAspect="1"/>
          </p:cNvPicPr>
          <p:nvPr/>
        </p:nvPicPr>
        <p:blipFill>
          <a:blip r:embed="rId1"/>
          <a:srcRect l="-78049" r="-78049" t="0" b="0"/>
          <a:stretch/>
        </p:blipFill>
        <p:spPr>
          <a:xfrm>
            <a:off x="1280160" y="1554480"/>
            <a:ext cx="9601200" cy="3749040"/>
          </a:xfrm>
          <a:prstGeom prst="rect">
            <a:avLst/>
          </a:prstGeom>
        </p:spPr>
      </p:pic>
      <p:sp>
        <p:nvSpPr>
          <p:cNvPr id="5" name="Shape 2"/>
          <p:cNvSpPr/>
          <p:nvPr/>
        </p:nvSpPr>
        <p:spPr>
          <a:xfrm>
            <a:off x="457200" y="5715000"/>
            <a:ext cx="11274552" cy="566928"/>
          </a:xfrm>
          <a:prstGeom prst="roundRect">
            <a:avLst>
              <a:gd name="adj" fmla="val 9677"/>
            </a:avLst>
          </a:prstGeom>
          <a:solidFill>
            <a:srgbClr val="F4F7F8"/>
          </a:solidFill>
          <a:ln w="12700">
            <a:solidFill>
              <a:srgbClr val="E7ECEF"/>
            </a:solidFill>
            <a:prstDash val="solid"/>
          </a:ln>
        </p:spPr>
      </p:sp>
      <p:sp>
        <p:nvSpPr>
          <p:cNvPr id="6" name="Text 3"/>
          <p:cNvSpPr/>
          <p:nvPr/>
        </p:nvSpPr>
        <p:spPr>
          <a:xfrm>
            <a:off x="731520" y="5715000"/>
            <a:ext cx="10789920" cy="566928"/>
          </a:xfrm>
          <a:prstGeom prst="rect">
            <a:avLst/>
          </a:prstGeom>
          <a:noFill/>
          <a:ln/>
        </p:spPr>
        <p:txBody>
          <a:bodyPr wrap="square" rtlCol="0" anchor="ctr"/>
          <a:lstStyle/>
          <a:p>
            <a:pPr indent="0" marL="0">
              <a:buNone/>
            </a:pPr>
            <a:r>
              <a:rPr lang="en-US" sz="1400" b="1" dirty="0">
                <a:solidFill>
                  <a:srgbClr val="E08A2B"/>
                </a:solidFill>
                <a:latin typeface="Calibri" pitchFamily="34" charset="0"/>
                <a:ea typeface="Calibri" pitchFamily="34" charset="-122"/>
                <a:cs typeface="Calibri" pitchFamily="34" charset="-120"/>
              </a:rPr>
              <a:t>⇒  </a:t>
            </a:r>
            <a:pPr indent="0" marL="0">
              <a:buNone/>
            </a:pPr>
            <a:r>
              <a:rPr lang="en-US" sz="1400" b="1" dirty="0">
                <a:solidFill>
                  <a:srgbClr val="263947"/>
                </a:solidFill>
                <a:latin typeface="Calibri" pitchFamily="34" charset="0"/>
                <a:ea typeface="Calibri" pitchFamily="34" charset="-122"/>
                <a:cs typeface="Calibri" pitchFamily="34" charset="-120"/>
              </a:rPr>
              <a:t>Absorbable bounds join the platform; structural bounds (wake scope, determinism, near-sensor, cost floors) do not.</a:t>
            </a:r>
            <a:endParaRPr lang="en-US" sz="1400" dirty="0"/>
          </a:p>
        </p:txBody>
      </p:sp>
      <p:sp>
        <p:nvSpPr>
          <p:cNvPr id="7" name="Text 4"/>
          <p:cNvSpPr/>
          <p:nvPr/>
        </p:nvSpPr>
        <p:spPr>
          <a:xfrm>
            <a:off x="457200" y="6473952"/>
            <a:ext cx="7315200" cy="274320"/>
          </a:xfrm>
          <a:prstGeom prst="rect">
            <a:avLst/>
          </a:prstGeom>
          <a:noFill/>
          <a:ln/>
        </p:spPr>
        <p:txBody>
          <a:bodyPr wrap="square" rtlCol="0" anchor="ctr"/>
          <a:lstStyle/>
          <a:p>
            <a:pPr indent="0" marL="0">
              <a:buNone/>
            </a:pPr>
            <a:r>
              <a:rPr lang="en-US" sz="900" dirty="0">
                <a:solidFill>
                  <a:srgbClr val="7C8B96"/>
                </a:solidFill>
                <a:latin typeface="Calibri" pitchFamily="34" charset="0"/>
                <a:ea typeface="Calibri" pitchFamily="34" charset="-122"/>
                <a:cs typeface="Calibri" pitchFamily="34" charset="-120"/>
              </a:rPr>
              <a:t>Beyond the GPU — 2-hour lecture</a:t>
            </a:r>
            <a:endParaRPr lang="en-US" sz="900" dirty="0"/>
          </a:p>
        </p:txBody>
      </p:sp>
      <p:sp>
        <p:nvSpPr>
          <p:cNvPr id="8" name="Text 5"/>
          <p:cNvSpPr/>
          <p:nvPr/>
        </p:nvSpPr>
        <p:spPr>
          <a:xfrm>
            <a:off x="11277295" y="6473952"/>
            <a:ext cx="457200" cy="274320"/>
          </a:xfrm>
          <a:prstGeom prst="rect">
            <a:avLst/>
          </a:prstGeom>
          <a:noFill/>
          <a:ln/>
        </p:spPr>
        <p:txBody>
          <a:bodyPr wrap="square" rtlCol="0" anchor="ctr"/>
          <a:lstStyle/>
          <a:p>
            <a:pPr algn="r" indent="0" marL="0">
              <a:buNone/>
            </a:pPr>
            <a:r>
              <a:rPr lang="en-US" sz="900" dirty="0">
                <a:solidFill>
                  <a:srgbClr val="7C8B96"/>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6232E"/>
        </a:solidFill>
      </p:bgPr>
    </p:bg>
    <p:spTree>
      <p:nvGrpSpPr>
        <p:cNvPr id="1" name=""/>
        <p:cNvGrpSpPr/>
        <p:nvPr/>
      </p:nvGrpSpPr>
      <p:grpSpPr>
        <a:xfrm>
          <a:off x="0" y="0"/>
          <a:ext cx="0" cy="0"/>
          <a:chOff x="0" y="0"/>
          <a:chExt cx="0" cy="0"/>
        </a:xfrm>
      </p:grpSpPr>
      <p:sp>
        <p:nvSpPr>
          <p:cNvPr id="2" name="Text 0"/>
          <p:cNvSpPr/>
          <p:nvPr/>
        </p:nvSpPr>
        <p:spPr>
          <a:xfrm>
            <a:off x="731520" y="2103120"/>
            <a:ext cx="2011680" cy="1645920"/>
          </a:xfrm>
          <a:prstGeom prst="rect">
            <a:avLst/>
          </a:prstGeom>
          <a:noFill/>
          <a:ln/>
        </p:spPr>
        <p:txBody>
          <a:bodyPr wrap="square" rtlCol="0" anchor="ctr"/>
          <a:lstStyle/>
          <a:p>
            <a:pPr indent="0" marL="0">
              <a:buNone/>
            </a:pPr>
            <a:r>
              <a:rPr lang="en-US" sz="8000" b="1" dirty="0">
                <a:solidFill>
                  <a:srgbClr val="E08A2B"/>
                </a:solidFill>
                <a:latin typeface="Cambria" pitchFamily="34" charset="0"/>
                <a:ea typeface="Cambria" pitchFamily="34" charset="-122"/>
                <a:cs typeface="Cambria" pitchFamily="34" charset="-120"/>
              </a:rPr>
              <a:t>04</a:t>
            </a:r>
            <a:endParaRPr lang="en-US" sz="8000" dirty="0"/>
          </a:p>
        </p:txBody>
      </p:sp>
      <p:sp>
        <p:nvSpPr>
          <p:cNvPr id="3" name="Text 1"/>
          <p:cNvSpPr/>
          <p:nvPr/>
        </p:nvSpPr>
        <p:spPr>
          <a:xfrm>
            <a:off x="2834640" y="2514600"/>
            <a:ext cx="8595360" cy="1280160"/>
          </a:xfrm>
          <a:prstGeom prst="rect">
            <a:avLst/>
          </a:prstGeom>
          <a:noFill/>
          <a:ln/>
        </p:spPr>
        <p:txBody>
          <a:bodyPr wrap="square"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The accelerator families</a:t>
            </a:r>
            <a:endParaRPr lang="en-US" sz="3800" dirty="0"/>
          </a:p>
        </p:txBody>
      </p:sp>
      <p:sp>
        <p:nvSpPr>
          <p:cNvPr id="4" name="Text 2"/>
          <p:cNvSpPr/>
          <p:nvPr/>
        </p:nvSpPr>
        <p:spPr>
          <a:xfrm>
            <a:off x="2880360" y="3703320"/>
            <a:ext cx="8412480" cy="822960"/>
          </a:xfrm>
          <a:prstGeom prst="rect">
            <a:avLst/>
          </a:prstGeom>
          <a:noFill/>
          <a:ln/>
        </p:spPr>
        <p:txBody>
          <a:bodyPr wrap="square" rtlCol="0" anchor="ctr"/>
          <a:lstStyle/>
          <a:p>
            <a:pPr indent="0" marL="0">
              <a:buNone/>
            </a:pPr>
            <a:r>
              <a:rPr lang="en-US" sz="1600" dirty="0">
                <a:solidFill>
                  <a:srgbClr val="E7ECEF"/>
                </a:solidFill>
                <a:latin typeface="Calibri" pitchFamily="34" charset="0"/>
                <a:ea typeface="Calibri" pitchFamily="34" charset="-122"/>
                <a:cs typeface="Calibri" pitchFamily="34" charset="-120"/>
              </a:rPr>
              <a:t>Eight contract changes, two organizing axes</a:t>
            </a:r>
            <a:endParaRPr lang="en-US" sz="1600" dirty="0"/>
          </a:p>
        </p:txBody>
      </p:sp>
      <p:sp>
        <p:nvSpPr>
          <p:cNvPr id="5" name="Text 3"/>
          <p:cNvSpPr/>
          <p:nvPr/>
        </p:nvSpPr>
        <p:spPr>
          <a:xfrm>
            <a:off x="457200" y="6473952"/>
            <a:ext cx="7315200" cy="274320"/>
          </a:xfrm>
          <a:prstGeom prst="rect">
            <a:avLst/>
          </a:prstGeom>
          <a:noFill/>
          <a:ln/>
        </p:spPr>
        <p:txBody>
          <a:bodyPr wrap="square" rtlCol="0" anchor="ctr"/>
          <a:lstStyle/>
          <a:p>
            <a:pPr indent="0" marL="0">
              <a:buNone/>
            </a:pPr>
            <a:r>
              <a:rPr lang="en-US" sz="900" dirty="0">
                <a:solidFill>
                  <a:srgbClr val="7C8B96"/>
                </a:solidFill>
                <a:latin typeface="Calibri" pitchFamily="34" charset="0"/>
                <a:ea typeface="Calibri" pitchFamily="34" charset="-122"/>
                <a:cs typeface="Calibri" pitchFamily="34" charset="-120"/>
              </a:rPr>
              <a:t>Beyond the GPU — 2-hour lecture</a:t>
            </a:r>
            <a:endParaRPr lang="en-US" sz="900" dirty="0"/>
          </a:p>
        </p:txBody>
      </p:sp>
      <p:sp>
        <p:nvSpPr>
          <p:cNvPr id="6" name="Text 4"/>
          <p:cNvSpPr/>
          <p:nvPr/>
        </p:nvSpPr>
        <p:spPr>
          <a:xfrm>
            <a:off x="11277295" y="6473952"/>
            <a:ext cx="457200" cy="274320"/>
          </a:xfrm>
          <a:prstGeom prst="rect">
            <a:avLst/>
          </a:prstGeom>
          <a:noFill/>
          <a:ln/>
        </p:spPr>
        <p:txBody>
          <a:bodyPr wrap="square" rtlCol="0" anchor="ctr"/>
          <a:lstStyle/>
          <a:p>
            <a:pPr algn="r" indent="0" marL="0">
              <a:buNone/>
            </a:pPr>
            <a:r>
              <a:rPr lang="en-US" sz="900" dirty="0">
                <a:solidFill>
                  <a:srgbClr val="7C8B96"/>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10896"/>
            <a:ext cx="10058400" cy="274320"/>
          </a:xfrm>
          <a:prstGeom prst="rect">
            <a:avLst/>
          </a:prstGeom>
          <a:noFill/>
          <a:ln/>
        </p:spPr>
        <p:txBody>
          <a:bodyPr wrap="square" rtlCol="0" anchor="ctr"/>
          <a:lstStyle/>
          <a:p>
            <a:pPr indent="0" marL="0">
              <a:buNone/>
            </a:pPr>
            <a:r>
              <a:rPr lang="en-US" sz="1200" b="1" spc="200" kern="0" dirty="0">
                <a:solidFill>
                  <a:srgbClr val="0E8C9B"/>
                </a:solidFill>
                <a:latin typeface="Calibri" pitchFamily="34" charset="0"/>
                <a:ea typeface="Calibri" pitchFamily="34" charset="-122"/>
                <a:cs typeface="Calibri" pitchFamily="34" charset="-120"/>
              </a:rPr>
              <a:t>THE MAP</a:t>
            </a:r>
            <a:endParaRPr lang="en-US" sz="1200" dirty="0"/>
          </a:p>
        </p:txBody>
      </p:sp>
      <p:sp>
        <p:nvSpPr>
          <p:cNvPr id="3" name="Text 1"/>
          <p:cNvSpPr/>
          <p:nvPr/>
        </p:nvSpPr>
        <p:spPr>
          <a:xfrm>
            <a:off x="457200" y="548640"/>
            <a:ext cx="11247120" cy="822960"/>
          </a:xfrm>
          <a:prstGeom prst="rect">
            <a:avLst/>
          </a:prstGeom>
          <a:noFill/>
          <a:ln/>
        </p:spPr>
        <p:txBody>
          <a:bodyPr wrap="square" rtlCol="0" anchor="ctr"/>
          <a:lstStyle/>
          <a:p>
            <a:pPr indent="0" marL="0">
              <a:buNone/>
            </a:pPr>
            <a:r>
              <a:rPr lang="en-US" sz="3000" b="1" dirty="0">
                <a:solidFill>
                  <a:srgbClr val="263947"/>
                </a:solidFill>
                <a:latin typeface="Cambria" pitchFamily="34" charset="0"/>
                <a:ea typeface="Cambria" pitchFamily="34" charset="-122"/>
                <a:cs typeface="Cambria" pitchFamily="34" charset="-120"/>
              </a:rPr>
              <a:t>When uncertainty resolves × where state lives</a:t>
            </a:r>
            <a:endParaRPr lang="en-US" sz="3000" dirty="0"/>
          </a:p>
        </p:txBody>
      </p:sp>
      <p:pic>
        <p:nvPicPr>
          <p:cNvPr id="4" name="Image 0" descr="/sessions/compassionate-blissful-planck/mnt/outputs/deck_assets/fig06-01-family-landscape.png">    </p:cNvPr>
          <p:cNvPicPr>
            <a:picLocks noChangeAspect="1"/>
          </p:cNvPicPr>
          <p:nvPr/>
        </p:nvPicPr>
        <p:blipFill>
          <a:blip r:embed="rId1"/>
          <a:srcRect l="-78049" r="-78049" t="0" b="0"/>
          <a:stretch/>
        </p:blipFill>
        <p:spPr>
          <a:xfrm>
            <a:off x="1280160" y="1554480"/>
            <a:ext cx="9601200" cy="3749040"/>
          </a:xfrm>
          <a:prstGeom prst="rect">
            <a:avLst/>
          </a:prstGeom>
        </p:spPr>
      </p:pic>
      <p:sp>
        <p:nvSpPr>
          <p:cNvPr id="5" name="Shape 2"/>
          <p:cNvSpPr/>
          <p:nvPr/>
        </p:nvSpPr>
        <p:spPr>
          <a:xfrm>
            <a:off x="457200" y="5715000"/>
            <a:ext cx="11274552" cy="566928"/>
          </a:xfrm>
          <a:prstGeom prst="roundRect">
            <a:avLst>
              <a:gd name="adj" fmla="val 9677"/>
            </a:avLst>
          </a:prstGeom>
          <a:solidFill>
            <a:srgbClr val="F4F7F8"/>
          </a:solidFill>
          <a:ln w="12700">
            <a:solidFill>
              <a:srgbClr val="E7ECEF"/>
            </a:solidFill>
            <a:prstDash val="solid"/>
          </a:ln>
        </p:spPr>
      </p:sp>
      <p:sp>
        <p:nvSpPr>
          <p:cNvPr id="6" name="Text 3"/>
          <p:cNvSpPr/>
          <p:nvPr/>
        </p:nvSpPr>
        <p:spPr>
          <a:xfrm>
            <a:off x="731520" y="5715000"/>
            <a:ext cx="10789920" cy="566928"/>
          </a:xfrm>
          <a:prstGeom prst="rect">
            <a:avLst/>
          </a:prstGeom>
          <a:noFill/>
          <a:ln/>
        </p:spPr>
        <p:txBody>
          <a:bodyPr wrap="square" rtlCol="0" anchor="ctr"/>
          <a:lstStyle/>
          <a:p>
            <a:pPr indent="0" marL="0">
              <a:buNone/>
            </a:pPr>
            <a:r>
              <a:rPr lang="en-US" sz="1400" b="1" dirty="0">
                <a:solidFill>
                  <a:srgbClr val="E08A2B"/>
                </a:solidFill>
                <a:latin typeface="Calibri" pitchFamily="34" charset="0"/>
                <a:ea typeface="Calibri" pitchFamily="34" charset="-122"/>
                <a:cs typeface="Calibri" pitchFamily="34" charset="-120"/>
              </a:rPr>
              <a:t>⇒  </a:t>
            </a:r>
            <a:pPr indent="0" marL="0">
              <a:buNone/>
            </a:pPr>
            <a:r>
              <a:rPr lang="en-US" sz="1400" b="1" dirty="0">
                <a:solidFill>
                  <a:srgbClr val="263947"/>
                </a:solidFill>
                <a:latin typeface="Calibri" pitchFamily="34" charset="0"/>
                <a:ea typeface="Calibri" pitchFamily="34" charset="-122"/>
                <a:cs typeface="Calibri" pitchFamily="34" charset="-120"/>
              </a:rPr>
              <a:t>Every family is a displacement from the CPU/GPU baseline on these two axes — no point dominates.</a:t>
            </a:r>
            <a:endParaRPr lang="en-US" sz="1400" dirty="0"/>
          </a:p>
        </p:txBody>
      </p:sp>
      <p:sp>
        <p:nvSpPr>
          <p:cNvPr id="7" name="Text 4"/>
          <p:cNvSpPr/>
          <p:nvPr/>
        </p:nvSpPr>
        <p:spPr>
          <a:xfrm>
            <a:off x="457200" y="6473952"/>
            <a:ext cx="7315200" cy="274320"/>
          </a:xfrm>
          <a:prstGeom prst="rect">
            <a:avLst/>
          </a:prstGeom>
          <a:noFill/>
          <a:ln/>
        </p:spPr>
        <p:txBody>
          <a:bodyPr wrap="square" rtlCol="0" anchor="ctr"/>
          <a:lstStyle/>
          <a:p>
            <a:pPr indent="0" marL="0">
              <a:buNone/>
            </a:pPr>
            <a:r>
              <a:rPr lang="en-US" sz="900" dirty="0">
                <a:solidFill>
                  <a:srgbClr val="7C8B96"/>
                </a:solidFill>
                <a:latin typeface="Calibri" pitchFamily="34" charset="0"/>
                <a:ea typeface="Calibri" pitchFamily="34" charset="-122"/>
                <a:cs typeface="Calibri" pitchFamily="34" charset="-120"/>
              </a:rPr>
              <a:t>Beyond the GPU — 2-hour lecture</a:t>
            </a:r>
            <a:endParaRPr lang="en-US" sz="900" dirty="0"/>
          </a:p>
        </p:txBody>
      </p:sp>
      <p:sp>
        <p:nvSpPr>
          <p:cNvPr id="8" name="Text 5"/>
          <p:cNvSpPr/>
          <p:nvPr/>
        </p:nvSpPr>
        <p:spPr>
          <a:xfrm>
            <a:off x="11277295" y="6473952"/>
            <a:ext cx="457200" cy="274320"/>
          </a:xfrm>
          <a:prstGeom prst="rect">
            <a:avLst/>
          </a:prstGeom>
          <a:noFill/>
          <a:ln/>
        </p:spPr>
        <p:txBody>
          <a:bodyPr wrap="square" rtlCol="0" anchor="ctr"/>
          <a:lstStyle/>
          <a:p>
            <a:pPr algn="r" indent="0" marL="0">
              <a:buNone/>
            </a:pPr>
            <a:r>
              <a:rPr lang="en-US" sz="900" dirty="0">
                <a:solidFill>
                  <a:srgbClr val="7C8B96"/>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10896"/>
            <a:ext cx="10058400" cy="274320"/>
          </a:xfrm>
          <a:prstGeom prst="rect">
            <a:avLst/>
          </a:prstGeom>
          <a:noFill/>
          <a:ln/>
        </p:spPr>
        <p:txBody>
          <a:bodyPr wrap="square" rtlCol="0" anchor="ctr"/>
          <a:lstStyle/>
          <a:p>
            <a:pPr indent="0" marL="0">
              <a:buNone/>
            </a:pPr>
            <a:r>
              <a:rPr lang="en-US" sz="1200" b="1" spc="200" kern="0" dirty="0">
                <a:solidFill>
                  <a:srgbClr val="0E8C9B"/>
                </a:solidFill>
                <a:latin typeface="Calibri" pitchFamily="34" charset="0"/>
                <a:ea typeface="Calibri" pitchFamily="34" charset="-122"/>
                <a:cs typeface="Calibri" pitchFamily="34" charset="-120"/>
              </a:rPr>
              <a:t>FAMILY · MECHANISM</a:t>
            </a:r>
            <a:endParaRPr lang="en-US" sz="1200" dirty="0"/>
          </a:p>
        </p:txBody>
      </p:sp>
      <p:sp>
        <p:nvSpPr>
          <p:cNvPr id="3" name="Text 1"/>
          <p:cNvSpPr/>
          <p:nvPr/>
        </p:nvSpPr>
        <p:spPr>
          <a:xfrm>
            <a:off x="457200" y="548640"/>
            <a:ext cx="11247120" cy="822960"/>
          </a:xfrm>
          <a:prstGeom prst="rect">
            <a:avLst/>
          </a:prstGeom>
          <a:noFill/>
          <a:ln/>
        </p:spPr>
        <p:txBody>
          <a:bodyPr wrap="square" rtlCol="0" anchor="ctr"/>
          <a:lstStyle/>
          <a:p>
            <a:pPr indent="0" marL="0">
              <a:buNone/>
            </a:pPr>
            <a:r>
              <a:rPr lang="en-US" sz="3000" b="1" dirty="0">
                <a:solidFill>
                  <a:srgbClr val="263947"/>
                </a:solidFill>
                <a:latin typeface="Cambria" pitchFamily="34" charset="0"/>
                <a:ea typeface="Cambria" pitchFamily="34" charset="-122"/>
                <a:cs typeface="Cambria" pitchFamily="34" charset="-120"/>
              </a:rPr>
              <a:t>Systolic arrays: reuse from geometry</a:t>
            </a:r>
            <a:endParaRPr lang="en-US" sz="3000" dirty="0"/>
          </a:p>
        </p:txBody>
      </p:sp>
      <p:pic>
        <p:nvPicPr>
          <p:cNvPr id="4" name="Image 0" descr="/sessions/compassionate-blissful-planck/mnt/outputs/deck_assets/fig06-02-systolic-walkthrough.png">    </p:cNvPr>
          <p:cNvPicPr>
            <a:picLocks noChangeAspect="1"/>
          </p:cNvPicPr>
          <p:nvPr/>
        </p:nvPicPr>
        <p:blipFill>
          <a:blip r:embed="rId1"/>
          <a:srcRect l="-78049" r="-78049" t="0" b="0"/>
          <a:stretch/>
        </p:blipFill>
        <p:spPr>
          <a:xfrm>
            <a:off x="1280160" y="1554480"/>
            <a:ext cx="9601200" cy="3749040"/>
          </a:xfrm>
          <a:prstGeom prst="rect">
            <a:avLst/>
          </a:prstGeom>
        </p:spPr>
      </p:pic>
      <p:sp>
        <p:nvSpPr>
          <p:cNvPr id="5" name="Shape 2"/>
          <p:cNvSpPr/>
          <p:nvPr/>
        </p:nvSpPr>
        <p:spPr>
          <a:xfrm>
            <a:off x="457200" y="5715000"/>
            <a:ext cx="11274552" cy="566928"/>
          </a:xfrm>
          <a:prstGeom prst="roundRect">
            <a:avLst>
              <a:gd name="adj" fmla="val 9677"/>
            </a:avLst>
          </a:prstGeom>
          <a:solidFill>
            <a:srgbClr val="F4F7F8"/>
          </a:solidFill>
          <a:ln w="12700">
            <a:solidFill>
              <a:srgbClr val="E7ECEF"/>
            </a:solidFill>
            <a:prstDash val="solid"/>
          </a:ln>
        </p:spPr>
      </p:sp>
      <p:sp>
        <p:nvSpPr>
          <p:cNvPr id="6" name="Text 3"/>
          <p:cNvSpPr/>
          <p:nvPr/>
        </p:nvSpPr>
        <p:spPr>
          <a:xfrm>
            <a:off x="731520" y="5715000"/>
            <a:ext cx="10789920" cy="566928"/>
          </a:xfrm>
          <a:prstGeom prst="rect">
            <a:avLst/>
          </a:prstGeom>
          <a:noFill/>
          <a:ln/>
        </p:spPr>
        <p:txBody>
          <a:bodyPr wrap="square" rtlCol="0" anchor="ctr"/>
          <a:lstStyle/>
          <a:p>
            <a:pPr indent="0" marL="0">
              <a:buNone/>
            </a:pPr>
            <a:r>
              <a:rPr lang="en-US" sz="1400" b="1" dirty="0">
                <a:solidFill>
                  <a:srgbClr val="E08A2B"/>
                </a:solidFill>
                <a:latin typeface="Calibri" pitchFamily="34" charset="0"/>
                <a:ea typeface="Calibri" pitchFamily="34" charset="-122"/>
                <a:cs typeface="Calibri" pitchFamily="34" charset="-120"/>
              </a:rPr>
              <a:t>⇒  </a:t>
            </a:r>
            <a:pPr indent="0" marL="0">
              <a:buNone/>
            </a:pPr>
            <a:r>
              <a:rPr lang="en-US" sz="1400" b="1" dirty="0">
                <a:solidFill>
                  <a:srgbClr val="263947"/>
                </a:solidFill>
                <a:latin typeface="Calibri" pitchFamily="34" charset="0"/>
                <a:ea typeface="Calibri" pitchFamily="34" charset="-122"/>
                <a:cs typeface="Calibri" pitchFamily="34" charset="-120"/>
              </a:rPr>
              <a:t>A value fetched once is reused across the array — memory traffic only at the edges. Absorbed by everyone, including the GPU.</a:t>
            </a:r>
            <a:endParaRPr lang="en-US" sz="1400" dirty="0"/>
          </a:p>
        </p:txBody>
      </p:sp>
      <p:sp>
        <p:nvSpPr>
          <p:cNvPr id="7" name="Text 4"/>
          <p:cNvSpPr/>
          <p:nvPr/>
        </p:nvSpPr>
        <p:spPr>
          <a:xfrm>
            <a:off x="457200" y="6473952"/>
            <a:ext cx="7315200" cy="274320"/>
          </a:xfrm>
          <a:prstGeom prst="rect">
            <a:avLst/>
          </a:prstGeom>
          <a:noFill/>
          <a:ln/>
        </p:spPr>
        <p:txBody>
          <a:bodyPr wrap="square" rtlCol="0" anchor="ctr"/>
          <a:lstStyle/>
          <a:p>
            <a:pPr indent="0" marL="0">
              <a:buNone/>
            </a:pPr>
            <a:r>
              <a:rPr lang="en-US" sz="900" dirty="0">
                <a:solidFill>
                  <a:srgbClr val="7C8B96"/>
                </a:solidFill>
                <a:latin typeface="Calibri" pitchFamily="34" charset="0"/>
                <a:ea typeface="Calibri" pitchFamily="34" charset="-122"/>
                <a:cs typeface="Calibri" pitchFamily="34" charset="-120"/>
              </a:rPr>
              <a:t>Beyond the GPU — 2-hour lecture</a:t>
            </a:r>
            <a:endParaRPr lang="en-US" sz="900" dirty="0"/>
          </a:p>
        </p:txBody>
      </p:sp>
      <p:sp>
        <p:nvSpPr>
          <p:cNvPr id="8" name="Text 5"/>
          <p:cNvSpPr/>
          <p:nvPr/>
        </p:nvSpPr>
        <p:spPr>
          <a:xfrm>
            <a:off x="11277295" y="6473952"/>
            <a:ext cx="457200" cy="274320"/>
          </a:xfrm>
          <a:prstGeom prst="rect">
            <a:avLst/>
          </a:prstGeom>
          <a:noFill/>
          <a:ln/>
        </p:spPr>
        <p:txBody>
          <a:bodyPr wrap="square" rtlCol="0" anchor="ctr"/>
          <a:lstStyle/>
          <a:p>
            <a:pPr algn="r" indent="0" marL="0">
              <a:buNone/>
            </a:pPr>
            <a:r>
              <a:rPr lang="en-US" sz="900" dirty="0">
                <a:solidFill>
                  <a:srgbClr val="7C8B96"/>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10896"/>
            <a:ext cx="10058400" cy="274320"/>
          </a:xfrm>
          <a:prstGeom prst="rect">
            <a:avLst/>
          </a:prstGeom>
          <a:noFill/>
          <a:ln/>
        </p:spPr>
        <p:txBody>
          <a:bodyPr wrap="square" rtlCol="0" anchor="ctr"/>
          <a:lstStyle/>
          <a:p>
            <a:pPr indent="0" marL="0">
              <a:buNone/>
            </a:pPr>
            <a:r>
              <a:rPr lang="en-US" sz="1200" b="1" spc="200" kern="0" dirty="0">
                <a:solidFill>
                  <a:srgbClr val="0E8C9B"/>
                </a:solidFill>
                <a:latin typeface="Calibri" pitchFamily="34" charset="0"/>
                <a:ea typeface="Calibri" pitchFamily="34" charset="-122"/>
                <a:cs typeface="Calibri" pitchFamily="34" charset="-120"/>
              </a:rPr>
              <a:t>FAMILY · DEVICE</a:t>
            </a:r>
            <a:endParaRPr lang="en-US" sz="1200" dirty="0"/>
          </a:p>
        </p:txBody>
      </p:sp>
      <p:sp>
        <p:nvSpPr>
          <p:cNvPr id="3" name="Text 1"/>
          <p:cNvSpPr/>
          <p:nvPr/>
        </p:nvSpPr>
        <p:spPr>
          <a:xfrm>
            <a:off x="457200" y="548640"/>
            <a:ext cx="11247120" cy="822960"/>
          </a:xfrm>
          <a:prstGeom prst="rect">
            <a:avLst/>
          </a:prstGeom>
          <a:noFill/>
          <a:ln/>
        </p:spPr>
        <p:txBody>
          <a:bodyPr wrap="square" rtlCol="0" anchor="ctr"/>
          <a:lstStyle/>
          <a:p>
            <a:pPr indent="0" marL="0">
              <a:buNone/>
            </a:pPr>
            <a:r>
              <a:rPr lang="en-US" sz="3000" b="1" dirty="0">
                <a:solidFill>
                  <a:srgbClr val="263947"/>
                </a:solidFill>
                <a:latin typeface="Cambria" pitchFamily="34" charset="0"/>
                <a:ea typeface="Cambria" pitchFamily="34" charset="-122"/>
                <a:cs typeface="Cambria" pitchFamily="34" charset="-120"/>
              </a:rPr>
              <a:t>Tensor processors: one compiler-owned schedule</a:t>
            </a:r>
            <a:endParaRPr lang="en-US" sz="3000" dirty="0"/>
          </a:p>
        </p:txBody>
      </p:sp>
      <p:pic>
        <p:nvPicPr>
          <p:cNvPr id="4" name="Image 0" descr="/sessions/compassionate-blissful-planck/mnt/outputs/deck_assets/tensor_block.png">    </p:cNvPr>
          <p:cNvPicPr>
            <a:picLocks noChangeAspect="1"/>
          </p:cNvPicPr>
          <p:nvPr/>
        </p:nvPicPr>
        <p:blipFill>
          <a:blip r:embed="rId1"/>
          <a:srcRect l="-78049" r="-78049" t="0" b="0"/>
          <a:stretch/>
        </p:blipFill>
        <p:spPr>
          <a:xfrm>
            <a:off x="1280160" y="1554480"/>
            <a:ext cx="9601200" cy="3749040"/>
          </a:xfrm>
          <a:prstGeom prst="rect">
            <a:avLst/>
          </a:prstGeom>
        </p:spPr>
      </p:pic>
      <p:sp>
        <p:nvSpPr>
          <p:cNvPr id="5" name="Shape 2"/>
          <p:cNvSpPr/>
          <p:nvPr/>
        </p:nvSpPr>
        <p:spPr>
          <a:xfrm>
            <a:off x="457200" y="5715000"/>
            <a:ext cx="11274552" cy="566928"/>
          </a:xfrm>
          <a:prstGeom prst="roundRect">
            <a:avLst>
              <a:gd name="adj" fmla="val 9677"/>
            </a:avLst>
          </a:prstGeom>
          <a:solidFill>
            <a:srgbClr val="F4F7F8"/>
          </a:solidFill>
          <a:ln w="12700">
            <a:solidFill>
              <a:srgbClr val="E7ECEF"/>
            </a:solidFill>
            <a:prstDash val="solid"/>
          </a:ln>
        </p:spPr>
      </p:sp>
      <p:sp>
        <p:nvSpPr>
          <p:cNvPr id="6" name="Text 3"/>
          <p:cNvSpPr/>
          <p:nvPr/>
        </p:nvSpPr>
        <p:spPr>
          <a:xfrm>
            <a:off x="731520" y="5715000"/>
            <a:ext cx="10789920" cy="566928"/>
          </a:xfrm>
          <a:prstGeom prst="rect">
            <a:avLst/>
          </a:prstGeom>
          <a:noFill/>
          <a:ln/>
        </p:spPr>
        <p:txBody>
          <a:bodyPr wrap="square" rtlCol="0" anchor="ctr"/>
          <a:lstStyle/>
          <a:p>
            <a:pPr indent="0" marL="0">
              <a:buNone/>
            </a:pPr>
            <a:r>
              <a:rPr lang="en-US" sz="1400" b="1" dirty="0">
                <a:solidFill>
                  <a:srgbClr val="E08A2B"/>
                </a:solidFill>
                <a:latin typeface="Calibri" pitchFamily="34" charset="0"/>
                <a:ea typeface="Calibri" pitchFamily="34" charset="-122"/>
                <a:cs typeface="Calibri" pitchFamily="34" charset="-120"/>
              </a:rPr>
              <a:t>⇒  </a:t>
            </a:r>
            <a:pPr indent="0" marL="0">
              <a:buNone/>
            </a:pPr>
            <a:r>
              <a:rPr lang="en-US" sz="1400" b="1" dirty="0">
                <a:solidFill>
                  <a:srgbClr val="263947"/>
                </a:solidFill>
                <a:latin typeface="Calibri" pitchFamily="34" charset="0"/>
                <a:ea typeface="Calibri" pitchFamily="34" charset="-122"/>
                <a:cs typeface="Calibri" pitchFamily="34" charset="-120"/>
              </a:rPr>
              <a:t>Matrix engine + software-managed SRAM. Wins dense portfolios at owner scale (TPU, Trainium, MTIA).</a:t>
            </a:r>
            <a:endParaRPr lang="en-US" sz="1400" dirty="0"/>
          </a:p>
        </p:txBody>
      </p:sp>
      <p:sp>
        <p:nvSpPr>
          <p:cNvPr id="7" name="Text 4"/>
          <p:cNvSpPr/>
          <p:nvPr/>
        </p:nvSpPr>
        <p:spPr>
          <a:xfrm>
            <a:off x="457200" y="6473952"/>
            <a:ext cx="7315200" cy="274320"/>
          </a:xfrm>
          <a:prstGeom prst="rect">
            <a:avLst/>
          </a:prstGeom>
          <a:noFill/>
          <a:ln/>
        </p:spPr>
        <p:txBody>
          <a:bodyPr wrap="square" rtlCol="0" anchor="ctr"/>
          <a:lstStyle/>
          <a:p>
            <a:pPr indent="0" marL="0">
              <a:buNone/>
            </a:pPr>
            <a:r>
              <a:rPr lang="en-US" sz="900" dirty="0">
                <a:solidFill>
                  <a:srgbClr val="7C8B96"/>
                </a:solidFill>
                <a:latin typeface="Calibri" pitchFamily="34" charset="0"/>
                <a:ea typeface="Calibri" pitchFamily="34" charset="-122"/>
                <a:cs typeface="Calibri" pitchFamily="34" charset="-120"/>
              </a:rPr>
              <a:t>Beyond the GPU — 2-hour lecture</a:t>
            </a:r>
            <a:endParaRPr lang="en-US" sz="900" dirty="0"/>
          </a:p>
        </p:txBody>
      </p:sp>
      <p:sp>
        <p:nvSpPr>
          <p:cNvPr id="8" name="Text 5"/>
          <p:cNvSpPr/>
          <p:nvPr/>
        </p:nvSpPr>
        <p:spPr>
          <a:xfrm>
            <a:off x="11277295" y="6473952"/>
            <a:ext cx="457200" cy="274320"/>
          </a:xfrm>
          <a:prstGeom prst="rect">
            <a:avLst/>
          </a:prstGeom>
          <a:noFill/>
          <a:ln/>
        </p:spPr>
        <p:txBody>
          <a:bodyPr wrap="square" rtlCol="0" anchor="ctr"/>
          <a:lstStyle/>
          <a:p>
            <a:pPr algn="r" indent="0" marL="0">
              <a:buNone/>
            </a:pPr>
            <a:r>
              <a:rPr lang="en-US" sz="900" dirty="0">
                <a:solidFill>
                  <a:srgbClr val="7C8B96"/>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10896"/>
            <a:ext cx="10058400" cy="274320"/>
          </a:xfrm>
          <a:prstGeom prst="rect">
            <a:avLst/>
          </a:prstGeom>
          <a:noFill/>
          <a:ln/>
        </p:spPr>
        <p:txBody>
          <a:bodyPr wrap="square" rtlCol="0" anchor="ctr"/>
          <a:lstStyle/>
          <a:p>
            <a:pPr indent="0" marL="0">
              <a:buNone/>
            </a:pPr>
            <a:r>
              <a:rPr lang="en-US" sz="1200" b="1" spc="200" kern="0" dirty="0">
                <a:solidFill>
                  <a:srgbClr val="0E8C9B"/>
                </a:solidFill>
                <a:latin typeface="Calibri" pitchFamily="34" charset="0"/>
                <a:ea typeface="Calibri" pitchFamily="34" charset="-122"/>
                <a:cs typeface="Calibri" pitchFamily="34" charset="-120"/>
              </a:rPr>
              <a:t>FAMILY</a:t>
            </a:r>
            <a:endParaRPr lang="en-US" sz="1200" dirty="0"/>
          </a:p>
        </p:txBody>
      </p:sp>
      <p:sp>
        <p:nvSpPr>
          <p:cNvPr id="3" name="Text 1"/>
          <p:cNvSpPr/>
          <p:nvPr/>
        </p:nvSpPr>
        <p:spPr>
          <a:xfrm>
            <a:off x="457200" y="548640"/>
            <a:ext cx="11247120" cy="822960"/>
          </a:xfrm>
          <a:prstGeom prst="rect">
            <a:avLst/>
          </a:prstGeom>
          <a:noFill/>
          <a:ln/>
        </p:spPr>
        <p:txBody>
          <a:bodyPr wrap="square" rtlCol="0" anchor="ctr"/>
          <a:lstStyle/>
          <a:p>
            <a:pPr indent="0" marL="0">
              <a:buNone/>
            </a:pPr>
            <a:r>
              <a:rPr lang="en-US" sz="3000" b="1" dirty="0">
                <a:solidFill>
                  <a:srgbClr val="263947"/>
                </a:solidFill>
                <a:latin typeface="Cambria" pitchFamily="34" charset="0"/>
                <a:ea typeface="Cambria" pitchFamily="34" charset="-122"/>
                <a:cs typeface="Cambria" pitchFamily="34" charset="-120"/>
              </a:rPr>
              <a:t>Deterministic dataflow / tile processors</a:t>
            </a:r>
            <a:endParaRPr lang="en-US" sz="3000" dirty="0"/>
          </a:p>
        </p:txBody>
      </p:sp>
      <p:pic>
        <p:nvPicPr>
          <p:cNvPr id="4" name="Image 0" descr="/sessions/compassionate-blissful-planck/mnt/outputs/deck_assets/dataflow_timeline.png">    </p:cNvPr>
          <p:cNvPicPr>
            <a:picLocks noChangeAspect="1"/>
          </p:cNvPicPr>
          <p:nvPr/>
        </p:nvPicPr>
        <p:blipFill>
          <a:blip r:embed="rId1"/>
          <a:srcRect l="-78049" r="-78049" t="0" b="0"/>
          <a:stretch/>
        </p:blipFill>
        <p:spPr>
          <a:xfrm>
            <a:off x="1280160" y="1554480"/>
            <a:ext cx="9601200" cy="3749040"/>
          </a:xfrm>
          <a:prstGeom prst="rect">
            <a:avLst/>
          </a:prstGeom>
        </p:spPr>
      </p:pic>
      <p:sp>
        <p:nvSpPr>
          <p:cNvPr id="5" name="Shape 2"/>
          <p:cNvSpPr/>
          <p:nvPr/>
        </p:nvSpPr>
        <p:spPr>
          <a:xfrm>
            <a:off x="457200" y="5715000"/>
            <a:ext cx="11274552" cy="566928"/>
          </a:xfrm>
          <a:prstGeom prst="roundRect">
            <a:avLst>
              <a:gd name="adj" fmla="val 9677"/>
            </a:avLst>
          </a:prstGeom>
          <a:solidFill>
            <a:srgbClr val="F4F7F8"/>
          </a:solidFill>
          <a:ln w="12700">
            <a:solidFill>
              <a:srgbClr val="E7ECEF"/>
            </a:solidFill>
            <a:prstDash val="solid"/>
          </a:ln>
        </p:spPr>
      </p:sp>
      <p:sp>
        <p:nvSpPr>
          <p:cNvPr id="6" name="Text 3"/>
          <p:cNvSpPr/>
          <p:nvPr/>
        </p:nvSpPr>
        <p:spPr>
          <a:xfrm>
            <a:off x="731520" y="5715000"/>
            <a:ext cx="10789920" cy="566928"/>
          </a:xfrm>
          <a:prstGeom prst="rect">
            <a:avLst/>
          </a:prstGeom>
          <a:noFill/>
          <a:ln/>
        </p:spPr>
        <p:txBody>
          <a:bodyPr wrap="square" rtlCol="0" anchor="ctr"/>
          <a:lstStyle/>
          <a:p>
            <a:pPr indent="0" marL="0">
              <a:buNone/>
            </a:pPr>
            <a:r>
              <a:rPr lang="en-US" sz="1400" b="1" dirty="0">
                <a:solidFill>
                  <a:srgbClr val="E08A2B"/>
                </a:solidFill>
                <a:latin typeface="Calibri" pitchFamily="34" charset="0"/>
                <a:ea typeface="Calibri" pitchFamily="34" charset="-122"/>
                <a:cs typeface="Calibri" pitchFamily="34" charset="-120"/>
              </a:rPr>
              <a:t>⇒  </a:t>
            </a:r>
            <a:pPr indent="0" marL="0">
              <a:buNone/>
            </a:pPr>
            <a:r>
              <a:rPr lang="en-US" sz="1400" b="1" dirty="0">
                <a:solidFill>
                  <a:srgbClr val="263947"/>
                </a:solidFill>
                <a:latin typeface="Calibri" pitchFamily="34" charset="0"/>
                <a:ea typeface="Calibri" pitchFamily="34" charset="-122"/>
                <a:cs typeface="Calibri" pitchFamily="34" charset="-120"/>
              </a:rPr>
              <a:t>Schedule fixed at compile time → zero variance. Bids for latency-bounded decode and reproducible execution (Groq).</a:t>
            </a:r>
            <a:endParaRPr lang="en-US" sz="1400" dirty="0"/>
          </a:p>
        </p:txBody>
      </p:sp>
      <p:sp>
        <p:nvSpPr>
          <p:cNvPr id="7" name="Text 4"/>
          <p:cNvSpPr/>
          <p:nvPr/>
        </p:nvSpPr>
        <p:spPr>
          <a:xfrm>
            <a:off x="457200" y="6473952"/>
            <a:ext cx="7315200" cy="274320"/>
          </a:xfrm>
          <a:prstGeom prst="rect">
            <a:avLst/>
          </a:prstGeom>
          <a:noFill/>
          <a:ln/>
        </p:spPr>
        <p:txBody>
          <a:bodyPr wrap="square" rtlCol="0" anchor="ctr"/>
          <a:lstStyle/>
          <a:p>
            <a:pPr indent="0" marL="0">
              <a:buNone/>
            </a:pPr>
            <a:r>
              <a:rPr lang="en-US" sz="900" dirty="0">
                <a:solidFill>
                  <a:srgbClr val="7C8B96"/>
                </a:solidFill>
                <a:latin typeface="Calibri" pitchFamily="34" charset="0"/>
                <a:ea typeface="Calibri" pitchFamily="34" charset="-122"/>
                <a:cs typeface="Calibri" pitchFamily="34" charset="-120"/>
              </a:rPr>
              <a:t>Beyond the GPU — 2-hour lecture</a:t>
            </a:r>
            <a:endParaRPr lang="en-US" sz="900" dirty="0"/>
          </a:p>
        </p:txBody>
      </p:sp>
      <p:sp>
        <p:nvSpPr>
          <p:cNvPr id="8" name="Text 5"/>
          <p:cNvSpPr/>
          <p:nvPr/>
        </p:nvSpPr>
        <p:spPr>
          <a:xfrm>
            <a:off x="11277295" y="6473952"/>
            <a:ext cx="457200" cy="274320"/>
          </a:xfrm>
          <a:prstGeom prst="rect">
            <a:avLst/>
          </a:prstGeom>
          <a:noFill/>
          <a:ln/>
        </p:spPr>
        <p:txBody>
          <a:bodyPr wrap="square" rtlCol="0" anchor="ctr"/>
          <a:lstStyle/>
          <a:p>
            <a:pPr algn="r" indent="0" marL="0">
              <a:buNone/>
            </a:pPr>
            <a:r>
              <a:rPr lang="en-US" sz="900" dirty="0">
                <a:solidFill>
                  <a:srgbClr val="7C8B96"/>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10896"/>
            <a:ext cx="10058400" cy="274320"/>
          </a:xfrm>
          <a:prstGeom prst="rect">
            <a:avLst/>
          </a:prstGeom>
          <a:noFill/>
          <a:ln/>
        </p:spPr>
        <p:txBody>
          <a:bodyPr wrap="square" rtlCol="0" anchor="ctr"/>
          <a:lstStyle/>
          <a:p>
            <a:pPr indent="0" marL="0">
              <a:buNone/>
            </a:pPr>
            <a:r>
              <a:rPr lang="en-US" sz="1200" b="1" spc="200" kern="0" dirty="0">
                <a:solidFill>
                  <a:srgbClr val="0E8C9B"/>
                </a:solidFill>
                <a:latin typeface="Calibri" pitchFamily="34" charset="0"/>
                <a:ea typeface="Calibri" pitchFamily="34" charset="-122"/>
                <a:cs typeface="Calibri" pitchFamily="34" charset="-120"/>
              </a:rPr>
              <a:t>FAMILY</a:t>
            </a:r>
            <a:endParaRPr lang="en-US" sz="1200" dirty="0"/>
          </a:p>
        </p:txBody>
      </p:sp>
      <p:sp>
        <p:nvSpPr>
          <p:cNvPr id="3" name="Text 1"/>
          <p:cNvSpPr/>
          <p:nvPr/>
        </p:nvSpPr>
        <p:spPr>
          <a:xfrm>
            <a:off x="457200" y="548640"/>
            <a:ext cx="11247120" cy="822960"/>
          </a:xfrm>
          <a:prstGeom prst="rect">
            <a:avLst/>
          </a:prstGeom>
          <a:noFill/>
          <a:ln/>
        </p:spPr>
        <p:txBody>
          <a:bodyPr wrap="square" rtlCol="0" anchor="ctr"/>
          <a:lstStyle/>
          <a:p>
            <a:pPr indent="0" marL="0">
              <a:buNone/>
            </a:pPr>
            <a:r>
              <a:rPr lang="en-US" sz="3000" b="1" dirty="0">
                <a:solidFill>
                  <a:srgbClr val="263947"/>
                </a:solidFill>
                <a:latin typeface="Cambria" pitchFamily="34" charset="0"/>
                <a:ea typeface="Cambria" pitchFamily="34" charset="-122"/>
                <a:cs typeface="Cambria" pitchFamily="34" charset="-120"/>
              </a:rPr>
              <a:t>NPUs are the client's standard low-power AI block</a:t>
            </a:r>
            <a:endParaRPr lang="en-US" sz="3000" dirty="0"/>
          </a:p>
        </p:txBody>
      </p:sp>
      <p:pic>
        <p:nvPicPr>
          <p:cNvPr id="4" name="Image 0" descr="/sessions/compassionate-blissful-planck/mnt/outputs/deck_assets/npu_domains.png">    </p:cNvPr>
          <p:cNvPicPr>
            <a:picLocks noChangeAspect="1"/>
          </p:cNvPicPr>
          <p:nvPr/>
        </p:nvPicPr>
        <p:blipFill>
          <a:blip r:embed="rId1"/>
          <a:srcRect l="-45238" r="-45238" t="0" b="0"/>
          <a:stretch/>
        </p:blipFill>
        <p:spPr>
          <a:xfrm>
            <a:off x="457200" y="1554480"/>
            <a:ext cx="7315200" cy="3840480"/>
          </a:xfrm>
          <a:prstGeom prst="rect">
            <a:avLst/>
          </a:prstGeom>
        </p:spPr>
      </p:pic>
      <p:sp>
        <p:nvSpPr>
          <p:cNvPr id="5" name="Shape 2"/>
          <p:cNvSpPr/>
          <p:nvPr/>
        </p:nvSpPr>
        <p:spPr>
          <a:xfrm>
            <a:off x="8138160" y="1847088"/>
            <a:ext cx="109728" cy="109728"/>
          </a:xfrm>
          <a:prstGeom prst="rect">
            <a:avLst/>
          </a:prstGeom>
          <a:solidFill>
            <a:srgbClr val="E08A2B"/>
          </a:solidFill>
          <a:ln/>
        </p:spPr>
      </p:sp>
      <p:sp>
        <p:nvSpPr>
          <p:cNvPr id="6" name="Text 3"/>
          <p:cNvSpPr/>
          <p:nvPr/>
        </p:nvSpPr>
        <p:spPr>
          <a:xfrm>
            <a:off x="8366760" y="1673352"/>
            <a:ext cx="3291840" cy="731520"/>
          </a:xfrm>
          <a:prstGeom prst="rect">
            <a:avLst/>
          </a:prstGeom>
          <a:noFill/>
          <a:ln/>
        </p:spPr>
        <p:txBody>
          <a:bodyPr wrap="square" rtlCol="0" anchor="t"/>
          <a:lstStyle/>
          <a:p>
            <a:pPr indent="0" marL="0">
              <a:buNone/>
            </a:pPr>
            <a:r>
              <a:rPr lang="en-US" sz="1300" dirty="0">
                <a:solidFill>
                  <a:srgbClr val="263947"/>
                </a:solidFill>
                <a:latin typeface="Calibri" pitchFamily="34" charset="0"/>
                <a:ea typeface="Calibri" pitchFamily="34" charset="-122"/>
                <a:cs typeface="Calibri" pitchFamily="34" charset="-120"/>
              </a:rPr>
              <a:t>Universal in client SoCs (≥40 TOPS floor).</a:t>
            </a:r>
            <a:endParaRPr lang="en-US" sz="1300" dirty="0"/>
          </a:p>
        </p:txBody>
      </p:sp>
      <p:sp>
        <p:nvSpPr>
          <p:cNvPr id="7" name="Shape 4"/>
          <p:cNvSpPr/>
          <p:nvPr/>
        </p:nvSpPr>
        <p:spPr>
          <a:xfrm>
            <a:off x="8138160" y="2596896"/>
            <a:ext cx="109728" cy="109728"/>
          </a:xfrm>
          <a:prstGeom prst="rect">
            <a:avLst/>
          </a:prstGeom>
          <a:solidFill>
            <a:srgbClr val="E08A2B"/>
          </a:solidFill>
          <a:ln/>
        </p:spPr>
      </p:sp>
      <p:sp>
        <p:nvSpPr>
          <p:cNvPr id="8" name="Text 5"/>
          <p:cNvSpPr/>
          <p:nvPr/>
        </p:nvSpPr>
        <p:spPr>
          <a:xfrm>
            <a:off x="8366760" y="2423160"/>
            <a:ext cx="3291840" cy="731520"/>
          </a:xfrm>
          <a:prstGeom prst="rect">
            <a:avLst/>
          </a:prstGeom>
          <a:noFill/>
          <a:ln/>
        </p:spPr>
        <p:txBody>
          <a:bodyPr wrap="square" rtlCol="0" anchor="t"/>
          <a:lstStyle/>
          <a:p>
            <a:pPr indent="0" marL="0">
              <a:buNone/>
            </a:pPr>
            <a:r>
              <a:rPr lang="en-US" sz="1300" dirty="0">
                <a:solidFill>
                  <a:srgbClr val="263947"/>
                </a:solidFill>
                <a:latin typeface="Calibri" pitchFamily="34" charset="0"/>
                <a:ea typeface="Calibri" pitchFamily="34" charset="-122"/>
                <a:cs typeface="Calibri" pitchFamily="34" charset="-120"/>
              </a:rPr>
              <a:t>Power-domain-first; sustained/ambient work.</a:t>
            </a:r>
            <a:endParaRPr lang="en-US" sz="1300" dirty="0"/>
          </a:p>
        </p:txBody>
      </p:sp>
      <p:sp>
        <p:nvSpPr>
          <p:cNvPr id="9" name="Shape 6"/>
          <p:cNvSpPr/>
          <p:nvPr/>
        </p:nvSpPr>
        <p:spPr>
          <a:xfrm>
            <a:off x="8138160" y="3346704"/>
            <a:ext cx="109728" cy="109728"/>
          </a:xfrm>
          <a:prstGeom prst="rect">
            <a:avLst/>
          </a:prstGeom>
          <a:solidFill>
            <a:srgbClr val="E08A2B"/>
          </a:solidFill>
          <a:ln/>
        </p:spPr>
      </p:sp>
      <p:sp>
        <p:nvSpPr>
          <p:cNvPr id="10" name="Text 7"/>
          <p:cNvSpPr/>
          <p:nvPr/>
        </p:nvSpPr>
        <p:spPr>
          <a:xfrm>
            <a:off x="8366760" y="3172968"/>
            <a:ext cx="3291840" cy="731520"/>
          </a:xfrm>
          <a:prstGeom prst="rect">
            <a:avLst/>
          </a:prstGeom>
          <a:noFill/>
          <a:ln/>
        </p:spPr>
        <p:txBody>
          <a:bodyPr wrap="square" rtlCol="0" anchor="t"/>
          <a:lstStyle/>
          <a:p>
            <a:pPr indent="0" marL="0">
              <a:buNone/>
            </a:pPr>
            <a:r>
              <a:rPr lang="en-US" sz="1300" dirty="0">
                <a:solidFill>
                  <a:srgbClr val="263947"/>
                </a:solidFill>
                <a:latin typeface="Calibri" pitchFamily="34" charset="0"/>
                <a:ea typeface="Calibri" pitchFamily="34" charset="-122"/>
                <a:cs typeface="Calibri" pitchFamily="34" charset="-120"/>
              </a:rPr>
              <a:t>Heavy generative inference still runs on the GPU.</a:t>
            </a:r>
            <a:endParaRPr lang="en-US" sz="1300" dirty="0"/>
          </a:p>
        </p:txBody>
      </p:sp>
      <p:sp>
        <p:nvSpPr>
          <p:cNvPr id="11" name="Shape 8"/>
          <p:cNvSpPr/>
          <p:nvPr/>
        </p:nvSpPr>
        <p:spPr>
          <a:xfrm>
            <a:off x="8138160" y="4096512"/>
            <a:ext cx="109728" cy="109728"/>
          </a:xfrm>
          <a:prstGeom prst="rect">
            <a:avLst/>
          </a:prstGeom>
          <a:solidFill>
            <a:srgbClr val="E08A2B"/>
          </a:solidFill>
          <a:ln/>
        </p:spPr>
      </p:sp>
      <p:sp>
        <p:nvSpPr>
          <p:cNvPr id="12" name="Text 9"/>
          <p:cNvSpPr/>
          <p:nvPr/>
        </p:nvSpPr>
        <p:spPr>
          <a:xfrm>
            <a:off x="8366760" y="3922776"/>
            <a:ext cx="3291840" cy="731520"/>
          </a:xfrm>
          <a:prstGeom prst="rect">
            <a:avLst/>
          </a:prstGeom>
          <a:noFill/>
          <a:ln/>
        </p:spPr>
        <p:txBody>
          <a:bodyPr wrap="square" rtlCol="0" anchor="t"/>
          <a:lstStyle/>
          <a:p>
            <a:pPr indent="0" marL="0">
              <a:buNone/>
            </a:pPr>
            <a:r>
              <a:rPr lang="en-US" sz="1300" dirty="0">
                <a:solidFill>
                  <a:srgbClr val="263947"/>
                </a:solidFill>
                <a:latin typeface="Calibri" pitchFamily="34" charset="0"/>
                <a:ea typeface="Calibri" pitchFamily="34" charset="-122"/>
                <a:cs typeface="Calibri" pitchFamily="34" charset="-120"/>
              </a:rPr>
              <a:t>Coverage, not TOPS, decides value.</a:t>
            </a:r>
            <a:endParaRPr lang="en-US" sz="1300" dirty="0"/>
          </a:p>
        </p:txBody>
      </p:sp>
      <p:sp>
        <p:nvSpPr>
          <p:cNvPr id="13" name="Shape 10"/>
          <p:cNvSpPr/>
          <p:nvPr/>
        </p:nvSpPr>
        <p:spPr>
          <a:xfrm>
            <a:off x="457200" y="5715000"/>
            <a:ext cx="11274552" cy="566928"/>
          </a:xfrm>
          <a:prstGeom prst="roundRect">
            <a:avLst>
              <a:gd name="adj" fmla="val 9677"/>
            </a:avLst>
          </a:prstGeom>
          <a:solidFill>
            <a:srgbClr val="F4F7F8"/>
          </a:solidFill>
          <a:ln w="12700">
            <a:solidFill>
              <a:srgbClr val="E7ECEF"/>
            </a:solidFill>
            <a:prstDash val="solid"/>
          </a:ln>
        </p:spPr>
      </p:sp>
      <p:sp>
        <p:nvSpPr>
          <p:cNvPr id="14" name="Text 11"/>
          <p:cNvSpPr/>
          <p:nvPr/>
        </p:nvSpPr>
        <p:spPr>
          <a:xfrm>
            <a:off x="731520" y="5715000"/>
            <a:ext cx="10789920" cy="566928"/>
          </a:xfrm>
          <a:prstGeom prst="rect">
            <a:avLst/>
          </a:prstGeom>
          <a:noFill/>
          <a:ln/>
        </p:spPr>
        <p:txBody>
          <a:bodyPr wrap="square" rtlCol="0" anchor="ctr"/>
          <a:lstStyle/>
          <a:p>
            <a:pPr indent="0" marL="0">
              <a:buNone/>
            </a:pPr>
            <a:r>
              <a:rPr lang="en-US" sz="1400" b="1" dirty="0">
                <a:solidFill>
                  <a:srgbClr val="E08A2B"/>
                </a:solidFill>
                <a:latin typeface="Calibri" pitchFamily="34" charset="0"/>
                <a:ea typeface="Calibri" pitchFamily="34" charset="-122"/>
                <a:cs typeface="Calibri" pitchFamily="34" charset="-120"/>
              </a:rPr>
              <a:t>⇒  </a:t>
            </a:r>
            <a:pPr indent="0" marL="0">
              <a:buNone/>
            </a:pPr>
            <a:r>
              <a:rPr lang="en-US" sz="1400" b="1" dirty="0">
                <a:solidFill>
                  <a:srgbClr val="263947"/>
                </a:solidFill>
                <a:latin typeface="Calibri" pitchFamily="34" charset="0"/>
                <a:ea typeface="Calibri" pitchFamily="34" charset="-122"/>
                <a:cs typeface="Calibri" pitchFamily="34" charset="-120"/>
              </a:rPr>
              <a:t>Structural claim: wake-scope energy + cost floors sit outside the GPU contract, so the edge is where specialization is safest — not that NPUs win the client outright.</a:t>
            </a:r>
            <a:endParaRPr lang="en-US" sz="1400" dirty="0"/>
          </a:p>
        </p:txBody>
      </p:sp>
      <p:sp>
        <p:nvSpPr>
          <p:cNvPr id="15" name="Text 12"/>
          <p:cNvSpPr/>
          <p:nvPr/>
        </p:nvSpPr>
        <p:spPr>
          <a:xfrm>
            <a:off x="457200" y="6473952"/>
            <a:ext cx="7315200" cy="274320"/>
          </a:xfrm>
          <a:prstGeom prst="rect">
            <a:avLst/>
          </a:prstGeom>
          <a:noFill/>
          <a:ln/>
        </p:spPr>
        <p:txBody>
          <a:bodyPr wrap="square" rtlCol="0" anchor="ctr"/>
          <a:lstStyle/>
          <a:p>
            <a:pPr indent="0" marL="0">
              <a:buNone/>
            </a:pPr>
            <a:r>
              <a:rPr lang="en-US" sz="900" dirty="0">
                <a:solidFill>
                  <a:srgbClr val="7C8B96"/>
                </a:solidFill>
                <a:latin typeface="Calibri" pitchFamily="34" charset="0"/>
                <a:ea typeface="Calibri" pitchFamily="34" charset="-122"/>
                <a:cs typeface="Calibri" pitchFamily="34" charset="-120"/>
              </a:rPr>
              <a:t>Beyond the GPU — 2-hour lecture</a:t>
            </a:r>
            <a:endParaRPr lang="en-US" sz="900" dirty="0"/>
          </a:p>
        </p:txBody>
      </p:sp>
      <p:sp>
        <p:nvSpPr>
          <p:cNvPr id="16" name="Text 13"/>
          <p:cNvSpPr/>
          <p:nvPr/>
        </p:nvSpPr>
        <p:spPr>
          <a:xfrm>
            <a:off x="11277295" y="6473952"/>
            <a:ext cx="457200" cy="274320"/>
          </a:xfrm>
          <a:prstGeom prst="rect">
            <a:avLst/>
          </a:prstGeom>
          <a:noFill/>
          <a:ln/>
        </p:spPr>
        <p:txBody>
          <a:bodyPr wrap="square" rtlCol="0" anchor="ctr"/>
          <a:lstStyle/>
          <a:p>
            <a:pPr algn="r" indent="0" marL="0">
              <a:buNone/>
            </a:pPr>
            <a:r>
              <a:rPr lang="en-US" sz="900" dirty="0">
                <a:solidFill>
                  <a:srgbClr val="7C8B96"/>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10896"/>
            <a:ext cx="10058400" cy="274320"/>
          </a:xfrm>
          <a:prstGeom prst="rect">
            <a:avLst/>
          </a:prstGeom>
          <a:noFill/>
          <a:ln/>
        </p:spPr>
        <p:txBody>
          <a:bodyPr wrap="square" rtlCol="0" anchor="ctr"/>
          <a:lstStyle/>
          <a:p>
            <a:pPr indent="0" marL="0">
              <a:buNone/>
            </a:pPr>
            <a:r>
              <a:rPr lang="en-US" sz="1200" b="1" spc="200" kern="0" dirty="0">
                <a:solidFill>
                  <a:srgbClr val="0E8C9B"/>
                </a:solidFill>
                <a:latin typeface="Calibri" pitchFamily="34" charset="0"/>
                <a:ea typeface="Calibri" pitchFamily="34" charset="-122"/>
                <a:cs typeface="Calibri" pitchFamily="34" charset="-120"/>
              </a:rPr>
              <a:t>FAMILY</a:t>
            </a:r>
            <a:endParaRPr lang="en-US" sz="1200" dirty="0"/>
          </a:p>
        </p:txBody>
      </p:sp>
      <p:sp>
        <p:nvSpPr>
          <p:cNvPr id="3" name="Text 1"/>
          <p:cNvSpPr/>
          <p:nvPr/>
        </p:nvSpPr>
        <p:spPr>
          <a:xfrm>
            <a:off x="457200" y="548640"/>
            <a:ext cx="11247120" cy="822960"/>
          </a:xfrm>
          <a:prstGeom prst="rect">
            <a:avLst/>
          </a:prstGeom>
          <a:noFill/>
          <a:ln/>
        </p:spPr>
        <p:txBody>
          <a:bodyPr wrap="square" rtlCol="0" anchor="ctr"/>
          <a:lstStyle/>
          <a:p>
            <a:pPr indent="0" marL="0">
              <a:buNone/>
            </a:pPr>
            <a:r>
              <a:rPr lang="en-US" sz="3000" b="1" dirty="0">
                <a:solidFill>
                  <a:srgbClr val="263947"/>
                </a:solidFill>
                <a:latin typeface="Cambria" pitchFamily="34" charset="0"/>
                <a:ea typeface="Cambria" pitchFamily="34" charset="-122"/>
                <a:cs typeface="Cambria" pitchFamily="34" charset="-120"/>
              </a:rPr>
              <a:t>FPGAs: flexibility after manufacturing</a:t>
            </a:r>
            <a:endParaRPr lang="en-US" sz="3000" dirty="0"/>
          </a:p>
        </p:txBody>
      </p:sp>
      <p:pic>
        <p:nvPicPr>
          <p:cNvPr id="4" name="Image 0" descr="/sessions/compassionate-blissful-planck/mnt/outputs/deck_assets/fpga_speeds.png">    </p:cNvPr>
          <p:cNvPicPr>
            <a:picLocks noChangeAspect="1"/>
          </p:cNvPicPr>
          <p:nvPr/>
        </p:nvPicPr>
        <p:blipFill>
          <a:blip r:embed="rId1"/>
          <a:srcRect l="-78049" r="-78049" t="0" b="0"/>
          <a:stretch/>
        </p:blipFill>
        <p:spPr>
          <a:xfrm>
            <a:off x="1280160" y="1554480"/>
            <a:ext cx="9601200" cy="3749040"/>
          </a:xfrm>
          <a:prstGeom prst="rect">
            <a:avLst/>
          </a:prstGeom>
        </p:spPr>
      </p:pic>
      <p:sp>
        <p:nvSpPr>
          <p:cNvPr id="5" name="Shape 2"/>
          <p:cNvSpPr/>
          <p:nvPr/>
        </p:nvSpPr>
        <p:spPr>
          <a:xfrm>
            <a:off x="457200" y="5715000"/>
            <a:ext cx="11274552" cy="566928"/>
          </a:xfrm>
          <a:prstGeom prst="roundRect">
            <a:avLst>
              <a:gd name="adj" fmla="val 9677"/>
            </a:avLst>
          </a:prstGeom>
          <a:solidFill>
            <a:srgbClr val="F4F7F8"/>
          </a:solidFill>
          <a:ln w="12700">
            <a:solidFill>
              <a:srgbClr val="E7ECEF"/>
            </a:solidFill>
            <a:prstDash val="solid"/>
          </a:ln>
        </p:spPr>
      </p:sp>
      <p:sp>
        <p:nvSpPr>
          <p:cNvPr id="6" name="Text 3"/>
          <p:cNvSpPr/>
          <p:nvPr/>
        </p:nvSpPr>
        <p:spPr>
          <a:xfrm>
            <a:off x="731520" y="5715000"/>
            <a:ext cx="10789920" cy="566928"/>
          </a:xfrm>
          <a:prstGeom prst="rect">
            <a:avLst/>
          </a:prstGeom>
          <a:noFill/>
          <a:ln/>
        </p:spPr>
        <p:txBody>
          <a:bodyPr wrap="square" rtlCol="0" anchor="ctr"/>
          <a:lstStyle/>
          <a:p>
            <a:pPr indent="0" marL="0">
              <a:buNone/>
            </a:pPr>
            <a:r>
              <a:rPr lang="en-US" sz="1400" b="1" dirty="0">
                <a:solidFill>
                  <a:srgbClr val="E08A2B"/>
                </a:solidFill>
                <a:latin typeface="Calibri" pitchFamily="34" charset="0"/>
                <a:ea typeface="Calibri" pitchFamily="34" charset="-122"/>
                <a:cs typeface="Calibri" pitchFamily="34" charset="-120"/>
              </a:rPr>
              <a:t>⇒  </a:t>
            </a:r>
            <a:pPr indent="0" marL="0">
              <a:buNone/>
            </a:pPr>
            <a:r>
              <a:rPr lang="en-US" sz="1400" b="1" dirty="0">
                <a:solidFill>
                  <a:srgbClr val="263947"/>
                </a:solidFill>
                <a:latin typeface="Calibri" pitchFamily="34" charset="0"/>
                <a:ea typeface="Calibri" pitchFamily="34" charset="-122"/>
                <a:cs typeface="Calibri" pitchFamily="34" charset="-120"/>
              </a:rPr>
              <a:t>Two compilation speeds. Wins where post-manufacture structure is the requirement; elsewhere a staging tier to ASIC.</a:t>
            </a:r>
            <a:endParaRPr lang="en-US" sz="1400" dirty="0"/>
          </a:p>
        </p:txBody>
      </p:sp>
      <p:sp>
        <p:nvSpPr>
          <p:cNvPr id="7" name="Text 4"/>
          <p:cNvSpPr/>
          <p:nvPr/>
        </p:nvSpPr>
        <p:spPr>
          <a:xfrm>
            <a:off x="457200" y="6473952"/>
            <a:ext cx="7315200" cy="274320"/>
          </a:xfrm>
          <a:prstGeom prst="rect">
            <a:avLst/>
          </a:prstGeom>
          <a:noFill/>
          <a:ln/>
        </p:spPr>
        <p:txBody>
          <a:bodyPr wrap="square" rtlCol="0" anchor="ctr"/>
          <a:lstStyle/>
          <a:p>
            <a:pPr indent="0" marL="0">
              <a:buNone/>
            </a:pPr>
            <a:r>
              <a:rPr lang="en-US" sz="900" dirty="0">
                <a:solidFill>
                  <a:srgbClr val="7C8B96"/>
                </a:solidFill>
                <a:latin typeface="Calibri" pitchFamily="34" charset="0"/>
                <a:ea typeface="Calibri" pitchFamily="34" charset="-122"/>
                <a:cs typeface="Calibri" pitchFamily="34" charset="-120"/>
              </a:rPr>
              <a:t>Beyond the GPU — 2-hour lecture</a:t>
            </a:r>
            <a:endParaRPr lang="en-US" sz="900" dirty="0"/>
          </a:p>
        </p:txBody>
      </p:sp>
      <p:sp>
        <p:nvSpPr>
          <p:cNvPr id="8" name="Text 5"/>
          <p:cNvSpPr/>
          <p:nvPr/>
        </p:nvSpPr>
        <p:spPr>
          <a:xfrm>
            <a:off x="11277295" y="6473952"/>
            <a:ext cx="457200" cy="274320"/>
          </a:xfrm>
          <a:prstGeom prst="rect">
            <a:avLst/>
          </a:prstGeom>
          <a:noFill/>
          <a:ln/>
        </p:spPr>
        <p:txBody>
          <a:bodyPr wrap="square" rtlCol="0" anchor="ctr"/>
          <a:lstStyle/>
          <a:p>
            <a:pPr algn="r" indent="0" marL="0">
              <a:buNone/>
            </a:pPr>
            <a:r>
              <a:rPr lang="en-US" sz="900" dirty="0">
                <a:solidFill>
                  <a:srgbClr val="7C8B96"/>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10896"/>
            <a:ext cx="10058400" cy="274320"/>
          </a:xfrm>
          <a:prstGeom prst="rect">
            <a:avLst/>
          </a:prstGeom>
          <a:noFill/>
          <a:ln/>
        </p:spPr>
        <p:txBody>
          <a:bodyPr wrap="square" rtlCol="0" anchor="ctr"/>
          <a:lstStyle/>
          <a:p>
            <a:pPr indent="0" marL="0">
              <a:buNone/>
            </a:pPr>
            <a:r>
              <a:rPr lang="en-US" sz="1200" b="1" spc="200" kern="0" dirty="0">
                <a:solidFill>
                  <a:srgbClr val="0E8C9B"/>
                </a:solidFill>
                <a:latin typeface="Calibri" pitchFamily="34" charset="0"/>
                <a:ea typeface="Calibri" pitchFamily="34" charset="-122"/>
                <a:cs typeface="Calibri" pitchFamily="34" charset="-120"/>
              </a:rPr>
              <a:t>FAMILY</a:t>
            </a:r>
            <a:endParaRPr lang="en-US" sz="1200" dirty="0"/>
          </a:p>
        </p:txBody>
      </p:sp>
      <p:sp>
        <p:nvSpPr>
          <p:cNvPr id="3" name="Text 1"/>
          <p:cNvSpPr/>
          <p:nvPr/>
        </p:nvSpPr>
        <p:spPr>
          <a:xfrm>
            <a:off x="457200" y="548640"/>
            <a:ext cx="11247120" cy="822960"/>
          </a:xfrm>
          <a:prstGeom prst="rect">
            <a:avLst/>
          </a:prstGeom>
          <a:noFill/>
          <a:ln/>
        </p:spPr>
        <p:txBody>
          <a:bodyPr wrap="square" rtlCol="0" anchor="ctr"/>
          <a:lstStyle/>
          <a:p>
            <a:pPr indent="0" marL="0">
              <a:buNone/>
            </a:pPr>
            <a:r>
              <a:rPr lang="en-US" sz="3000" b="1" dirty="0">
                <a:solidFill>
                  <a:srgbClr val="263947"/>
                </a:solidFill>
                <a:latin typeface="Cambria" pitchFamily="34" charset="0"/>
                <a:ea typeface="Cambria" pitchFamily="34" charset="-122"/>
                <a:cs typeface="Cambria" pitchFamily="34" charset="-120"/>
              </a:rPr>
              <a:t>Wafer-scale: state at SRAM distance</a:t>
            </a:r>
            <a:endParaRPr lang="en-US" sz="3000" dirty="0"/>
          </a:p>
        </p:txBody>
      </p:sp>
      <p:pic>
        <p:nvPicPr>
          <p:cNvPr id="4" name="Image 0" descr="/sessions/compassionate-blissful-planck/mnt/outputs/deck_assets/wafer.png">    </p:cNvPr>
          <p:cNvPicPr>
            <a:picLocks noChangeAspect="1"/>
          </p:cNvPicPr>
          <p:nvPr/>
        </p:nvPicPr>
        <p:blipFill>
          <a:blip r:embed="rId1"/>
          <a:srcRect l="-78049" r="-78049" t="0" b="0"/>
          <a:stretch/>
        </p:blipFill>
        <p:spPr>
          <a:xfrm>
            <a:off x="1280160" y="1554480"/>
            <a:ext cx="9601200" cy="3749040"/>
          </a:xfrm>
          <a:prstGeom prst="rect">
            <a:avLst/>
          </a:prstGeom>
        </p:spPr>
      </p:pic>
      <p:sp>
        <p:nvSpPr>
          <p:cNvPr id="5" name="Shape 2"/>
          <p:cNvSpPr/>
          <p:nvPr/>
        </p:nvSpPr>
        <p:spPr>
          <a:xfrm>
            <a:off x="457200" y="5715000"/>
            <a:ext cx="11274552" cy="566928"/>
          </a:xfrm>
          <a:prstGeom prst="roundRect">
            <a:avLst>
              <a:gd name="adj" fmla="val 9677"/>
            </a:avLst>
          </a:prstGeom>
          <a:solidFill>
            <a:srgbClr val="F4F7F8"/>
          </a:solidFill>
          <a:ln w="12700">
            <a:solidFill>
              <a:srgbClr val="E7ECEF"/>
            </a:solidFill>
            <a:prstDash val="solid"/>
          </a:ln>
        </p:spPr>
      </p:sp>
      <p:sp>
        <p:nvSpPr>
          <p:cNvPr id="6" name="Text 3"/>
          <p:cNvSpPr/>
          <p:nvPr/>
        </p:nvSpPr>
        <p:spPr>
          <a:xfrm>
            <a:off x="731520" y="5715000"/>
            <a:ext cx="10789920" cy="566928"/>
          </a:xfrm>
          <a:prstGeom prst="rect">
            <a:avLst/>
          </a:prstGeom>
          <a:noFill/>
          <a:ln/>
        </p:spPr>
        <p:txBody>
          <a:bodyPr wrap="square" rtlCol="0" anchor="ctr"/>
          <a:lstStyle/>
          <a:p>
            <a:pPr indent="0" marL="0">
              <a:buNone/>
            </a:pPr>
            <a:r>
              <a:rPr lang="en-US" sz="1400" b="1" dirty="0">
                <a:solidFill>
                  <a:srgbClr val="E08A2B"/>
                </a:solidFill>
                <a:latin typeface="Calibri" pitchFamily="34" charset="0"/>
                <a:ea typeface="Calibri" pitchFamily="34" charset="-122"/>
                <a:cs typeface="Calibri" pitchFamily="34" charset="-120"/>
              </a:rPr>
              <a:t>⇒  </a:t>
            </a:r>
            <a:pPr indent="0" marL="0">
              <a:buNone/>
            </a:pPr>
            <a:r>
              <a:rPr lang="en-US" sz="1400" b="1" dirty="0">
                <a:solidFill>
                  <a:srgbClr val="263947"/>
                </a:solidFill>
                <a:latin typeface="Calibri" pitchFamily="34" charset="0"/>
                <a:ea typeface="Calibri" pitchFamily="34" charset="-122"/>
                <a:cs typeface="Calibri" pitchFamily="34" charset="-120"/>
              </a:rPr>
              <a:t>Inter-chip communication becomes on-wafer routing; model-scale state stays close. Survives on anchor tenants.</a:t>
            </a:r>
            <a:endParaRPr lang="en-US" sz="1400" dirty="0"/>
          </a:p>
        </p:txBody>
      </p:sp>
      <p:sp>
        <p:nvSpPr>
          <p:cNvPr id="7" name="Text 4"/>
          <p:cNvSpPr/>
          <p:nvPr/>
        </p:nvSpPr>
        <p:spPr>
          <a:xfrm>
            <a:off x="457200" y="6473952"/>
            <a:ext cx="7315200" cy="274320"/>
          </a:xfrm>
          <a:prstGeom prst="rect">
            <a:avLst/>
          </a:prstGeom>
          <a:noFill/>
          <a:ln/>
        </p:spPr>
        <p:txBody>
          <a:bodyPr wrap="square" rtlCol="0" anchor="ctr"/>
          <a:lstStyle/>
          <a:p>
            <a:pPr indent="0" marL="0">
              <a:buNone/>
            </a:pPr>
            <a:r>
              <a:rPr lang="en-US" sz="900" dirty="0">
                <a:solidFill>
                  <a:srgbClr val="7C8B96"/>
                </a:solidFill>
                <a:latin typeface="Calibri" pitchFamily="34" charset="0"/>
                <a:ea typeface="Calibri" pitchFamily="34" charset="-122"/>
                <a:cs typeface="Calibri" pitchFamily="34" charset="-120"/>
              </a:rPr>
              <a:t>Beyond the GPU — 2-hour lecture</a:t>
            </a:r>
            <a:endParaRPr lang="en-US" sz="900" dirty="0"/>
          </a:p>
        </p:txBody>
      </p:sp>
      <p:sp>
        <p:nvSpPr>
          <p:cNvPr id="8" name="Text 5"/>
          <p:cNvSpPr/>
          <p:nvPr/>
        </p:nvSpPr>
        <p:spPr>
          <a:xfrm>
            <a:off x="11277295" y="6473952"/>
            <a:ext cx="457200" cy="274320"/>
          </a:xfrm>
          <a:prstGeom prst="rect">
            <a:avLst/>
          </a:prstGeom>
          <a:noFill/>
          <a:ln/>
        </p:spPr>
        <p:txBody>
          <a:bodyPr wrap="square" rtlCol="0" anchor="ctr"/>
          <a:lstStyle/>
          <a:p>
            <a:pPr algn="r" indent="0" marL="0">
              <a:buNone/>
            </a:pPr>
            <a:r>
              <a:rPr lang="en-US" sz="900" dirty="0">
                <a:solidFill>
                  <a:srgbClr val="7C8B96"/>
                </a:solidFill>
                <a:latin typeface="Calibri" pitchFamily="34" charset="0"/>
                <a:ea typeface="Calibri" pitchFamily="34" charset="-122"/>
                <a:cs typeface="Calibri"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10896"/>
            <a:ext cx="10058400" cy="274320"/>
          </a:xfrm>
          <a:prstGeom prst="rect">
            <a:avLst/>
          </a:prstGeom>
          <a:noFill/>
          <a:ln/>
        </p:spPr>
        <p:txBody>
          <a:bodyPr wrap="square" rtlCol="0" anchor="ctr"/>
          <a:lstStyle/>
          <a:p>
            <a:pPr indent="0" marL="0">
              <a:buNone/>
            </a:pPr>
            <a:r>
              <a:rPr lang="en-US" sz="1200" b="1" spc="200" kern="0" dirty="0">
                <a:solidFill>
                  <a:srgbClr val="0E8C9B"/>
                </a:solidFill>
                <a:latin typeface="Calibri" pitchFamily="34" charset="0"/>
                <a:ea typeface="Calibri" pitchFamily="34" charset="-122"/>
                <a:cs typeface="Calibri" pitchFamily="34" charset="-120"/>
              </a:rPr>
              <a:t>FAMILY</a:t>
            </a:r>
            <a:endParaRPr lang="en-US" sz="1200" dirty="0"/>
          </a:p>
        </p:txBody>
      </p:sp>
      <p:sp>
        <p:nvSpPr>
          <p:cNvPr id="3" name="Text 1"/>
          <p:cNvSpPr/>
          <p:nvPr/>
        </p:nvSpPr>
        <p:spPr>
          <a:xfrm>
            <a:off x="457200" y="548640"/>
            <a:ext cx="11247120" cy="822960"/>
          </a:xfrm>
          <a:prstGeom prst="rect">
            <a:avLst/>
          </a:prstGeom>
          <a:noFill/>
          <a:ln/>
        </p:spPr>
        <p:txBody>
          <a:bodyPr wrap="square" rtlCol="0" anchor="ctr"/>
          <a:lstStyle/>
          <a:p>
            <a:pPr indent="0" marL="0">
              <a:buNone/>
            </a:pPr>
            <a:r>
              <a:rPr lang="en-US" sz="3000" b="1" dirty="0">
                <a:solidFill>
                  <a:srgbClr val="263947"/>
                </a:solidFill>
                <a:latin typeface="Cambria" pitchFamily="34" charset="0"/>
                <a:ea typeface="Cambria" pitchFamily="34" charset="-122"/>
                <a:cs typeface="Cambria" pitchFamily="34" charset="-120"/>
              </a:rPr>
              <a:t>Memory-centric / processing-in-memory</a:t>
            </a:r>
            <a:endParaRPr lang="en-US" sz="3000" dirty="0"/>
          </a:p>
        </p:txBody>
      </p:sp>
      <p:pic>
        <p:nvPicPr>
          <p:cNvPr id="4" name="Image 0" descr="/sessions/compassionate-blissful-planck/mnt/outputs/deck_assets/pim_flavors.png">    </p:cNvPr>
          <p:cNvPicPr>
            <a:picLocks noChangeAspect="1"/>
          </p:cNvPicPr>
          <p:nvPr/>
        </p:nvPicPr>
        <p:blipFill>
          <a:blip r:embed="rId1"/>
          <a:srcRect l="-78049" r="-78049" t="0" b="0"/>
          <a:stretch/>
        </p:blipFill>
        <p:spPr>
          <a:xfrm>
            <a:off x="1280160" y="1554480"/>
            <a:ext cx="9601200" cy="3749040"/>
          </a:xfrm>
          <a:prstGeom prst="rect">
            <a:avLst/>
          </a:prstGeom>
        </p:spPr>
      </p:pic>
      <p:sp>
        <p:nvSpPr>
          <p:cNvPr id="5" name="Shape 2"/>
          <p:cNvSpPr/>
          <p:nvPr/>
        </p:nvSpPr>
        <p:spPr>
          <a:xfrm>
            <a:off x="457200" y="5715000"/>
            <a:ext cx="11274552" cy="566928"/>
          </a:xfrm>
          <a:prstGeom prst="roundRect">
            <a:avLst>
              <a:gd name="adj" fmla="val 9677"/>
            </a:avLst>
          </a:prstGeom>
          <a:solidFill>
            <a:srgbClr val="F4F7F8"/>
          </a:solidFill>
          <a:ln w="12700">
            <a:solidFill>
              <a:srgbClr val="E7ECEF"/>
            </a:solidFill>
            <a:prstDash val="solid"/>
          </a:ln>
        </p:spPr>
      </p:sp>
      <p:sp>
        <p:nvSpPr>
          <p:cNvPr id="6" name="Text 3"/>
          <p:cNvSpPr/>
          <p:nvPr/>
        </p:nvSpPr>
        <p:spPr>
          <a:xfrm>
            <a:off x="731520" y="5715000"/>
            <a:ext cx="10789920" cy="566928"/>
          </a:xfrm>
          <a:prstGeom prst="rect">
            <a:avLst/>
          </a:prstGeom>
          <a:noFill/>
          <a:ln/>
        </p:spPr>
        <p:txBody>
          <a:bodyPr wrap="square" rtlCol="0" anchor="ctr"/>
          <a:lstStyle/>
          <a:p>
            <a:pPr indent="0" marL="0">
              <a:buNone/>
            </a:pPr>
            <a:r>
              <a:rPr lang="en-US" sz="1400" b="1" dirty="0">
                <a:solidFill>
                  <a:srgbClr val="E08A2B"/>
                </a:solidFill>
                <a:latin typeface="Calibri" pitchFamily="34" charset="0"/>
                <a:ea typeface="Calibri" pitchFamily="34" charset="-122"/>
                <a:cs typeface="Calibri" pitchFamily="34" charset="-120"/>
              </a:rPr>
              <a:t>⇒  </a:t>
            </a:r>
            <a:pPr indent="0" marL="0">
              <a:buNone/>
            </a:pPr>
            <a:r>
              <a:rPr lang="en-US" sz="1400" b="1" dirty="0">
                <a:solidFill>
                  <a:srgbClr val="263947"/>
                </a:solidFill>
                <a:latin typeface="Calibri" pitchFamily="34" charset="0"/>
                <a:ea typeface="Calibri" pitchFamily="34" charset="-122"/>
                <a:cs typeface="Calibri" pitchFamily="34" charset="-120"/>
              </a:rPr>
              <a:t>Strongest condition-3 case in the survey — gated only by the lack of a portable programming model.</a:t>
            </a:r>
            <a:endParaRPr lang="en-US" sz="1400" dirty="0"/>
          </a:p>
        </p:txBody>
      </p:sp>
      <p:sp>
        <p:nvSpPr>
          <p:cNvPr id="7" name="Text 4"/>
          <p:cNvSpPr/>
          <p:nvPr/>
        </p:nvSpPr>
        <p:spPr>
          <a:xfrm>
            <a:off x="457200" y="6473952"/>
            <a:ext cx="7315200" cy="274320"/>
          </a:xfrm>
          <a:prstGeom prst="rect">
            <a:avLst/>
          </a:prstGeom>
          <a:noFill/>
          <a:ln/>
        </p:spPr>
        <p:txBody>
          <a:bodyPr wrap="square" rtlCol="0" anchor="ctr"/>
          <a:lstStyle/>
          <a:p>
            <a:pPr indent="0" marL="0">
              <a:buNone/>
            </a:pPr>
            <a:r>
              <a:rPr lang="en-US" sz="900" dirty="0">
                <a:solidFill>
                  <a:srgbClr val="7C8B96"/>
                </a:solidFill>
                <a:latin typeface="Calibri" pitchFamily="34" charset="0"/>
                <a:ea typeface="Calibri" pitchFamily="34" charset="-122"/>
                <a:cs typeface="Calibri" pitchFamily="34" charset="-120"/>
              </a:rPr>
              <a:t>Beyond the GPU — 2-hour lecture</a:t>
            </a:r>
            <a:endParaRPr lang="en-US" sz="900" dirty="0"/>
          </a:p>
        </p:txBody>
      </p:sp>
      <p:sp>
        <p:nvSpPr>
          <p:cNvPr id="8" name="Text 5"/>
          <p:cNvSpPr/>
          <p:nvPr/>
        </p:nvSpPr>
        <p:spPr>
          <a:xfrm>
            <a:off x="11277295" y="6473952"/>
            <a:ext cx="457200" cy="274320"/>
          </a:xfrm>
          <a:prstGeom prst="rect">
            <a:avLst/>
          </a:prstGeom>
          <a:noFill/>
          <a:ln/>
        </p:spPr>
        <p:txBody>
          <a:bodyPr wrap="square" rtlCol="0" anchor="ctr"/>
          <a:lstStyle/>
          <a:p>
            <a:pPr algn="r" indent="0" marL="0">
              <a:buNone/>
            </a:pPr>
            <a:r>
              <a:rPr lang="en-US" sz="900" dirty="0">
                <a:solidFill>
                  <a:srgbClr val="7C8B96"/>
                </a:solidFill>
                <a:latin typeface="Calibri" pitchFamily="34" charset="0"/>
                <a:ea typeface="Calibri" pitchFamily="34" charset="-122"/>
                <a:cs typeface="Calibri" pitchFamily="34" charset="-120"/>
              </a:rPr>
              <a:t>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10896"/>
            <a:ext cx="10058400" cy="274320"/>
          </a:xfrm>
          <a:prstGeom prst="rect">
            <a:avLst/>
          </a:prstGeom>
          <a:noFill/>
          <a:ln/>
        </p:spPr>
        <p:txBody>
          <a:bodyPr wrap="square" rtlCol="0" anchor="ctr"/>
          <a:lstStyle/>
          <a:p>
            <a:pPr indent="0" marL="0">
              <a:buNone/>
            </a:pPr>
            <a:r>
              <a:rPr lang="en-US" sz="1200" b="1" spc="200" kern="0" dirty="0">
                <a:solidFill>
                  <a:srgbClr val="0E8C9B"/>
                </a:solidFill>
                <a:latin typeface="Calibri" pitchFamily="34" charset="0"/>
                <a:ea typeface="Calibri" pitchFamily="34" charset="-122"/>
                <a:cs typeface="Calibri" pitchFamily="34" charset="-120"/>
              </a:rPr>
              <a:t>FAMILY · FORWARD-LOOKING</a:t>
            </a:r>
            <a:endParaRPr lang="en-US" sz="1200" dirty="0"/>
          </a:p>
        </p:txBody>
      </p:sp>
      <p:sp>
        <p:nvSpPr>
          <p:cNvPr id="3" name="Text 1"/>
          <p:cNvSpPr/>
          <p:nvPr/>
        </p:nvSpPr>
        <p:spPr>
          <a:xfrm>
            <a:off x="457200" y="548640"/>
            <a:ext cx="11247120" cy="822960"/>
          </a:xfrm>
          <a:prstGeom prst="rect">
            <a:avLst/>
          </a:prstGeom>
          <a:noFill/>
          <a:ln/>
        </p:spPr>
        <p:txBody>
          <a:bodyPr wrap="square" rtlCol="0" anchor="ctr"/>
          <a:lstStyle/>
          <a:p>
            <a:pPr indent="0" marL="0">
              <a:buNone/>
            </a:pPr>
            <a:r>
              <a:rPr lang="en-US" sz="3000" b="1" dirty="0">
                <a:solidFill>
                  <a:srgbClr val="263947"/>
                </a:solidFill>
                <a:latin typeface="Cambria" pitchFamily="34" charset="0"/>
                <a:ea typeface="Cambria" pitchFamily="34" charset="-122"/>
                <a:cs typeface="Cambria" pitchFamily="34" charset="-120"/>
              </a:rPr>
              <a:t>Neuromorphic: energy proportional to activity</a:t>
            </a:r>
            <a:endParaRPr lang="en-US" sz="3000" dirty="0"/>
          </a:p>
        </p:txBody>
      </p:sp>
      <p:sp>
        <p:nvSpPr>
          <p:cNvPr id="4" name="Shape 2"/>
          <p:cNvSpPr/>
          <p:nvPr/>
        </p:nvSpPr>
        <p:spPr>
          <a:xfrm>
            <a:off x="457200" y="1600200"/>
            <a:ext cx="3544824" cy="4343400"/>
          </a:xfrm>
          <a:prstGeom prst="roundRect">
            <a:avLst>
              <a:gd name="adj" fmla="val 1806"/>
            </a:avLst>
          </a:prstGeom>
          <a:solidFill>
            <a:srgbClr val="F4F7F8"/>
          </a:solidFill>
          <a:ln w="12700">
            <a:solidFill>
              <a:srgbClr val="E7ECEF"/>
            </a:solidFill>
            <a:prstDash val="solid"/>
          </a:ln>
        </p:spPr>
      </p:sp>
      <p:sp>
        <p:nvSpPr>
          <p:cNvPr id="5" name="Shape 3"/>
          <p:cNvSpPr/>
          <p:nvPr/>
        </p:nvSpPr>
        <p:spPr>
          <a:xfrm>
            <a:off x="658368" y="1801368"/>
            <a:ext cx="457200" cy="457200"/>
          </a:xfrm>
          <a:prstGeom prst="roundRect">
            <a:avLst>
              <a:gd name="adj" fmla="val 12000"/>
            </a:avLst>
          </a:prstGeom>
          <a:solidFill>
            <a:srgbClr val="0E8C9B"/>
          </a:solidFill>
          <a:ln/>
        </p:spPr>
      </p:sp>
      <p:sp>
        <p:nvSpPr>
          <p:cNvPr id="6" name="Text 4"/>
          <p:cNvSpPr/>
          <p:nvPr/>
        </p:nvSpPr>
        <p:spPr>
          <a:xfrm>
            <a:off x="1234440" y="1783080"/>
            <a:ext cx="2584704" cy="502920"/>
          </a:xfrm>
          <a:prstGeom prst="rect">
            <a:avLst/>
          </a:prstGeom>
          <a:noFill/>
          <a:ln/>
        </p:spPr>
        <p:txBody>
          <a:bodyPr wrap="square" rtlCol="0" anchor="ctr"/>
          <a:lstStyle/>
          <a:p>
            <a:pPr indent="0" marL="0">
              <a:buNone/>
            </a:pPr>
            <a:r>
              <a:rPr lang="en-US" sz="1450" b="1" dirty="0">
                <a:solidFill>
                  <a:srgbClr val="263947"/>
                </a:solidFill>
                <a:latin typeface="Calibri" pitchFamily="34" charset="0"/>
                <a:ea typeface="Calibri" pitchFamily="34" charset="-122"/>
                <a:cs typeface="Calibri" pitchFamily="34" charset="-120"/>
              </a:rPr>
              <a:t>Mechanism</a:t>
            </a:r>
            <a:endParaRPr lang="en-US" sz="1450" dirty="0"/>
          </a:p>
        </p:txBody>
      </p:sp>
      <p:sp>
        <p:nvSpPr>
          <p:cNvPr id="7" name="Text 5"/>
          <p:cNvSpPr/>
          <p:nvPr/>
        </p:nvSpPr>
        <p:spPr>
          <a:xfrm>
            <a:off x="676656" y="2377440"/>
            <a:ext cx="3105912" cy="3429000"/>
          </a:xfrm>
          <a:prstGeom prst="rect">
            <a:avLst/>
          </a:prstGeom>
          <a:noFill/>
          <a:ln/>
        </p:spPr>
        <p:txBody>
          <a:bodyPr wrap="square" rtlCol="0" anchor="t"/>
          <a:lstStyle/>
          <a:p>
            <a:pPr indent="0" marL="0">
              <a:buNone/>
            </a:pPr>
            <a:r>
              <a:rPr lang="en-US" sz="1200" dirty="0">
                <a:solidFill>
                  <a:srgbClr val="263947"/>
                </a:solidFill>
                <a:latin typeface="Calibri" pitchFamily="34" charset="0"/>
                <a:ea typeface="Calibri" pitchFamily="34" charset="-122"/>
                <a:cs typeface="Calibri" pitchFamily="34" charset="-120"/>
              </a:rPr>
              <a:t>Event-driven spikes; synaptic state beside the neurons; nothing switches when nothing changes.</a:t>
            </a:r>
            <a:endParaRPr lang="en-US" sz="1200" dirty="0"/>
          </a:p>
        </p:txBody>
      </p:sp>
      <p:sp>
        <p:nvSpPr>
          <p:cNvPr id="8" name="Shape 6"/>
          <p:cNvSpPr/>
          <p:nvPr/>
        </p:nvSpPr>
        <p:spPr>
          <a:xfrm>
            <a:off x="4322064" y="1600200"/>
            <a:ext cx="3544824" cy="4343400"/>
          </a:xfrm>
          <a:prstGeom prst="roundRect">
            <a:avLst>
              <a:gd name="adj" fmla="val 1806"/>
            </a:avLst>
          </a:prstGeom>
          <a:solidFill>
            <a:srgbClr val="F4F7F8"/>
          </a:solidFill>
          <a:ln w="12700">
            <a:solidFill>
              <a:srgbClr val="E7ECEF"/>
            </a:solidFill>
            <a:prstDash val="solid"/>
          </a:ln>
        </p:spPr>
      </p:sp>
      <p:sp>
        <p:nvSpPr>
          <p:cNvPr id="9" name="Shape 7"/>
          <p:cNvSpPr/>
          <p:nvPr/>
        </p:nvSpPr>
        <p:spPr>
          <a:xfrm>
            <a:off x="4523232" y="1801368"/>
            <a:ext cx="457200" cy="457200"/>
          </a:xfrm>
          <a:prstGeom prst="roundRect">
            <a:avLst>
              <a:gd name="adj" fmla="val 12000"/>
            </a:avLst>
          </a:prstGeom>
          <a:solidFill>
            <a:srgbClr val="2E6E9E"/>
          </a:solidFill>
          <a:ln/>
        </p:spPr>
      </p:sp>
      <p:sp>
        <p:nvSpPr>
          <p:cNvPr id="10" name="Text 8"/>
          <p:cNvSpPr/>
          <p:nvPr/>
        </p:nvSpPr>
        <p:spPr>
          <a:xfrm>
            <a:off x="5099304" y="1783080"/>
            <a:ext cx="2584704" cy="502920"/>
          </a:xfrm>
          <a:prstGeom prst="rect">
            <a:avLst/>
          </a:prstGeom>
          <a:noFill/>
          <a:ln/>
        </p:spPr>
        <p:txBody>
          <a:bodyPr wrap="square" rtlCol="0" anchor="ctr"/>
          <a:lstStyle/>
          <a:p>
            <a:pPr indent="0" marL="0">
              <a:buNone/>
            </a:pPr>
            <a:r>
              <a:rPr lang="en-US" sz="1450" b="1" dirty="0">
                <a:solidFill>
                  <a:srgbClr val="263947"/>
                </a:solidFill>
                <a:latin typeface="Calibri" pitchFamily="34" charset="0"/>
                <a:ea typeface="Calibri" pitchFamily="34" charset="-122"/>
                <a:cs typeface="Calibri" pitchFamily="34" charset="-120"/>
              </a:rPr>
              <a:t>Evidence</a:t>
            </a:r>
            <a:endParaRPr lang="en-US" sz="1450" dirty="0"/>
          </a:p>
        </p:txBody>
      </p:sp>
      <p:sp>
        <p:nvSpPr>
          <p:cNvPr id="11" name="Text 9"/>
          <p:cNvSpPr/>
          <p:nvPr/>
        </p:nvSpPr>
        <p:spPr>
          <a:xfrm>
            <a:off x="4541520" y="2377440"/>
            <a:ext cx="3105912" cy="3429000"/>
          </a:xfrm>
          <a:prstGeom prst="rect">
            <a:avLst/>
          </a:prstGeom>
          <a:noFill/>
          <a:ln/>
        </p:spPr>
        <p:txBody>
          <a:bodyPr wrap="square" rtlCol="0" anchor="t"/>
          <a:lstStyle/>
          <a:p>
            <a:pPr indent="0" marL="0">
              <a:buNone/>
            </a:pPr>
            <a:r>
              <a:rPr lang="en-US" sz="1200" dirty="0">
                <a:solidFill>
                  <a:srgbClr val="263947"/>
                </a:solidFill>
                <a:latin typeface="Calibri" pitchFamily="34" charset="0"/>
                <a:ea typeface="Calibri" pitchFamily="34" charset="-122"/>
                <a:cs typeface="Calibri" pitchFamily="34" charset="-120"/>
              </a:rPr>
              <a:t>Research-class (TrueNorth, Loihi). Validates the energy model, not yet a mainstream workload.</a:t>
            </a:r>
            <a:endParaRPr lang="en-US" sz="1200" dirty="0"/>
          </a:p>
        </p:txBody>
      </p:sp>
      <p:sp>
        <p:nvSpPr>
          <p:cNvPr id="12" name="Shape 10"/>
          <p:cNvSpPr/>
          <p:nvPr/>
        </p:nvSpPr>
        <p:spPr>
          <a:xfrm>
            <a:off x="8186928" y="1600200"/>
            <a:ext cx="3544824" cy="4343400"/>
          </a:xfrm>
          <a:prstGeom prst="roundRect">
            <a:avLst>
              <a:gd name="adj" fmla="val 1806"/>
            </a:avLst>
          </a:prstGeom>
          <a:solidFill>
            <a:srgbClr val="F4F7F8"/>
          </a:solidFill>
          <a:ln w="12700">
            <a:solidFill>
              <a:srgbClr val="E7ECEF"/>
            </a:solidFill>
            <a:prstDash val="solid"/>
          </a:ln>
        </p:spPr>
      </p:sp>
      <p:sp>
        <p:nvSpPr>
          <p:cNvPr id="13" name="Shape 11"/>
          <p:cNvSpPr/>
          <p:nvPr/>
        </p:nvSpPr>
        <p:spPr>
          <a:xfrm>
            <a:off x="8388096" y="1801368"/>
            <a:ext cx="457200" cy="457200"/>
          </a:xfrm>
          <a:prstGeom prst="roundRect">
            <a:avLst>
              <a:gd name="adj" fmla="val 12000"/>
            </a:avLst>
          </a:prstGeom>
          <a:solidFill>
            <a:srgbClr val="E08A2B"/>
          </a:solidFill>
          <a:ln/>
        </p:spPr>
      </p:sp>
      <p:sp>
        <p:nvSpPr>
          <p:cNvPr id="14" name="Text 12"/>
          <p:cNvSpPr/>
          <p:nvPr/>
        </p:nvSpPr>
        <p:spPr>
          <a:xfrm>
            <a:off x="8964168" y="1783080"/>
            <a:ext cx="2584704" cy="502920"/>
          </a:xfrm>
          <a:prstGeom prst="rect">
            <a:avLst/>
          </a:prstGeom>
          <a:noFill/>
          <a:ln/>
        </p:spPr>
        <p:txBody>
          <a:bodyPr wrap="square" rtlCol="0" anchor="ctr"/>
          <a:lstStyle/>
          <a:p>
            <a:pPr indent="0" marL="0">
              <a:buNone/>
            </a:pPr>
            <a:r>
              <a:rPr lang="en-US" sz="1450" b="1" dirty="0">
                <a:solidFill>
                  <a:srgbClr val="263947"/>
                </a:solidFill>
                <a:latin typeface="Calibri" pitchFamily="34" charset="0"/>
                <a:ea typeface="Calibri" pitchFamily="34" charset="-122"/>
                <a:cs typeface="Calibri" pitchFamily="34" charset="-120"/>
              </a:rPr>
              <a:t>Beachhead</a:t>
            </a:r>
            <a:endParaRPr lang="en-US" sz="1450" dirty="0"/>
          </a:p>
        </p:txBody>
      </p:sp>
      <p:sp>
        <p:nvSpPr>
          <p:cNvPr id="15" name="Text 13"/>
          <p:cNvSpPr/>
          <p:nvPr/>
        </p:nvSpPr>
        <p:spPr>
          <a:xfrm>
            <a:off x="8406384" y="2377440"/>
            <a:ext cx="3105912" cy="3429000"/>
          </a:xfrm>
          <a:prstGeom prst="rect">
            <a:avLst/>
          </a:prstGeom>
          <a:noFill/>
          <a:ln/>
        </p:spPr>
        <p:txBody>
          <a:bodyPr wrap="square" rtlCol="0" anchor="t"/>
          <a:lstStyle/>
          <a:p>
            <a:pPr indent="0" marL="0">
              <a:buNone/>
            </a:pPr>
            <a:r>
              <a:rPr lang="en-US" sz="1200" dirty="0">
                <a:solidFill>
                  <a:srgbClr val="263947"/>
                </a:solidFill>
                <a:latin typeface="Calibri" pitchFamily="34" charset="0"/>
                <a:ea typeface="Calibri" pitchFamily="34" charset="-122"/>
                <a:cs typeface="Calibri" pitchFamily="34" charset="-120"/>
              </a:rPr>
              <a:t>Extreme edge: always-on sensory, reflex loops, event cameras — sparse-in-time signals.</a:t>
            </a:r>
            <a:endParaRPr lang="en-US" sz="1200" dirty="0"/>
          </a:p>
        </p:txBody>
      </p:sp>
      <p:sp>
        <p:nvSpPr>
          <p:cNvPr id="16" name="Text 14"/>
          <p:cNvSpPr/>
          <p:nvPr/>
        </p:nvSpPr>
        <p:spPr>
          <a:xfrm>
            <a:off x="457200" y="6108192"/>
            <a:ext cx="11274552" cy="365760"/>
          </a:xfrm>
          <a:prstGeom prst="rect">
            <a:avLst/>
          </a:prstGeom>
          <a:noFill/>
          <a:ln/>
        </p:spPr>
        <p:txBody>
          <a:bodyPr wrap="square" rtlCol="0" anchor="ctr"/>
          <a:lstStyle/>
          <a:p>
            <a:pPr indent="0" marL="0">
              <a:buNone/>
            </a:pPr>
            <a:r>
              <a:rPr lang="en-US" sz="1350" b="1" dirty="0">
                <a:solidFill>
                  <a:srgbClr val="E08A2B"/>
                </a:solidFill>
                <a:latin typeface="Calibri" pitchFamily="34" charset="0"/>
                <a:ea typeface="Calibri" pitchFamily="34" charset="-122"/>
                <a:cs typeface="Calibri" pitchFamily="34" charset="-120"/>
              </a:rPr>
              <a:t>⇒  </a:t>
            </a:r>
            <a:pPr indent="0" marL="0">
              <a:buNone/>
            </a:pPr>
            <a:r>
              <a:rPr lang="en-US" sz="1350" b="1" dirty="0">
                <a:solidFill>
                  <a:srgbClr val="263947"/>
                </a:solidFill>
                <a:latin typeface="Calibri" pitchFamily="34" charset="0"/>
                <a:ea typeface="Calibri" pitchFamily="34" charset="-122"/>
                <a:cs typeface="Calibri" pitchFamily="34" charset="-120"/>
              </a:rPr>
              <a:t>The theoretical endpoint of wake-scope logic — a direction of development, not yet a destination.</a:t>
            </a:r>
            <a:endParaRPr lang="en-US" sz="1350" dirty="0"/>
          </a:p>
        </p:txBody>
      </p:sp>
      <p:sp>
        <p:nvSpPr>
          <p:cNvPr id="17" name="Text 15"/>
          <p:cNvSpPr/>
          <p:nvPr/>
        </p:nvSpPr>
        <p:spPr>
          <a:xfrm>
            <a:off x="457200" y="6473952"/>
            <a:ext cx="7315200" cy="274320"/>
          </a:xfrm>
          <a:prstGeom prst="rect">
            <a:avLst/>
          </a:prstGeom>
          <a:noFill/>
          <a:ln/>
        </p:spPr>
        <p:txBody>
          <a:bodyPr wrap="square" rtlCol="0" anchor="ctr"/>
          <a:lstStyle/>
          <a:p>
            <a:pPr indent="0" marL="0">
              <a:buNone/>
            </a:pPr>
            <a:r>
              <a:rPr lang="en-US" sz="900" dirty="0">
                <a:solidFill>
                  <a:srgbClr val="7C8B96"/>
                </a:solidFill>
                <a:latin typeface="Calibri" pitchFamily="34" charset="0"/>
                <a:ea typeface="Calibri" pitchFamily="34" charset="-122"/>
                <a:cs typeface="Calibri" pitchFamily="34" charset="-120"/>
              </a:rPr>
              <a:t>Beyond the GPU — 2-hour lecture</a:t>
            </a:r>
            <a:endParaRPr lang="en-US" sz="900" dirty="0"/>
          </a:p>
        </p:txBody>
      </p:sp>
      <p:sp>
        <p:nvSpPr>
          <p:cNvPr id="18" name="Text 16"/>
          <p:cNvSpPr/>
          <p:nvPr/>
        </p:nvSpPr>
        <p:spPr>
          <a:xfrm>
            <a:off x="11277295" y="6473952"/>
            <a:ext cx="457200" cy="274320"/>
          </a:xfrm>
          <a:prstGeom prst="rect">
            <a:avLst/>
          </a:prstGeom>
          <a:noFill/>
          <a:ln/>
        </p:spPr>
        <p:txBody>
          <a:bodyPr wrap="square" rtlCol="0" anchor="ctr"/>
          <a:lstStyle/>
          <a:p>
            <a:pPr algn="r" indent="0" marL="0">
              <a:buNone/>
            </a:pPr>
            <a:r>
              <a:rPr lang="en-US" sz="900" dirty="0">
                <a:solidFill>
                  <a:srgbClr val="7C8B96"/>
                </a:solidFill>
                <a:latin typeface="Calibri" pitchFamily="34" charset="0"/>
                <a:ea typeface="Calibri" pitchFamily="34" charset="-122"/>
                <a:cs typeface="Calibri" pitchFamily="34" charset="-120"/>
              </a:rPr>
              <a:t>33</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10896"/>
            <a:ext cx="10058400" cy="274320"/>
          </a:xfrm>
          <a:prstGeom prst="rect">
            <a:avLst/>
          </a:prstGeom>
          <a:noFill/>
          <a:ln/>
        </p:spPr>
        <p:txBody>
          <a:bodyPr wrap="square" rtlCol="0" anchor="ctr"/>
          <a:lstStyle/>
          <a:p>
            <a:pPr indent="0" marL="0">
              <a:buNone/>
            </a:pPr>
            <a:r>
              <a:rPr lang="en-US" sz="1200" b="1" spc="200" kern="0" dirty="0">
                <a:solidFill>
                  <a:srgbClr val="0E8C9B"/>
                </a:solidFill>
                <a:latin typeface="Calibri" pitchFamily="34" charset="0"/>
                <a:ea typeface="Calibri" pitchFamily="34" charset="-122"/>
                <a:cs typeface="Calibri" pitchFamily="34" charset="-120"/>
              </a:rPr>
              <a:t>SYNTHESIS</a:t>
            </a:r>
            <a:endParaRPr lang="en-US" sz="1200" dirty="0"/>
          </a:p>
        </p:txBody>
      </p:sp>
      <p:sp>
        <p:nvSpPr>
          <p:cNvPr id="3" name="Text 1"/>
          <p:cNvSpPr/>
          <p:nvPr/>
        </p:nvSpPr>
        <p:spPr>
          <a:xfrm>
            <a:off x="457200" y="548640"/>
            <a:ext cx="11247120" cy="822960"/>
          </a:xfrm>
          <a:prstGeom prst="rect">
            <a:avLst/>
          </a:prstGeom>
          <a:noFill/>
          <a:ln/>
        </p:spPr>
        <p:txBody>
          <a:bodyPr wrap="square" rtlCol="0" anchor="ctr"/>
          <a:lstStyle/>
          <a:p>
            <a:pPr indent="0" marL="0">
              <a:buNone/>
            </a:pPr>
            <a:r>
              <a:rPr lang="en-US" sz="3000" b="1" dirty="0">
                <a:solidFill>
                  <a:srgbClr val="263947"/>
                </a:solidFill>
                <a:latin typeface="Cambria" pitchFamily="34" charset="0"/>
                <a:ea typeface="Cambria" pitchFamily="34" charset="-122"/>
                <a:cs typeface="Cambria" pitchFamily="34" charset="-120"/>
              </a:rPr>
              <a:t>Same families, different binding constraints</a:t>
            </a:r>
            <a:endParaRPr lang="en-US" sz="3000" dirty="0"/>
          </a:p>
        </p:txBody>
      </p:sp>
      <p:pic>
        <p:nvPicPr>
          <p:cNvPr id="4" name="Image 0" descr="/sessions/compassionate-blissful-planck/mnt/outputs/deck_assets/fig06-10-continuum-fit.png">    </p:cNvPr>
          <p:cNvPicPr>
            <a:picLocks noChangeAspect="1"/>
          </p:cNvPicPr>
          <p:nvPr/>
        </p:nvPicPr>
        <p:blipFill>
          <a:blip r:embed="rId1"/>
          <a:srcRect l="-78049" r="-78049" t="0" b="0"/>
          <a:stretch/>
        </p:blipFill>
        <p:spPr>
          <a:xfrm>
            <a:off x="1280160" y="1554480"/>
            <a:ext cx="9601200" cy="3749040"/>
          </a:xfrm>
          <a:prstGeom prst="rect">
            <a:avLst/>
          </a:prstGeom>
        </p:spPr>
      </p:pic>
      <p:sp>
        <p:nvSpPr>
          <p:cNvPr id="5" name="Shape 2"/>
          <p:cNvSpPr/>
          <p:nvPr/>
        </p:nvSpPr>
        <p:spPr>
          <a:xfrm>
            <a:off x="457200" y="5715000"/>
            <a:ext cx="11274552" cy="566928"/>
          </a:xfrm>
          <a:prstGeom prst="roundRect">
            <a:avLst>
              <a:gd name="adj" fmla="val 9677"/>
            </a:avLst>
          </a:prstGeom>
          <a:solidFill>
            <a:srgbClr val="F4F7F8"/>
          </a:solidFill>
          <a:ln w="12700">
            <a:solidFill>
              <a:srgbClr val="E7ECEF"/>
            </a:solidFill>
            <a:prstDash val="solid"/>
          </a:ln>
        </p:spPr>
      </p:sp>
      <p:sp>
        <p:nvSpPr>
          <p:cNvPr id="6" name="Text 3"/>
          <p:cNvSpPr/>
          <p:nvPr/>
        </p:nvSpPr>
        <p:spPr>
          <a:xfrm>
            <a:off x="731520" y="5715000"/>
            <a:ext cx="10789920" cy="566928"/>
          </a:xfrm>
          <a:prstGeom prst="rect">
            <a:avLst/>
          </a:prstGeom>
          <a:noFill/>
          <a:ln/>
        </p:spPr>
        <p:txBody>
          <a:bodyPr wrap="square" rtlCol="0" anchor="ctr"/>
          <a:lstStyle/>
          <a:p>
            <a:pPr indent="0" marL="0">
              <a:buNone/>
            </a:pPr>
            <a:r>
              <a:rPr lang="en-US" sz="1400" b="1" dirty="0">
                <a:solidFill>
                  <a:srgbClr val="E08A2B"/>
                </a:solidFill>
                <a:latin typeface="Calibri" pitchFamily="34" charset="0"/>
                <a:ea typeface="Calibri" pitchFamily="34" charset="-122"/>
                <a:cs typeface="Calibri" pitchFamily="34" charset="-120"/>
              </a:rPr>
              <a:t>⇒  </a:t>
            </a:r>
            <a:pPr indent="0" marL="0">
              <a:buNone/>
            </a:pPr>
            <a:r>
              <a:rPr lang="en-US" sz="1400" b="1" dirty="0">
                <a:solidFill>
                  <a:srgbClr val="263947"/>
                </a:solidFill>
                <a:latin typeface="Calibri" pitchFamily="34" charset="0"/>
                <a:ea typeface="Calibri" pitchFamily="34" charset="-122"/>
                <a:cs typeface="Calibri" pitchFamily="34" charset="-120"/>
              </a:rPr>
              <a:t>Ideas migrate both ways; implementations diverge because each deployment prices the stressors differently.</a:t>
            </a:r>
            <a:endParaRPr lang="en-US" sz="1400" dirty="0"/>
          </a:p>
        </p:txBody>
      </p:sp>
      <p:sp>
        <p:nvSpPr>
          <p:cNvPr id="7" name="Text 4"/>
          <p:cNvSpPr/>
          <p:nvPr/>
        </p:nvSpPr>
        <p:spPr>
          <a:xfrm>
            <a:off x="457200" y="6473952"/>
            <a:ext cx="7315200" cy="274320"/>
          </a:xfrm>
          <a:prstGeom prst="rect">
            <a:avLst/>
          </a:prstGeom>
          <a:noFill/>
          <a:ln/>
        </p:spPr>
        <p:txBody>
          <a:bodyPr wrap="square" rtlCol="0" anchor="ctr"/>
          <a:lstStyle/>
          <a:p>
            <a:pPr indent="0" marL="0">
              <a:buNone/>
            </a:pPr>
            <a:r>
              <a:rPr lang="en-US" sz="900" dirty="0">
                <a:solidFill>
                  <a:srgbClr val="7C8B96"/>
                </a:solidFill>
                <a:latin typeface="Calibri" pitchFamily="34" charset="0"/>
                <a:ea typeface="Calibri" pitchFamily="34" charset="-122"/>
                <a:cs typeface="Calibri" pitchFamily="34" charset="-120"/>
              </a:rPr>
              <a:t>Beyond the GPU — 2-hour lecture</a:t>
            </a:r>
            <a:endParaRPr lang="en-US" sz="900" dirty="0"/>
          </a:p>
        </p:txBody>
      </p:sp>
      <p:sp>
        <p:nvSpPr>
          <p:cNvPr id="8" name="Text 5"/>
          <p:cNvSpPr/>
          <p:nvPr/>
        </p:nvSpPr>
        <p:spPr>
          <a:xfrm>
            <a:off x="11277295" y="6473952"/>
            <a:ext cx="457200" cy="274320"/>
          </a:xfrm>
          <a:prstGeom prst="rect">
            <a:avLst/>
          </a:prstGeom>
          <a:noFill/>
          <a:ln/>
        </p:spPr>
        <p:txBody>
          <a:bodyPr wrap="square" rtlCol="0" anchor="ctr"/>
          <a:lstStyle/>
          <a:p>
            <a:pPr algn="r" indent="0" marL="0">
              <a:buNone/>
            </a:pPr>
            <a:r>
              <a:rPr lang="en-US" sz="900" dirty="0">
                <a:solidFill>
                  <a:srgbClr val="7C8B96"/>
                </a:solidFill>
                <a:latin typeface="Calibri" pitchFamily="34" charset="0"/>
                <a:ea typeface="Calibri" pitchFamily="34" charset="-122"/>
                <a:cs typeface="Calibri" pitchFamily="34" charset="-120"/>
              </a:rPr>
              <a:t>34</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16232E"/>
        </a:solidFill>
      </p:bgPr>
    </p:bg>
    <p:spTree>
      <p:nvGrpSpPr>
        <p:cNvPr id="1" name=""/>
        <p:cNvGrpSpPr/>
        <p:nvPr/>
      </p:nvGrpSpPr>
      <p:grpSpPr>
        <a:xfrm>
          <a:off x="0" y="0"/>
          <a:ext cx="0" cy="0"/>
          <a:chOff x="0" y="0"/>
          <a:chExt cx="0" cy="0"/>
        </a:xfrm>
      </p:grpSpPr>
      <p:sp>
        <p:nvSpPr>
          <p:cNvPr id="2" name="Text 0"/>
          <p:cNvSpPr/>
          <p:nvPr/>
        </p:nvSpPr>
        <p:spPr>
          <a:xfrm>
            <a:off x="731520" y="2103120"/>
            <a:ext cx="2011680" cy="1645920"/>
          </a:xfrm>
          <a:prstGeom prst="rect">
            <a:avLst/>
          </a:prstGeom>
          <a:noFill/>
          <a:ln/>
        </p:spPr>
        <p:txBody>
          <a:bodyPr wrap="square" rtlCol="0" anchor="ctr"/>
          <a:lstStyle/>
          <a:p>
            <a:pPr indent="0" marL="0">
              <a:buNone/>
            </a:pPr>
            <a:r>
              <a:rPr lang="en-US" sz="8000" b="1" dirty="0">
                <a:solidFill>
                  <a:srgbClr val="E08A2B"/>
                </a:solidFill>
                <a:latin typeface="Cambria" pitchFamily="34" charset="0"/>
                <a:ea typeface="Cambria" pitchFamily="34" charset="-122"/>
                <a:cs typeface="Cambria" pitchFamily="34" charset="-120"/>
              </a:rPr>
              <a:t>05</a:t>
            </a:r>
            <a:endParaRPr lang="en-US" sz="8000" dirty="0"/>
          </a:p>
        </p:txBody>
      </p:sp>
      <p:sp>
        <p:nvSpPr>
          <p:cNvPr id="3" name="Text 1"/>
          <p:cNvSpPr/>
          <p:nvPr/>
        </p:nvSpPr>
        <p:spPr>
          <a:xfrm>
            <a:off x="2834640" y="2514600"/>
            <a:ext cx="8595360" cy="1280160"/>
          </a:xfrm>
          <a:prstGeom prst="rect">
            <a:avLst/>
          </a:prstGeom>
          <a:noFill/>
          <a:ln/>
        </p:spPr>
        <p:txBody>
          <a:bodyPr wrap="square"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The landscape, grouped</a:t>
            </a:r>
            <a:endParaRPr lang="en-US" sz="3800" dirty="0"/>
          </a:p>
        </p:txBody>
      </p:sp>
      <p:sp>
        <p:nvSpPr>
          <p:cNvPr id="4" name="Text 2"/>
          <p:cNvSpPr/>
          <p:nvPr/>
        </p:nvSpPr>
        <p:spPr>
          <a:xfrm>
            <a:off x="2880360" y="3703320"/>
            <a:ext cx="8412480" cy="822960"/>
          </a:xfrm>
          <a:prstGeom prst="rect">
            <a:avLst/>
          </a:prstGeom>
          <a:noFill/>
          <a:ln/>
        </p:spPr>
        <p:txBody>
          <a:bodyPr wrap="square" rtlCol="0" anchor="ctr"/>
          <a:lstStyle/>
          <a:p>
            <a:pPr indent="0" marL="0">
              <a:buNone/>
            </a:pPr>
            <a:r>
              <a:rPr lang="en-US" sz="1600" dirty="0">
                <a:solidFill>
                  <a:srgbClr val="E7ECEF"/>
                </a:solidFill>
                <a:latin typeface="Calibri" pitchFamily="34" charset="0"/>
                <a:ea typeface="Calibri" pitchFamily="34" charset="-122"/>
                <a:cs typeface="Calibri" pitchFamily="34" charset="-120"/>
              </a:rPr>
              <a:t>Read through the framework — not a product catalog</a:t>
            </a:r>
            <a:endParaRPr lang="en-US" sz="1600" dirty="0"/>
          </a:p>
        </p:txBody>
      </p:sp>
      <p:sp>
        <p:nvSpPr>
          <p:cNvPr id="5" name="Text 3"/>
          <p:cNvSpPr/>
          <p:nvPr/>
        </p:nvSpPr>
        <p:spPr>
          <a:xfrm>
            <a:off x="457200" y="6473952"/>
            <a:ext cx="7315200" cy="274320"/>
          </a:xfrm>
          <a:prstGeom prst="rect">
            <a:avLst/>
          </a:prstGeom>
          <a:noFill/>
          <a:ln/>
        </p:spPr>
        <p:txBody>
          <a:bodyPr wrap="square" rtlCol="0" anchor="ctr"/>
          <a:lstStyle/>
          <a:p>
            <a:pPr indent="0" marL="0">
              <a:buNone/>
            </a:pPr>
            <a:r>
              <a:rPr lang="en-US" sz="900" dirty="0">
                <a:solidFill>
                  <a:srgbClr val="7C8B96"/>
                </a:solidFill>
                <a:latin typeface="Calibri" pitchFamily="34" charset="0"/>
                <a:ea typeface="Calibri" pitchFamily="34" charset="-122"/>
                <a:cs typeface="Calibri" pitchFamily="34" charset="-120"/>
              </a:rPr>
              <a:t>Beyond the GPU — 2-hour lecture</a:t>
            </a:r>
            <a:endParaRPr lang="en-US" sz="900" dirty="0"/>
          </a:p>
        </p:txBody>
      </p:sp>
      <p:sp>
        <p:nvSpPr>
          <p:cNvPr id="6" name="Text 4"/>
          <p:cNvSpPr/>
          <p:nvPr/>
        </p:nvSpPr>
        <p:spPr>
          <a:xfrm>
            <a:off x="11277295" y="6473952"/>
            <a:ext cx="457200" cy="274320"/>
          </a:xfrm>
          <a:prstGeom prst="rect">
            <a:avLst/>
          </a:prstGeom>
          <a:noFill/>
          <a:ln/>
        </p:spPr>
        <p:txBody>
          <a:bodyPr wrap="square" rtlCol="0" anchor="ctr"/>
          <a:lstStyle/>
          <a:p>
            <a:pPr algn="r" indent="0" marL="0">
              <a:buNone/>
            </a:pPr>
            <a:r>
              <a:rPr lang="en-US" sz="900" dirty="0">
                <a:solidFill>
                  <a:srgbClr val="7C8B96"/>
                </a:solidFill>
                <a:latin typeface="Calibri" pitchFamily="34" charset="0"/>
                <a:ea typeface="Calibri" pitchFamily="34" charset="-122"/>
                <a:cs typeface="Calibri" pitchFamily="34" charset="-120"/>
              </a:rPr>
              <a:t>35</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10896"/>
            <a:ext cx="10058400" cy="274320"/>
          </a:xfrm>
          <a:prstGeom prst="rect">
            <a:avLst/>
          </a:prstGeom>
          <a:noFill/>
          <a:ln/>
        </p:spPr>
        <p:txBody>
          <a:bodyPr wrap="square" rtlCol="0" anchor="ctr"/>
          <a:lstStyle/>
          <a:p>
            <a:pPr indent="0" marL="0">
              <a:buNone/>
            </a:pPr>
            <a:r>
              <a:rPr lang="en-US" sz="1200" b="1" spc="200" kern="0" dirty="0">
                <a:solidFill>
                  <a:srgbClr val="0E8C9B"/>
                </a:solidFill>
                <a:latin typeface="Calibri" pitchFamily="34" charset="0"/>
                <a:ea typeface="Calibri" pitchFamily="34" charset="-122"/>
                <a:cs typeface="Calibri" pitchFamily="34" charset="-120"/>
              </a:rPr>
              <a:t>GROUPED LANDSCAPE</a:t>
            </a:r>
            <a:endParaRPr lang="en-US" sz="1200" dirty="0"/>
          </a:p>
        </p:txBody>
      </p:sp>
      <p:sp>
        <p:nvSpPr>
          <p:cNvPr id="3" name="Text 1"/>
          <p:cNvSpPr/>
          <p:nvPr/>
        </p:nvSpPr>
        <p:spPr>
          <a:xfrm>
            <a:off x="457200" y="548640"/>
            <a:ext cx="11247120" cy="822960"/>
          </a:xfrm>
          <a:prstGeom prst="rect">
            <a:avLst/>
          </a:prstGeom>
          <a:noFill/>
          <a:ln/>
        </p:spPr>
        <p:txBody>
          <a:bodyPr wrap="square" rtlCol="0" anchor="ctr"/>
          <a:lstStyle/>
          <a:p>
            <a:pPr indent="0" marL="0">
              <a:buNone/>
            </a:pPr>
            <a:r>
              <a:rPr lang="en-US" sz="3000" b="1" dirty="0">
                <a:solidFill>
                  <a:srgbClr val="263947"/>
                </a:solidFill>
                <a:latin typeface="Cambria" pitchFamily="34" charset="0"/>
                <a:ea typeface="Cambria" pitchFamily="34" charset="-122"/>
                <a:cs typeface="Cambria" pitchFamily="34" charset="-120"/>
              </a:rPr>
              <a:t>Three groups, one deciding variable</a:t>
            </a:r>
            <a:endParaRPr lang="en-US" sz="3000" dirty="0"/>
          </a:p>
        </p:txBody>
      </p:sp>
      <p:pic>
        <p:nvPicPr>
          <p:cNvPr id="4" name="Image 0" descr="/sessions/compassionate-blissful-planck/mnt/outputs/deck_assets/grouped_landscape.png">    </p:cNvPr>
          <p:cNvPicPr>
            <a:picLocks noChangeAspect="1"/>
          </p:cNvPicPr>
          <p:nvPr/>
        </p:nvPicPr>
        <p:blipFill>
          <a:blip r:embed="rId1"/>
          <a:srcRect l="-78049" r="-78049" t="0" b="0"/>
          <a:stretch/>
        </p:blipFill>
        <p:spPr>
          <a:xfrm>
            <a:off x="1280160" y="1554480"/>
            <a:ext cx="9601200" cy="3749040"/>
          </a:xfrm>
          <a:prstGeom prst="rect">
            <a:avLst/>
          </a:prstGeom>
        </p:spPr>
      </p:pic>
      <p:sp>
        <p:nvSpPr>
          <p:cNvPr id="5" name="Shape 2"/>
          <p:cNvSpPr/>
          <p:nvPr/>
        </p:nvSpPr>
        <p:spPr>
          <a:xfrm>
            <a:off x="457200" y="5715000"/>
            <a:ext cx="11274552" cy="566928"/>
          </a:xfrm>
          <a:prstGeom prst="roundRect">
            <a:avLst>
              <a:gd name="adj" fmla="val 9677"/>
            </a:avLst>
          </a:prstGeom>
          <a:solidFill>
            <a:srgbClr val="F4F7F8"/>
          </a:solidFill>
          <a:ln w="12700">
            <a:solidFill>
              <a:srgbClr val="E7ECEF"/>
            </a:solidFill>
            <a:prstDash val="solid"/>
          </a:ln>
        </p:spPr>
      </p:sp>
      <p:sp>
        <p:nvSpPr>
          <p:cNvPr id="6" name="Text 3"/>
          <p:cNvSpPr/>
          <p:nvPr/>
        </p:nvSpPr>
        <p:spPr>
          <a:xfrm>
            <a:off x="731520" y="5715000"/>
            <a:ext cx="10789920" cy="566928"/>
          </a:xfrm>
          <a:prstGeom prst="rect">
            <a:avLst/>
          </a:prstGeom>
          <a:noFill/>
          <a:ln/>
        </p:spPr>
        <p:txBody>
          <a:bodyPr wrap="square" rtlCol="0" anchor="ctr"/>
          <a:lstStyle/>
          <a:p>
            <a:pPr indent="0" marL="0">
              <a:buNone/>
            </a:pPr>
            <a:r>
              <a:rPr lang="en-US" sz="1400" b="1" dirty="0">
                <a:solidFill>
                  <a:srgbClr val="E08A2B"/>
                </a:solidFill>
                <a:latin typeface="Calibri" pitchFamily="34" charset="0"/>
                <a:ea typeface="Calibri" pitchFamily="34" charset="-122"/>
                <a:cs typeface="Calibri" pitchFamily="34" charset="-120"/>
              </a:rPr>
              <a:t>⇒  </a:t>
            </a:r>
            <a:pPr indent="0" marL="0">
              <a:buNone/>
            </a:pPr>
            <a:r>
              <a:rPr lang="en-US" sz="1400" b="1" dirty="0">
                <a:solidFill>
                  <a:srgbClr val="263947"/>
                </a:solidFill>
                <a:latin typeface="Calibri" pitchFamily="34" charset="0"/>
                <a:ea typeface="Calibri" pitchFamily="34" charset="-122"/>
                <a:cs typeface="Calibri" pitchFamily="34" charset="-120"/>
              </a:rPr>
              <a:t>None of the challengers failed on architecture — every trajectory was decided by condition 4.</a:t>
            </a:r>
            <a:endParaRPr lang="en-US" sz="1400" dirty="0"/>
          </a:p>
        </p:txBody>
      </p:sp>
      <p:sp>
        <p:nvSpPr>
          <p:cNvPr id="7" name="Text 4"/>
          <p:cNvSpPr/>
          <p:nvPr/>
        </p:nvSpPr>
        <p:spPr>
          <a:xfrm>
            <a:off x="457200" y="6473952"/>
            <a:ext cx="7315200" cy="274320"/>
          </a:xfrm>
          <a:prstGeom prst="rect">
            <a:avLst/>
          </a:prstGeom>
          <a:noFill/>
          <a:ln/>
        </p:spPr>
        <p:txBody>
          <a:bodyPr wrap="square" rtlCol="0" anchor="ctr"/>
          <a:lstStyle/>
          <a:p>
            <a:pPr indent="0" marL="0">
              <a:buNone/>
            </a:pPr>
            <a:r>
              <a:rPr lang="en-US" sz="900" dirty="0">
                <a:solidFill>
                  <a:srgbClr val="7C8B96"/>
                </a:solidFill>
                <a:latin typeface="Calibri" pitchFamily="34" charset="0"/>
                <a:ea typeface="Calibri" pitchFamily="34" charset="-122"/>
                <a:cs typeface="Calibri" pitchFamily="34" charset="-120"/>
              </a:rPr>
              <a:t>Beyond the GPU — 2-hour lecture</a:t>
            </a:r>
            <a:endParaRPr lang="en-US" sz="900" dirty="0"/>
          </a:p>
        </p:txBody>
      </p:sp>
      <p:sp>
        <p:nvSpPr>
          <p:cNvPr id="8" name="Text 5"/>
          <p:cNvSpPr/>
          <p:nvPr/>
        </p:nvSpPr>
        <p:spPr>
          <a:xfrm>
            <a:off x="11277295" y="6473952"/>
            <a:ext cx="457200" cy="274320"/>
          </a:xfrm>
          <a:prstGeom prst="rect">
            <a:avLst/>
          </a:prstGeom>
          <a:noFill/>
          <a:ln/>
        </p:spPr>
        <p:txBody>
          <a:bodyPr wrap="square" rtlCol="0" anchor="ctr"/>
          <a:lstStyle/>
          <a:p>
            <a:pPr algn="r" indent="0" marL="0">
              <a:buNone/>
            </a:pPr>
            <a:r>
              <a:rPr lang="en-US" sz="900" dirty="0">
                <a:solidFill>
                  <a:srgbClr val="7C8B96"/>
                </a:solidFill>
                <a:latin typeface="Calibri" pitchFamily="34" charset="0"/>
                <a:ea typeface="Calibri" pitchFamily="34" charset="-122"/>
                <a:cs typeface="Calibri" pitchFamily="34" charset="-120"/>
              </a:rPr>
              <a:t>36</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10896"/>
            <a:ext cx="10058400" cy="274320"/>
          </a:xfrm>
          <a:prstGeom prst="rect">
            <a:avLst/>
          </a:prstGeom>
          <a:noFill/>
          <a:ln/>
        </p:spPr>
        <p:txBody>
          <a:bodyPr wrap="square" rtlCol="0" anchor="ctr"/>
          <a:lstStyle/>
          <a:p>
            <a:pPr indent="0" marL="0">
              <a:buNone/>
            </a:pPr>
            <a:r>
              <a:rPr lang="en-US" sz="1200" b="1" spc="200" kern="0" dirty="0">
                <a:solidFill>
                  <a:srgbClr val="0E8C9B"/>
                </a:solidFill>
                <a:latin typeface="Calibri" pitchFamily="34" charset="0"/>
                <a:ea typeface="Calibri" pitchFamily="34" charset="-122"/>
                <a:cs typeface="Calibri" pitchFamily="34" charset="-120"/>
              </a:rPr>
              <a:t>GROUP · HYPERSCALER SILICON</a:t>
            </a:r>
            <a:endParaRPr lang="en-US" sz="1200" dirty="0"/>
          </a:p>
        </p:txBody>
      </p:sp>
      <p:sp>
        <p:nvSpPr>
          <p:cNvPr id="3" name="Text 1"/>
          <p:cNvSpPr/>
          <p:nvPr/>
        </p:nvSpPr>
        <p:spPr>
          <a:xfrm>
            <a:off x="457200" y="548640"/>
            <a:ext cx="11247120" cy="822960"/>
          </a:xfrm>
          <a:prstGeom prst="rect">
            <a:avLst/>
          </a:prstGeom>
          <a:noFill/>
          <a:ln/>
        </p:spPr>
        <p:txBody>
          <a:bodyPr wrap="square" rtlCol="0" anchor="ctr"/>
          <a:lstStyle/>
          <a:p>
            <a:pPr indent="0" marL="0">
              <a:buNone/>
            </a:pPr>
            <a:r>
              <a:rPr lang="en-US" sz="3000" b="1" dirty="0">
                <a:solidFill>
                  <a:srgbClr val="263947"/>
                </a:solidFill>
                <a:latin typeface="Cambria" pitchFamily="34" charset="0"/>
                <a:ea typeface="Cambria" pitchFamily="34" charset="-122"/>
                <a:cs typeface="Cambria" pitchFamily="34" charset="-120"/>
              </a:rPr>
              <a:t>The TPU verdict, replicated four times</a:t>
            </a:r>
            <a:endParaRPr lang="en-US" sz="3000" dirty="0"/>
          </a:p>
        </p:txBody>
      </p:sp>
      <p:sp>
        <p:nvSpPr>
          <p:cNvPr id="4" name="Shape 2"/>
          <p:cNvSpPr/>
          <p:nvPr/>
        </p:nvSpPr>
        <p:spPr>
          <a:xfrm>
            <a:off x="457200" y="1600200"/>
            <a:ext cx="2578608" cy="4343400"/>
          </a:xfrm>
          <a:prstGeom prst="roundRect">
            <a:avLst>
              <a:gd name="adj" fmla="val 2482"/>
            </a:avLst>
          </a:prstGeom>
          <a:solidFill>
            <a:srgbClr val="F4F7F8"/>
          </a:solidFill>
          <a:ln w="12700">
            <a:solidFill>
              <a:srgbClr val="E7ECEF"/>
            </a:solidFill>
            <a:prstDash val="solid"/>
          </a:ln>
        </p:spPr>
      </p:sp>
      <p:sp>
        <p:nvSpPr>
          <p:cNvPr id="5" name="Shape 3"/>
          <p:cNvSpPr/>
          <p:nvPr/>
        </p:nvSpPr>
        <p:spPr>
          <a:xfrm>
            <a:off x="658368" y="1801368"/>
            <a:ext cx="457200" cy="457200"/>
          </a:xfrm>
          <a:prstGeom prst="roundRect">
            <a:avLst>
              <a:gd name="adj" fmla="val 12000"/>
            </a:avLst>
          </a:prstGeom>
          <a:solidFill>
            <a:srgbClr val="0E8C9B"/>
          </a:solidFill>
          <a:ln/>
        </p:spPr>
      </p:sp>
      <p:sp>
        <p:nvSpPr>
          <p:cNvPr id="6" name="Text 4"/>
          <p:cNvSpPr/>
          <p:nvPr/>
        </p:nvSpPr>
        <p:spPr>
          <a:xfrm>
            <a:off x="1234440" y="1783080"/>
            <a:ext cx="1618488" cy="502920"/>
          </a:xfrm>
          <a:prstGeom prst="rect">
            <a:avLst/>
          </a:prstGeom>
          <a:noFill/>
          <a:ln/>
        </p:spPr>
        <p:txBody>
          <a:bodyPr wrap="square" rtlCol="0" anchor="ctr"/>
          <a:lstStyle/>
          <a:p>
            <a:pPr indent="0" marL="0">
              <a:buNone/>
            </a:pPr>
            <a:r>
              <a:rPr lang="en-US" sz="1450" b="1" dirty="0">
                <a:solidFill>
                  <a:srgbClr val="263947"/>
                </a:solidFill>
                <a:latin typeface="Calibri" pitchFamily="34" charset="0"/>
                <a:ea typeface="Calibri" pitchFamily="34" charset="-122"/>
                <a:cs typeface="Calibri" pitchFamily="34" charset="-120"/>
              </a:rPr>
              <a:t>Google TPU</a:t>
            </a:r>
            <a:endParaRPr lang="en-US" sz="1450" dirty="0"/>
          </a:p>
        </p:txBody>
      </p:sp>
      <p:sp>
        <p:nvSpPr>
          <p:cNvPr id="7" name="Text 5"/>
          <p:cNvSpPr/>
          <p:nvPr/>
        </p:nvSpPr>
        <p:spPr>
          <a:xfrm>
            <a:off x="676656" y="2377440"/>
            <a:ext cx="2139696" cy="3429000"/>
          </a:xfrm>
          <a:prstGeom prst="rect">
            <a:avLst/>
          </a:prstGeom>
          <a:noFill/>
          <a:ln/>
        </p:spPr>
        <p:txBody>
          <a:bodyPr wrap="square" rtlCol="0" anchor="t"/>
          <a:lstStyle/>
          <a:p>
            <a:pPr indent="0" marL="0">
              <a:buNone/>
            </a:pPr>
            <a:r>
              <a:rPr lang="en-US" sz="1200" dirty="0">
                <a:solidFill>
                  <a:srgbClr val="263947"/>
                </a:solidFill>
                <a:latin typeface="Calibri" pitchFamily="34" charset="0"/>
                <a:ea typeface="Calibri" pitchFamily="34" charset="-122"/>
                <a:cs typeface="Calibri" pitchFamily="34" charset="-120"/>
              </a:rPr>
              <a:t>Seventh generation; inference-emphasized; pods of thousands.</a:t>
            </a:r>
            <a:endParaRPr lang="en-US" sz="1200" dirty="0"/>
          </a:p>
        </p:txBody>
      </p:sp>
      <p:sp>
        <p:nvSpPr>
          <p:cNvPr id="8" name="Shape 6"/>
          <p:cNvSpPr/>
          <p:nvPr/>
        </p:nvSpPr>
        <p:spPr>
          <a:xfrm>
            <a:off x="3355848" y="1600200"/>
            <a:ext cx="2578608" cy="4343400"/>
          </a:xfrm>
          <a:prstGeom prst="roundRect">
            <a:avLst>
              <a:gd name="adj" fmla="val 2482"/>
            </a:avLst>
          </a:prstGeom>
          <a:solidFill>
            <a:srgbClr val="F4F7F8"/>
          </a:solidFill>
          <a:ln w="12700">
            <a:solidFill>
              <a:srgbClr val="E7ECEF"/>
            </a:solidFill>
            <a:prstDash val="solid"/>
          </a:ln>
        </p:spPr>
      </p:sp>
      <p:sp>
        <p:nvSpPr>
          <p:cNvPr id="9" name="Shape 7"/>
          <p:cNvSpPr/>
          <p:nvPr/>
        </p:nvSpPr>
        <p:spPr>
          <a:xfrm>
            <a:off x="3557016" y="1801368"/>
            <a:ext cx="457200" cy="457200"/>
          </a:xfrm>
          <a:prstGeom prst="roundRect">
            <a:avLst>
              <a:gd name="adj" fmla="val 12000"/>
            </a:avLst>
          </a:prstGeom>
          <a:solidFill>
            <a:srgbClr val="2E6E9E"/>
          </a:solidFill>
          <a:ln/>
        </p:spPr>
      </p:sp>
      <p:sp>
        <p:nvSpPr>
          <p:cNvPr id="10" name="Text 8"/>
          <p:cNvSpPr/>
          <p:nvPr/>
        </p:nvSpPr>
        <p:spPr>
          <a:xfrm>
            <a:off x="4133088" y="1783080"/>
            <a:ext cx="1618488" cy="502920"/>
          </a:xfrm>
          <a:prstGeom prst="rect">
            <a:avLst/>
          </a:prstGeom>
          <a:noFill/>
          <a:ln/>
        </p:spPr>
        <p:txBody>
          <a:bodyPr wrap="square" rtlCol="0" anchor="ctr"/>
          <a:lstStyle/>
          <a:p>
            <a:pPr indent="0" marL="0">
              <a:buNone/>
            </a:pPr>
            <a:r>
              <a:rPr lang="en-US" sz="1450" b="1" dirty="0">
                <a:solidFill>
                  <a:srgbClr val="263947"/>
                </a:solidFill>
                <a:latin typeface="Calibri" pitchFamily="34" charset="0"/>
                <a:ea typeface="Calibri" pitchFamily="34" charset="-122"/>
                <a:cs typeface="Calibri" pitchFamily="34" charset="-120"/>
              </a:rPr>
              <a:t>AWS Trainium</a:t>
            </a:r>
            <a:endParaRPr lang="en-US" sz="1450" dirty="0"/>
          </a:p>
        </p:txBody>
      </p:sp>
      <p:sp>
        <p:nvSpPr>
          <p:cNvPr id="11" name="Text 9"/>
          <p:cNvSpPr/>
          <p:nvPr/>
        </p:nvSpPr>
        <p:spPr>
          <a:xfrm>
            <a:off x="3575304" y="2377440"/>
            <a:ext cx="2139696" cy="3429000"/>
          </a:xfrm>
          <a:prstGeom prst="rect">
            <a:avLst/>
          </a:prstGeom>
          <a:noFill/>
          <a:ln/>
        </p:spPr>
        <p:txBody>
          <a:bodyPr wrap="square" rtlCol="0" anchor="t"/>
          <a:lstStyle/>
          <a:p>
            <a:pPr indent="0" marL="0">
              <a:buNone/>
            </a:pPr>
            <a:r>
              <a:rPr lang="en-US" sz="1200" dirty="0">
                <a:solidFill>
                  <a:srgbClr val="263947"/>
                </a:solidFill>
                <a:latin typeface="Calibri" pitchFamily="34" charset="0"/>
                <a:ea typeface="Calibri" pitchFamily="34" charset="-122"/>
                <a:cs typeface="Calibri" pitchFamily="34" charset="-120"/>
              </a:rPr>
              <a:t>Generally available; proprietary switch fabric; 'token economics.'</a:t>
            </a:r>
            <a:endParaRPr lang="en-US" sz="1200" dirty="0"/>
          </a:p>
        </p:txBody>
      </p:sp>
      <p:sp>
        <p:nvSpPr>
          <p:cNvPr id="12" name="Shape 10"/>
          <p:cNvSpPr/>
          <p:nvPr/>
        </p:nvSpPr>
        <p:spPr>
          <a:xfrm>
            <a:off x="6254496" y="1600200"/>
            <a:ext cx="2578608" cy="4343400"/>
          </a:xfrm>
          <a:prstGeom prst="roundRect">
            <a:avLst>
              <a:gd name="adj" fmla="val 2482"/>
            </a:avLst>
          </a:prstGeom>
          <a:solidFill>
            <a:srgbClr val="F4F7F8"/>
          </a:solidFill>
          <a:ln w="12700">
            <a:solidFill>
              <a:srgbClr val="E7ECEF"/>
            </a:solidFill>
            <a:prstDash val="solid"/>
          </a:ln>
        </p:spPr>
      </p:sp>
      <p:sp>
        <p:nvSpPr>
          <p:cNvPr id="13" name="Shape 11"/>
          <p:cNvSpPr/>
          <p:nvPr/>
        </p:nvSpPr>
        <p:spPr>
          <a:xfrm>
            <a:off x="6455664" y="1801368"/>
            <a:ext cx="457200" cy="457200"/>
          </a:xfrm>
          <a:prstGeom prst="roundRect">
            <a:avLst>
              <a:gd name="adj" fmla="val 12000"/>
            </a:avLst>
          </a:prstGeom>
          <a:solidFill>
            <a:srgbClr val="E08A2B"/>
          </a:solidFill>
          <a:ln/>
        </p:spPr>
      </p:sp>
      <p:sp>
        <p:nvSpPr>
          <p:cNvPr id="14" name="Text 12"/>
          <p:cNvSpPr/>
          <p:nvPr/>
        </p:nvSpPr>
        <p:spPr>
          <a:xfrm>
            <a:off x="7031736" y="1783080"/>
            <a:ext cx="1618488" cy="502920"/>
          </a:xfrm>
          <a:prstGeom prst="rect">
            <a:avLst/>
          </a:prstGeom>
          <a:noFill/>
          <a:ln/>
        </p:spPr>
        <p:txBody>
          <a:bodyPr wrap="square" rtlCol="0" anchor="ctr"/>
          <a:lstStyle/>
          <a:p>
            <a:pPr indent="0" marL="0">
              <a:buNone/>
            </a:pPr>
            <a:r>
              <a:rPr lang="en-US" sz="1450" b="1" dirty="0">
                <a:solidFill>
                  <a:srgbClr val="263947"/>
                </a:solidFill>
                <a:latin typeface="Calibri" pitchFamily="34" charset="0"/>
                <a:ea typeface="Calibri" pitchFamily="34" charset="-122"/>
                <a:cs typeface="Calibri" pitchFamily="34" charset="-120"/>
              </a:rPr>
              <a:t>Microsoft Maia</a:t>
            </a:r>
            <a:endParaRPr lang="en-US" sz="1450" dirty="0"/>
          </a:p>
        </p:txBody>
      </p:sp>
      <p:sp>
        <p:nvSpPr>
          <p:cNvPr id="15" name="Text 13"/>
          <p:cNvSpPr/>
          <p:nvPr/>
        </p:nvSpPr>
        <p:spPr>
          <a:xfrm>
            <a:off x="6473952" y="2377440"/>
            <a:ext cx="2139696" cy="3429000"/>
          </a:xfrm>
          <a:prstGeom prst="rect">
            <a:avLst/>
          </a:prstGeom>
          <a:noFill/>
          <a:ln/>
        </p:spPr>
        <p:txBody>
          <a:bodyPr wrap="square" rtlCol="0" anchor="t"/>
          <a:lstStyle/>
          <a:p>
            <a:pPr indent="0" marL="0">
              <a:buNone/>
            </a:pPr>
            <a:r>
              <a:rPr lang="en-US" sz="1200" dirty="0">
                <a:solidFill>
                  <a:srgbClr val="263947"/>
                </a:solidFill>
                <a:latin typeface="Calibri" pitchFamily="34" charset="0"/>
                <a:ea typeface="Calibri" pitchFamily="34" charset="-122"/>
                <a:cs typeface="Calibri" pitchFamily="34" charset="-120"/>
              </a:rPr>
              <a:t>Inference-first; large on-chip SRAM; standard Ethernet.</a:t>
            </a:r>
            <a:endParaRPr lang="en-US" sz="1200" dirty="0"/>
          </a:p>
        </p:txBody>
      </p:sp>
      <p:sp>
        <p:nvSpPr>
          <p:cNvPr id="16" name="Shape 14"/>
          <p:cNvSpPr/>
          <p:nvPr/>
        </p:nvSpPr>
        <p:spPr>
          <a:xfrm>
            <a:off x="9153144" y="1600200"/>
            <a:ext cx="2578608" cy="4343400"/>
          </a:xfrm>
          <a:prstGeom prst="roundRect">
            <a:avLst>
              <a:gd name="adj" fmla="val 2482"/>
            </a:avLst>
          </a:prstGeom>
          <a:solidFill>
            <a:srgbClr val="F4F7F8"/>
          </a:solidFill>
          <a:ln w="12700">
            <a:solidFill>
              <a:srgbClr val="E7ECEF"/>
            </a:solidFill>
            <a:prstDash val="solid"/>
          </a:ln>
        </p:spPr>
      </p:sp>
      <p:sp>
        <p:nvSpPr>
          <p:cNvPr id="17" name="Shape 15"/>
          <p:cNvSpPr/>
          <p:nvPr/>
        </p:nvSpPr>
        <p:spPr>
          <a:xfrm>
            <a:off x="9354312" y="1801368"/>
            <a:ext cx="457200" cy="457200"/>
          </a:xfrm>
          <a:prstGeom prst="roundRect">
            <a:avLst>
              <a:gd name="adj" fmla="val 12000"/>
            </a:avLst>
          </a:prstGeom>
          <a:solidFill>
            <a:srgbClr val="3F9E6A"/>
          </a:solidFill>
          <a:ln/>
        </p:spPr>
      </p:sp>
      <p:sp>
        <p:nvSpPr>
          <p:cNvPr id="18" name="Text 16"/>
          <p:cNvSpPr/>
          <p:nvPr/>
        </p:nvSpPr>
        <p:spPr>
          <a:xfrm>
            <a:off x="9930384" y="1783080"/>
            <a:ext cx="1618488" cy="502920"/>
          </a:xfrm>
          <a:prstGeom prst="rect">
            <a:avLst/>
          </a:prstGeom>
          <a:noFill/>
          <a:ln/>
        </p:spPr>
        <p:txBody>
          <a:bodyPr wrap="square" rtlCol="0" anchor="ctr"/>
          <a:lstStyle/>
          <a:p>
            <a:pPr indent="0" marL="0">
              <a:buNone/>
            </a:pPr>
            <a:r>
              <a:rPr lang="en-US" sz="1450" b="1" dirty="0">
                <a:solidFill>
                  <a:srgbClr val="263947"/>
                </a:solidFill>
                <a:latin typeface="Calibri" pitchFamily="34" charset="0"/>
                <a:ea typeface="Calibri" pitchFamily="34" charset="-122"/>
                <a:cs typeface="Calibri" pitchFamily="34" charset="-120"/>
              </a:rPr>
              <a:t>Meta MTIA</a:t>
            </a:r>
            <a:endParaRPr lang="en-US" sz="1450" dirty="0"/>
          </a:p>
        </p:txBody>
      </p:sp>
      <p:sp>
        <p:nvSpPr>
          <p:cNvPr id="19" name="Text 17"/>
          <p:cNvSpPr/>
          <p:nvPr/>
        </p:nvSpPr>
        <p:spPr>
          <a:xfrm>
            <a:off x="9372600" y="2377440"/>
            <a:ext cx="2139696" cy="3429000"/>
          </a:xfrm>
          <a:prstGeom prst="rect">
            <a:avLst/>
          </a:prstGeom>
          <a:noFill/>
          <a:ln/>
        </p:spPr>
        <p:txBody>
          <a:bodyPr wrap="square" rtlCol="0" anchor="t"/>
          <a:lstStyle/>
          <a:p>
            <a:pPr indent="0" marL="0">
              <a:buNone/>
            </a:pPr>
            <a:r>
              <a:rPr lang="en-US" sz="1200" dirty="0">
                <a:solidFill>
                  <a:srgbClr val="263947"/>
                </a:solidFill>
                <a:latin typeface="Calibri" pitchFamily="34" charset="0"/>
                <a:ea typeface="Calibri" pitchFamily="34" charset="-122"/>
                <a:cs typeface="Calibri" pitchFamily="34" charset="-120"/>
              </a:rPr>
              <a:t>Recommendation-first; peer-reviewed first generation.</a:t>
            </a:r>
            <a:endParaRPr lang="en-US" sz="1200" dirty="0"/>
          </a:p>
        </p:txBody>
      </p:sp>
      <p:sp>
        <p:nvSpPr>
          <p:cNvPr id="20" name="Text 18"/>
          <p:cNvSpPr/>
          <p:nvPr/>
        </p:nvSpPr>
        <p:spPr>
          <a:xfrm>
            <a:off x="457200" y="6108192"/>
            <a:ext cx="11274552" cy="365760"/>
          </a:xfrm>
          <a:prstGeom prst="rect">
            <a:avLst/>
          </a:prstGeom>
          <a:noFill/>
          <a:ln/>
        </p:spPr>
        <p:txBody>
          <a:bodyPr wrap="square" rtlCol="0" anchor="ctr"/>
          <a:lstStyle/>
          <a:p>
            <a:pPr indent="0" marL="0">
              <a:buNone/>
            </a:pPr>
            <a:r>
              <a:rPr lang="en-US" sz="1350" b="1" dirty="0">
                <a:solidFill>
                  <a:srgbClr val="E08A2B"/>
                </a:solidFill>
                <a:latin typeface="Calibri" pitchFamily="34" charset="0"/>
                <a:ea typeface="Calibri" pitchFamily="34" charset="-122"/>
                <a:cs typeface="Calibri" pitchFamily="34" charset="-120"/>
              </a:rPr>
              <a:t>⇒  </a:t>
            </a:r>
            <a:pPr indent="0" marL="0">
              <a:buNone/>
            </a:pPr>
            <a:r>
              <a:rPr lang="en-US" sz="1350" b="1" dirty="0">
                <a:solidFill>
                  <a:srgbClr val="263947"/>
                </a:solidFill>
                <a:latin typeface="Calibri" pitchFamily="34" charset="0"/>
                <a:ea typeface="Calibri" pitchFamily="34" charset="-122"/>
                <a:cs typeface="Calibri" pitchFamily="34" charset="-120"/>
              </a:rPr>
              <a:t>Every major cloud fields internal tensor processors at generation depth — the second transition as industrial fact.</a:t>
            </a:r>
            <a:endParaRPr lang="en-US" sz="1350" dirty="0"/>
          </a:p>
        </p:txBody>
      </p:sp>
      <p:sp>
        <p:nvSpPr>
          <p:cNvPr id="21" name="Text 19"/>
          <p:cNvSpPr/>
          <p:nvPr/>
        </p:nvSpPr>
        <p:spPr>
          <a:xfrm>
            <a:off x="457200" y="6473952"/>
            <a:ext cx="7315200" cy="274320"/>
          </a:xfrm>
          <a:prstGeom prst="rect">
            <a:avLst/>
          </a:prstGeom>
          <a:noFill/>
          <a:ln/>
        </p:spPr>
        <p:txBody>
          <a:bodyPr wrap="square" rtlCol="0" anchor="ctr"/>
          <a:lstStyle/>
          <a:p>
            <a:pPr indent="0" marL="0">
              <a:buNone/>
            </a:pPr>
            <a:r>
              <a:rPr lang="en-US" sz="900" dirty="0">
                <a:solidFill>
                  <a:srgbClr val="7C8B96"/>
                </a:solidFill>
                <a:latin typeface="Calibri" pitchFamily="34" charset="0"/>
                <a:ea typeface="Calibri" pitchFamily="34" charset="-122"/>
                <a:cs typeface="Calibri" pitchFamily="34" charset="-120"/>
              </a:rPr>
              <a:t>Beyond the GPU — 2-hour lecture</a:t>
            </a:r>
            <a:endParaRPr lang="en-US" sz="900" dirty="0"/>
          </a:p>
        </p:txBody>
      </p:sp>
      <p:sp>
        <p:nvSpPr>
          <p:cNvPr id="22" name="Text 20"/>
          <p:cNvSpPr/>
          <p:nvPr/>
        </p:nvSpPr>
        <p:spPr>
          <a:xfrm>
            <a:off x="11277295" y="6473952"/>
            <a:ext cx="457200" cy="274320"/>
          </a:xfrm>
          <a:prstGeom prst="rect">
            <a:avLst/>
          </a:prstGeom>
          <a:noFill/>
          <a:ln/>
        </p:spPr>
        <p:txBody>
          <a:bodyPr wrap="square" rtlCol="0" anchor="ctr"/>
          <a:lstStyle/>
          <a:p>
            <a:pPr algn="r" indent="0" marL="0">
              <a:buNone/>
            </a:pPr>
            <a:r>
              <a:rPr lang="en-US" sz="900" dirty="0">
                <a:solidFill>
                  <a:srgbClr val="7C8B96"/>
                </a:solidFill>
                <a:latin typeface="Calibri" pitchFamily="34" charset="0"/>
                <a:ea typeface="Calibri" pitchFamily="34" charset="-122"/>
                <a:cs typeface="Calibri" pitchFamily="34" charset="-120"/>
              </a:rPr>
              <a:t>37</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10896"/>
            <a:ext cx="10058400" cy="274320"/>
          </a:xfrm>
          <a:prstGeom prst="rect">
            <a:avLst/>
          </a:prstGeom>
          <a:noFill/>
          <a:ln/>
        </p:spPr>
        <p:txBody>
          <a:bodyPr wrap="square" rtlCol="0" anchor="ctr"/>
          <a:lstStyle/>
          <a:p>
            <a:pPr indent="0" marL="0">
              <a:buNone/>
            </a:pPr>
            <a:r>
              <a:rPr lang="en-US" sz="1200" b="1" spc="200" kern="0" dirty="0">
                <a:solidFill>
                  <a:srgbClr val="0E8C9B"/>
                </a:solidFill>
                <a:latin typeface="Calibri" pitchFamily="34" charset="0"/>
                <a:ea typeface="Calibri" pitchFamily="34" charset="-122"/>
                <a:cs typeface="Calibri" pitchFamily="34" charset="-120"/>
              </a:rPr>
              <a:t>GROUP · GPU INCUMBENTS</a:t>
            </a:r>
            <a:endParaRPr lang="en-US" sz="1200" dirty="0"/>
          </a:p>
        </p:txBody>
      </p:sp>
      <p:sp>
        <p:nvSpPr>
          <p:cNvPr id="3" name="Text 1"/>
          <p:cNvSpPr/>
          <p:nvPr/>
        </p:nvSpPr>
        <p:spPr>
          <a:xfrm>
            <a:off x="457200" y="548640"/>
            <a:ext cx="11247120" cy="822960"/>
          </a:xfrm>
          <a:prstGeom prst="rect">
            <a:avLst/>
          </a:prstGeom>
          <a:noFill/>
          <a:ln/>
        </p:spPr>
        <p:txBody>
          <a:bodyPr wrap="square" rtlCol="0" anchor="ctr"/>
          <a:lstStyle/>
          <a:p>
            <a:pPr indent="0" marL="0">
              <a:buNone/>
            </a:pPr>
            <a:r>
              <a:rPr lang="en-US" sz="3000" b="1" dirty="0">
                <a:solidFill>
                  <a:srgbClr val="263947"/>
                </a:solidFill>
                <a:latin typeface="Cambria" pitchFamily="34" charset="0"/>
                <a:ea typeface="Cambria" pitchFamily="34" charset="-122"/>
                <a:cs typeface="Cambria" pitchFamily="34" charset="-120"/>
              </a:rPr>
              <a:t>The competition is a memory race</a:t>
            </a:r>
            <a:endParaRPr lang="en-US" sz="3000" dirty="0"/>
          </a:p>
        </p:txBody>
      </p:sp>
      <p:pic>
        <p:nvPicPr>
          <p:cNvPr id="4" name="Image 0" descr="/sessions/compassionate-blissful-planck/mnt/outputs/deck_assets/fig07-01-flagship-memory-2026.png">    </p:cNvPr>
          <p:cNvPicPr>
            <a:picLocks noChangeAspect="1"/>
          </p:cNvPicPr>
          <p:nvPr/>
        </p:nvPicPr>
        <p:blipFill>
          <a:blip r:embed="rId1"/>
          <a:srcRect l="-78049" r="-78049" t="0" b="0"/>
          <a:stretch/>
        </p:blipFill>
        <p:spPr>
          <a:xfrm>
            <a:off x="1280160" y="1554480"/>
            <a:ext cx="9601200" cy="3749040"/>
          </a:xfrm>
          <a:prstGeom prst="rect">
            <a:avLst/>
          </a:prstGeom>
        </p:spPr>
      </p:pic>
      <p:sp>
        <p:nvSpPr>
          <p:cNvPr id="5" name="Shape 2"/>
          <p:cNvSpPr/>
          <p:nvPr/>
        </p:nvSpPr>
        <p:spPr>
          <a:xfrm>
            <a:off x="457200" y="5715000"/>
            <a:ext cx="11274552" cy="566928"/>
          </a:xfrm>
          <a:prstGeom prst="roundRect">
            <a:avLst>
              <a:gd name="adj" fmla="val 9677"/>
            </a:avLst>
          </a:prstGeom>
          <a:solidFill>
            <a:srgbClr val="F4F7F8"/>
          </a:solidFill>
          <a:ln w="12700">
            <a:solidFill>
              <a:srgbClr val="E7ECEF"/>
            </a:solidFill>
            <a:prstDash val="solid"/>
          </a:ln>
        </p:spPr>
      </p:sp>
      <p:sp>
        <p:nvSpPr>
          <p:cNvPr id="6" name="Text 3"/>
          <p:cNvSpPr/>
          <p:nvPr/>
        </p:nvSpPr>
        <p:spPr>
          <a:xfrm>
            <a:off x="731520" y="5715000"/>
            <a:ext cx="10789920" cy="566928"/>
          </a:xfrm>
          <a:prstGeom prst="rect">
            <a:avLst/>
          </a:prstGeom>
          <a:noFill/>
          <a:ln/>
        </p:spPr>
        <p:txBody>
          <a:bodyPr wrap="square" rtlCol="0" anchor="ctr"/>
          <a:lstStyle/>
          <a:p>
            <a:pPr indent="0" marL="0">
              <a:buNone/>
            </a:pPr>
            <a:r>
              <a:rPr lang="en-US" sz="1400" b="1" dirty="0">
                <a:solidFill>
                  <a:srgbClr val="E08A2B"/>
                </a:solidFill>
                <a:latin typeface="Calibri" pitchFamily="34" charset="0"/>
                <a:ea typeface="Calibri" pitchFamily="34" charset="-122"/>
                <a:cs typeface="Calibri" pitchFamily="34" charset="-120"/>
              </a:rPr>
              <a:t>⇒  </a:t>
            </a:r>
            <a:pPr indent="0" marL="0">
              <a:buNone/>
            </a:pPr>
            <a:r>
              <a:rPr lang="en-US" sz="1400" b="1" dirty="0">
                <a:solidFill>
                  <a:srgbClr val="263947"/>
                </a:solidFill>
                <a:latin typeface="Calibri" pitchFamily="34" charset="0"/>
                <a:ea typeface="Calibri" pitchFamily="34" charset="-122"/>
                <a:cs typeface="Calibri" pitchFamily="34" charset="-120"/>
              </a:rPr>
              <a:t>Flagships cluster on capacity and bandwidth, not FLOPS — the absorption thesis operating in public.</a:t>
            </a:r>
            <a:endParaRPr lang="en-US" sz="1400" dirty="0"/>
          </a:p>
        </p:txBody>
      </p:sp>
      <p:sp>
        <p:nvSpPr>
          <p:cNvPr id="7" name="Text 4"/>
          <p:cNvSpPr/>
          <p:nvPr/>
        </p:nvSpPr>
        <p:spPr>
          <a:xfrm>
            <a:off x="457200" y="6473952"/>
            <a:ext cx="7315200" cy="274320"/>
          </a:xfrm>
          <a:prstGeom prst="rect">
            <a:avLst/>
          </a:prstGeom>
          <a:noFill/>
          <a:ln/>
        </p:spPr>
        <p:txBody>
          <a:bodyPr wrap="square" rtlCol="0" anchor="ctr"/>
          <a:lstStyle/>
          <a:p>
            <a:pPr indent="0" marL="0">
              <a:buNone/>
            </a:pPr>
            <a:r>
              <a:rPr lang="en-US" sz="900" dirty="0">
                <a:solidFill>
                  <a:srgbClr val="7C8B96"/>
                </a:solidFill>
                <a:latin typeface="Calibri" pitchFamily="34" charset="0"/>
                <a:ea typeface="Calibri" pitchFamily="34" charset="-122"/>
                <a:cs typeface="Calibri" pitchFamily="34" charset="-120"/>
              </a:rPr>
              <a:t>Beyond the GPU — 2-hour lecture</a:t>
            </a:r>
            <a:endParaRPr lang="en-US" sz="900" dirty="0"/>
          </a:p>
        </p:txBody>
      </p:sp>
      <p:sp>
        <p:nvSpPr>
          <p:cNvPr id="8" name="Text 5"/>
          <p:cNvSpPr/>
          <p:nvPr/>
        </p:nvSpPr>
        <p:spPr>
          <a:xfrm>
            <a:off x="11277295" y="6473952"/>
            <a:ext cx="457200" cy="274320"/>
          </a:xfrm>
          <a:prstGeom prst="rect">
            <a:avLst/>
          </a:prstGeom>
          <a:noFill/>
          <a:ln/>
        </p:spPr>
        <p:txBody>
          <a:bodyPr wrap="square" rtlCol="0" anchor="ctr"/>
          <a:lstStyle/>
          <a:p>
            <a:pPr algn="r" indent="0" marL="0">
              <a:buNone/>
            </a:pPr>
            <a:r>
              <a:rPr lang="en-US" sz="900" dirty="0">
                <a:solidFill>
                  <a:srgbClr val="7C8B96"/>
                </a:solidFill>
                <a:latin typeface="Calibri" pitchFamily="34" charset="0"/>
                <a:ea typeface="Calibri" pitchFamily="34" charset="-122"/>
                <a:cs typeface="Calibri" pitchFamily="34" charset="-120"/>
              </a:rPr>
              <a:t>38</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10896"/>
            <a:ext cx="10058400" cy="274320"/>
          </a:xfrm>
          <a:prstGeom prst="rect">
            <a:avLst/>
          </a:prstGeom>
          <a:noFill/>
          <a:ln/>
        </p:spPr>
        <p:txBody>
          <a:bodyPr wrap="square" rtlCol="0" anchor="ctr"/>
          <a:lstStyle/>
          <a:p>
            <a:pPr indent="0" marL="0">
              <a:buNone/>
            </a:pPr>
            <a:r>
              <a:rPr lang="en-US" sz="1200" b="1" spc="200" kern="0" dirty="0">
                <a:solidFill>
                  <a:srgbClr val="0E8C9B"/>
                </a:solidFill>
                <a:latin typeface="Calibri" pitchFamily="34" charset="0"/>
                <a:ea typeface="Calibri" pitchFamily="34" charset="-122"/>
                <a:cs typeface="Calibri" pitchFamily="34" charset="-120"/>
              </a:rPr>
              <a:t>GROUP · CHALLENGERS</a:t>
            </a:r>
            <a:endParaRPr lang="en-US" sz="1200" dirty="0"/>
          </a:p>
        </p:txBody>
      </p:sp>
      <p:sp>
        <p:nvSpPr>
          <p:cNvPr id="3" name="Text 1"/>
          <p:cNvSpPr/>
          <p:nvPr/>
        </p:nvSpPr>
        <p:spPr>
          <a:xfrm>
            <a:off x="457200" y="548640"/>
            <a:ext cx="11247120" cy="822960"/>
          </a:xfrm>
          <a:prstGeom prst="rect">
            <a:avLst/>
          </a:prstGeom>
          <a:noFill/>
          <a:ln/>
        </p:spPr>
        <p:txBody>
          <a:bodyPr wrap="square" rtlCol="0" anchor="ctr"/>
          <a:lstStyle/>
          <a:p>
            <a:pPr indent="0" marL="0">
              <a:buNone/>
            </a:pPr>
            <a:r>
              <a:rPr lang="en-US" sz="3000" b="1" dirty="0">
                <a:solidFill>
                  <a:srgbClr val="263947"/>
                </a:solidFill>
                <a:latin typeface="Cambria" pitchFamily="34" charset="0"/>
                <a:ea typeface="Cambria" pitchFamily="34" charset="-122"/>
                <a:cs typeface="Cambria" pitchFamily="34" charset="-120"/>
              </a:rPr>
              <a:t>The contested middle consolidates</a:t>
            </a:r>
            <a:endParaRPr lang="en-US" sz="3000" dirty="0"/>
          </a:p>
        </p:txBody>
      </p:sp>
      <p:sp>
        <p:nvSpPr>
          <p:cNvPr id="4" name="Shape 2"/>
          <p:cNvSpPr/>
          <p:nvPr/>
        </p:nvSpPr>
        <p:spPr>
          <a:xfrm>
            <a:off x="457200" y="1600200"/>
            <a:ext cx="3544824" cy="4343400"/>
          </a:xfrm>
          <a:prstGeom prst="roundRect">
            <a:avLst>
              <a:gd name="adj" fmla="val 1806"/>
            </a:avLst>
          </a:prstGeom>
          <a:solidFill>
            <a:srgbClr val="F4F7F8"/>
          </a:solidFill>
          <a:ln w="12700">
            <a:solidFill>
              <a:srgbClr val="E7ECEF"/>
            </a:solidFill>
            <a:prstDash val="solid"/>
          </a:ln>
        </p:spPr>
      </p:sp>
      <p:sp>
        <p:nvSpPr>
          <p:cNvPr id="5" name="Shape 3"/>
          <p:cNvSpPr/>
          <p:nvPr/>
        </p:nvSpPr>
        <p:spPr>
          <a:xfrm>
            <a:off x="658368" y="1801368"/>
            <a:ext cx="457200" cy="457200"/>
          </a:xfrm>
          <a:prstGeom prst="roundRect">
            <a:avLst>
              <a:gd name="adj" fmla="val 12000"/>
            </a:avLst>
          </a:prstGeom>
          <a:solidFill>
            <a:srgbClr val="0E8C9B"/>
          </a:solidFill>
          <a:ln/>
        </p:spPr>
      </p:sp>
      <p:sp>
        <p:nvSpPr>
          <p:cNvPr id="6" name="Text 4"/>
          <p:cNvSpPr/>
          <p:nvPr/>
        </p:nvSpPr>
        <p:spPr>
          <a:xfrm>
            <a:off x="1234440" y="1783080"/>
            <a:ext cx="2584704" cy="502920"/>
          </a:xfrm>
          <a:prstGeom prst="rect">
            <a:avLst/>
          </a:prstGeom>
          <a:noFill/>
          <a:ln/>
        </p:spPr>
        <p:txBody>
          <a:bodyPr wrap="square" rtlCol="0" anchor="ctr"/>
          <a:lstStyle/>
          <a:p>
            <a:pPr indent="0" marL="0">
              <a:buNone/>
            </a:pPr>
            <a:r>
              <a:rPr lang="en-US" sz="1450" b="1" dirty="0">
                <a:solidFill>
                  <a:srgbClr val="263947"/>
                </a:solidFill>
                <a:latin typeface="Calibri" pitchFamily="34" charset="0"/>
                <a:ea typeface="Calibri" pitchFamily="34" charset="-122"/>
                <a:cs typeface="Calibri" pitchFamily="34" charset="-120"/>
              </a:rPr>
              <a:t>License in</a:t>
            </a:r>
            <a:endParaRPr lang="en-US" sz="1450" dirty="0"/>
          </a:p>
        </p:txBody>
      </p:sp>
      <p:sp>
        <p:nvSpPr>
          <p:cNvPr id="7" name="Text 5"/>
          <p:cNvSpPr/>
          <p:nvPr/>
        </p:nvSpPr>
        <p:spPr>
          <a:xfrm>
            <a:off x="676656" y="2377440"/>
            <a:ext cx="3105912" cy="3429000"/>
          </a:xfrm>
          <a:prstGeom prst="rect">
            <a:avLst/>
          </a:prstGeom>
          <a:noFill/>
          <a:ln/>
        </p:spPr>
        <p:txBody>
          <a:bodyPr wrap="square" rtlCol="0" anchor="t"/>
          <a:lstStyle/>
          <a:p>
            <a:pPr indent="0" marL="0">
              <a:buNone/>
            </a:pPr>
            <a:r>
              <a:rPr lang="en-US" sz="1200" dirty="0">
                <a:solidFill>
                  <a:srgbClr val="263947"/>
                </a:solidFill>
                <a:latin typeface="Calibri" pitchFamily="34" charset="0"/>
                <a:ea typeface="Calibri" pitchFamily="34" charset="-122"/>
                <a:cs typeface="Calibri" pitchFamily="34" charset="-120"/>
              </a:rPr>
              <a:t>A deterministic-dataflow architecture licensed into the incumbent platform.</a:t>
            </a:r>
            <a:endParaRPr lang="en-US" sz="1200" dirty="0"/>
          </a:p>
        </p:txBody>
      </p:sp>
      <p:sp>
        <p:nvSpPr>
          <p:cNvPr id="8" name="Shape 6"/>
          <p:cNvSpPr/>
          <p:nvPr/>
        </p:nvSpPr>
        <p:spPr>
          <a:xfrm>
            <a:off x="4322064" y="1600200"/>
            <a:ext cx="3544824" cy="4343400"/>
          </a:xfrm>
          <a:prstGeom prst="roundRect">
            <a:avLst>
              <a:gd name="adj" fmla="val 1806"/>
            </a:avLst>
          </a:prstGeom>
          <a:solidFill>
            <a:srgbClr val="F4F7F8"/>
          </a:solidFill>
          <a:ln w="12700">
            <a:solidFill>
              <a:srgbClr val="E7ECEF"/>
            </a:solidFill>
            <a:prstDash val="solid"/>
          </a:ln>
        </p:spPr>
      </p:sp>
      <p:sp>
        <p:nvSpPr>
          <p:cNvPr id="9" name="Shape 7"/>
          <p:cNvSpPr/>
          <p:nvPr/>
        </p:nvSpPr>
        <p:spPr>
          <a:xfrm>
            <a:off x="4523232" y="1801368"/>
            <a:ext cx="457200" cy="457200"/>
          </a:xfrm>
          <a:prstGeom prst="roundRect">
            <a:avLst>
              <a:gd name="adj" fmla="val 12000"/>
            </a:avLst>
          </a:prstGeom>
          <a:solidFill>
            <a:srgbClr val="2E6E9E"/>
          </a:solidFill>
          <a:ln/>
        </p:spPr>
      </p:sp>
      <p:sp>
        <p:nvSpPr>
          <p:cNvPr id="10" name="Text 8"/>
          <p:cNvSpPr/>
          <p:nvPr/>
        </p:nvSpPr>
        <p:spPr>
          <a:xfrm>
            <a:off x="5099304" y="1783080"/>
            <a:ext cx="2584704" cy="502920"/>
          </a:xfrm>
          <a:prstGeom prst="rect">
            <a:avLst/>
          </a:prstGeom>
          <a:noFill/>
          <a:ln/>
        </p:spPr>
        <p:txBody>
          <a:bodyPr wrap="square" rtlCol="0" anchor="ctr"/>
          <a:lstStyle/>
          <a:p>
            <a:pPr indent="0" marL="0">
              <a:buNone/>
            </a:pPr>
            <a:r>
              <a:rPr lang="en-US" sz="1450" b="1" dirty="0">
                <a:solidFill>
                  <a:srgbClr val="263947"/>
                </a:solidFill>
                <a:latin typeface="Calibri" pitchFamily="34" charset="0"/>
                <a:ea typeface="Calibri" pitchFamily="34" charset="-122"/>
                <a:cs typeface="Calibri" pitchFamily="34" charset="-120"/>
              </a:rPr>
              <a:t>Anchor tenancy</a:t>
            </a:r>
            <a:endParaRPr lang="en-US" sz="1450" dirty="0"/>
          </a:p>
        </p:txBody>
      </p:sp>
      <p:sp>
        <p:nvSpPr>
          <p:cNvPr id="11" name="Text 9"/>
          <p:cNvSpPr/>
          <p:nvPr/>
        </p:nvSpPr>
        <p:spPr>
          <a:xfrm>
            <a:off x="4541520" y="2377440"/>
            <a:ext cx="3105912" cy="3429000"/>
          </a:xfrm>
          <a:prstGeom prst="rect">
            <a:avLst/>
          </a:prstGeom>
          <a:noFill/>
          <a:ln/>
        </p:spPr>
        <p:txBody>
          <a:bodyPr wrap="square" rtlCol="0" anchor="t"/>
          <a:lstStyle/>
          <a:p>
            <a:pPr indent="0" marL="0">
              <a:buNone/>
            </a:pPr>
            <a:r>
              <a:rPr lang="en-US" sz="1200" dirty="0">
                <a:solidFill>
                  <a:srgbClr val="263947"/>
                </a:solidFill>
                <a:latin typeface="Calibri" pitchFamily="34" charset="0"/>
                <a:ea typeface="Calibri" pitchFamily="34" charset="-122"/>
                <a:cs typeface="Calibri" pitchFamily="34" charset="-120"/>
              </a:rPr>
              <a:t>Wafer-scale survives on a few enormous compute agreements, then IPO.</a:t>
            </a:r>
            <a:endParaRPr lang="en-US" sz="1200" dirty="0"/>
          </a:p>
        </p:txBody>
      </p:sp>
      <p:sp>
        <p:nvSpPr>
          <p:cNvPr id="12" name="Shape 10"/>
          <p:cNvSpPr/>
          <p:nvPr/>
        </p:nvSpPr>
        <p:spPr>
          <a:xfrm>
            <a:off x="8186928" y="1600200"/>
            <a:ext cx="3544824" cy="4343400"/>
          </a:xfrm>
          <a:prstGeom prst="roundRect">
            <a:avLst>
              <a:gd name="adj" fmla="val 1806"/>
            </a:avLst>
          </a:prstGeom>
          <a:solidFill>
            <a:srgbClr val="F4F7F8"/>
          </a:solidFill>
          <a:ln w="12700">
            <a:solidFill>
              <a:srgbClr val="E7ECEF"/>
            </a:solidFill>
            <a:prstDash val="solid"/>
          </a:ln>
        </p:spPr>
      </p:sp>
      <p:sp>
        <p:nvSpPr>
          <p:cNvPr id="13" name="Shape 11"/>
          <p:cNvSpPr/>
          <p:nvPr/>
        </p:nvSpPr>
        <p:spPr>
          <a:xfrm>
            <a:off x="8388096" y="1801368"/>
            <a:ext cx="457200" cy="457200"/>
          </a:xfrm>
          <a:prstGeom prst="roundRect">
            <a:avLst>
              <a:gd name="adj" fmla="val 12000"/>
            </a:avLst>
          </a:prstGeom>
          <a:solidFill>
            <a:srgbClr val="E08A2B"/>
          </a:solidFill>
          <a:ln/>
        </p:spPr>
      </p:sp>
      <p:sp>
        <p:nvSpPr>
          <p:cNvPr id="14" name="Text 12"/>
          <p:cNvSpPr/>
          <p:nvPr/>
        </p:nvSpPr>
        <p:spPr>
          <a:xfrm>
            <a:off x="8964168" y="1783080"/>
            <a:ext cx="2584704" cy="502920"/>
          </a:xfrm>
          <a:prstGeom prst="rect">
            <a:avLst/>
          </a:prstGeom>
          <a:noFill/>
          <a:ln/>
        </p:spPr>
        <p:txBody>
          <a:bodyPr wrap="square" rtlCol="0" anchor="ctr"/>
          <a:lstStyle/>
          <a:p>
            <a:pPr indent="0" marL="0">
              <a:buNone/>
            </a:pPr>
            <a:r>
              <a:rPr lang="en-US" sz="1450" b="1" dirty="0">
                <a:solidFill>
                  <a:srgbClr val="263947"/>
                </a:solidFill>
                <a:latin typeface="Calibri" pitchFamily="34" charset="0"/>
                <a:ea typeface="Calibri" pitchFamily="34" charset="-122"/>
                <a:cs typeface="Calibri" pitchFamily="34" charset="-120"/>
              </a:rPr>
              <a:t>Acquisition</a:t>
            </a:r>
            <a:endParaRPr lang="en-US" sz="1450" dirty="0"/>
          </a:p>
        </p:txBody>
      </p:sp>
      <p:sp>
        <p:nvSpPr>
          <p:cNvPr id="15" name="Text 13"/>
          <p:cNvSpPr/>
          <p:nvPr/>
        </p:nvSpPr>
        <p:spPr>
          <a:xfrm>
            <a:off x="8406384" y="2377440"/>
            <a:ext cx="3105912" cy="3429000"/>
          </a:xfrm>
          <a:prstGeom prst="rect">
            <a:avLst/>
          </a:prstGeom>
          <a:noFill/>
          <a:ln/>
        </p:spPr>
        <p:txBody>
          <a:bodyPr wrap="square" rtlCol="0" anchor="t"/>
          <a:lstStyle/>
          <a:p>
            <a:pPr indent="0" marL="0">
              <a:buNone/>
            </a:pPr>
            <a:r>
              <a:rPr lang="en-US" sz="1200" dirty="0">
                <a:solidFill>
                  <a:srgbClr val="263947"/>
                </a:solidFill>
                <a:latin typeface="Calibri" pitchFamily="34" charset="0"/>
                <a:ea typeface="Calibri" pitchFamily="34" charset="-122"/>
                <a:cs typeface="Calibri" pitchFamily="34" charset="-120"/>
              </a:rPr>
              <a:t>Programmable tile processors absorbed by a larger incumbent.</a:t>
            </a:r>
            <a:endParaRPr lang="en-US" sz="1200" dirty="0"/>
          </a:p>
        </p:txBody>
      </p:sp>
      <p:sp>
        <p:nvSpPr>
          <p:cNvPr id="16" name="Text 14"/>
          <p:cNvSpPr/>
          <p:nvPr/>
        </p:nvSpPr>
        <p:spPr>
          <a:xfrm>
            <a:off x="457200" y="6108192"/>
            <a:ext cx="11274552" cy="365760"/>
          </a:xfrm>
          <a:prstGeom prst="rect">
            <a:avLst/>
          </a:prstGeom>
          <a:noFill/>
          <a:ln/>
        </p:spPr>
        <p:txBody>
          <a:bodyPr wrap="square" rtlCol="0" anchor="ctr"/>
          <a:lstStyle/>
          <a:p>
            <a:pPr indent="0" marL="0">
              <a:buNone/>
            </a:pPr>
            <a:r>
              <a:rPr lang="en-US" sz="1350" b="1" dirty="0">
                <a:solidFill>
                  <a:srgbClr val="E08A2B"/>
                </a:solidFill>
                <a:latin typeface="Calibri" pitchFamily="34" charset="0"/>
                <a:ea typeface="Calibri" pitchFamily="34" charset="-122"/>
                <a:cs typeface="Calibri" pitchFamily="34" charset="-120"/>
              </a:rPr>
              <a:t>⇒  </a:t>
            </a:r>
            <a:pPr indent="0" marL="0">
              <a:buNone/>
            </a:pPr>
            <a:r>
              <a:rPr lang="en-US" sz="1350" b="1" dirty="0">
                <a:solidFill>
                  <a:srgbClr val="263947"/>
                </a:solidFill>
                <a:latin typeface="Calibri" pitchFamily="34" charset="0"/>
                <a:ea typeface="Calibri" pitchFamily="34" charset="-122"/>
                <a:cs typeface="Calibri" pitchFamily="34" charset="-120"/>
              </a:rPr>
              <a:t>Condition 4 — software capital, volume, distribution — decided each, not architectural merit.</a:t>
            </a:r>
            <a:endParaRPr lang="en-US" sz="1350" dirty="0"/>
          </a:p>
        </p:txBody>
      </p:sp>
      <p:sp>
        <p:nvSpPr>
          <p:cNvPr id="17" name="Text 15"/>
          <p:cNvSpPr/>
          <p:nvPr/>
        </p:nvSpPr>
        <p:spPr>
          <a:xfrm>
            <a:off x="457200" y="6473952"/>
            <a:ext cx="7315200" cy="274320"/>
          </a:xfrm>
          <a:prstGeom prst="rect">
            <a:avLst/>
          </a:prstGeom>
          <a:noFill/>
          <a:ln/>
        </p:spPr>
        <p:txBody>
          <a:bodyPr wrap="square" rtlCol="0" anchor="ctr"/>
          <a:lstStyle/>
          <a:p>
            <a:pPr indent="0" marL="0">
              <a:buNone/>
            </a:pPr>
            <a:r>
              <a:rPr lang="en-US" sz="900" dirty="0">
                <a:solidFill>
                  <a:srgbClr val="7C8B96"/>
                </a:solidFill>
                <a:latin typeface="Calibri" pitchFamily="34" charset="0"/>
                <a:ea typeface="Calibri" pitchFamily="34" charset="-122"/>
                <a:cs typeface="Calibri" pitchFamily="34" charset="-120"/>
              </a:rPr>
              <a:t>Beyond the GPU — 2-hour lecture</a:t>
            </a:r>
            <a:endParaRPr lang="en-US" sz="900" dirty="0"/>
          </a:p>
        </p:txBody>
      </p:sp>
      <p:sp>
        <p:nvSpPr>
          <p:cNvPr id="18" name="Text 16"/>
          <p:cNvSpPr/>
          <p:nvPr/>
        </p:nvSpPr>
        <p:spPr>
          <a:xfrm>
            <a:off x="11277295" y="6473952"/>
            <a:ext cx="457200" cy="274320"/>
          </a:xfrm>
          <a:prstGeom prst="rect">
            <a:avLst/>
          </a:prstGeom>
          <a:noFill/>
          <a:ln/>
        </p:spPr>
        <p:txBody>
          <a:bodyPr wrap="square" rtlCol="0" anchor="ctr"/>
          <a:lstStyle/>
          <a:p>
            <a:pPr algn="r" indent="0" marL="0">
              <a:buNone/>
            </a:pPr>
            <a:r>
              <a:rPr lang="en-US" sz="900" dirty="0">
                <a:solidFill>
                  <a:srgbClr val="7C8B96"/>
                </a:solidFill>
                <a:latin typeface="Calibri" pitchFamily="34" charset="0"/>
                <a:ea typeface="Calibri" pitchFamily="34" charset="-122"/>
                <a:cs typeface="Calibri" pitchFamily="34" charset="-120"/>
              </a:rPr>
              <a:t>39</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10896"/>
            <a:ext cx="10058400" cy="274320"/>
          </a:xfrm>
          <a:prstGeom prst="rect">
            <a:avLst/>
          </a:prstGeom>
          <a:noFill/>
          <a:ln/>
        </p:spPr>
        <p:txBody>
          <a:bodyPr wrap="square" rtlCol="0" anchor="ctr"/>
          <a:lstStyle/>
          <a:p>
            <a:pPr indent="0" marL="0">
              <a:buNone/>
            </a:pPr>
            <a:r>
              <a:rPr lang="en-US" sz="1200" b="1" spc="200" kern="0" dirty="0">
                <a:solidFill>
                  <a:srgbClr val="0E8C9B"/>
                </a:solidFill>
                <a:latin typeface="Calibri" pitchFamily="34" charset="0"/>
                <a:ea typeface="Calibri" pitchFamily="34" charset="-122"/>
                <a:cs typeface="Calibri" pitchFamily="34" charset="-120"/>
              </a:rPr>
              <a:t>GROUP · CLIENT &amp; EDGE</a:t>
            </a:r>
            <a:endParaRPr lang="en-US" sz="1200" dirty="0"/>
          </a:p>
        </p:txBody>
      </p:sp>
      <p:sp>
        <p:nvSpPr>
          <p:cNvPr id="3" name="Text 1"/>
          <p:cNvSpPr/>
          <p:nvPr/>
        </p:nvSpPr>
        <p:spPr>
          <a:xfrm>
            <a:off x="457200" y="548640"/>
            <a:ext cx="11247120" cy="822960"/>
          </a:xfrm>
          <a:prstGeom prst="rect">
            <a:avLst/>
          </a:prstGeom>
          <a:noFill/>
          <a:ln/>
        </p:spPr>
        <p:txBody>
          <a:bodyPr wrap="square" rtlCol="0" anchor="ctr"/>
          <a:lstStyle/>
          <a:p>
            <a:pPr indent="0" marL="0">
              <a:buNone/>
            </a:pPr>
            <a:r>
              <a:rPr lang="en-US" sz="3000" b="1" dirty="0">
                <a:solidFill>
                  <a:srgbClr val="263947"/>
                </a:solidFill>
                <a:latin typeface="Cambria" pitchFamily="34" charset="0"/>
                <a:ea typeface="Cambria" pitchFamily="34" charset="-122"/>
                <a:cs typeface="Cambria" pitchFamily="34" charset="-120"/>
              </a:rPr>
              <a:t>The continuum's other half</a:t>
            </a:r>
            <a:endParaRPr lang="en-US" sz="3000" dirty="0"/>
          </a:p>
        </p:txBody>
      </p:sp>
      <p:sp>
        <p:nvSpPr>
          <p:cNvPr id="4" name="Shape 2"/>
          <p:cNvSpPr/>
          <p:nvPr/>
        </p:nvSpPr>
        <p:spPr>
          <a:xfrm>
            <a:off x="457200" y="1600200"/>
            <a:ext cx="3544824" cy="2171700"/>
          </a:xfrm>
          <a:prstGeom prst="roundRect">
            <a:avLst>
              <a:gd name="adj" fmla="val 2947"/>
            </a:avLst>
          </a:prstGeom>
          <a:solidFill>
            <a:srgbClr val="F4F7F8"/>
          </a:solidFill>
          <a:ln w="12700">
            <a:solidFill>
              <a:srgbClr val="E7ECEF"/>
            </a:solidFill>
            <a:prstDash val="solid"/>
          </a:ln>
        </p:spPr>
      </p:sp>
      <p:sp>
        <p:nvSpPr>
          <p:cNvPr id="5" name="Shape 3"/>
          <p:cNvSpPr/>
          <p:nvPr/>
        </p:nvSpPr>
        <p:spPr>
          <a:xfrm>
            <a:off x="658368" y="1801368"/>
            <a:ext cx="457200" cy="457200"/>
          </a:xfrm>
          <a:prstGeom prst="roundRect">
            <a:avLst>
              <a:gd name="adj" fmla="val 12000"/>
            </a:avLst>
          </a:prstGeom>
          <a:solidFill>
            <a:srgbClr val="0E8C9B"/>
          </a:solidFill>
          <a:ln/>
        </p:spPr>
      </p:sp>
      <p:sp>
        <p:nvSpPr>
          <p:cNvPr id="6" name="Text 4"/>
          <p:cNvSpPr/>
          <p:nvPr/>
        </p:nvSpPr>
        <p:spPr>
          <a:xfrm>
            <a:off x="1234440" y="1783080"/>
            <a:ext cx="2584704" cy="502920"/>
          </a:xfrm>
          <a:prstGeom prst="rect">
            <a:avLst/>
          </a:prstGeom>
          <a:noFill/>
          <a:ln/>
        </p:spPr>
        <p:txBody>
          <a:bodyPr wrap="square" rtlCol="0" anchor="ctr"/>
          <a:lstStyle/>
          <a:p>
            <a:pPr indent="0" marL="0">
              <a:buNone/>
            </a:pPr>
            <a:r>
              <a:rPr lang="en-US" sz="1450" b="1" dirty="0">
                <a:solidFill>
                  <a:srgbClr val="263947"/>
                </a:solidFill>
                <a:latin typeface="Calibri" pitchFamily="34" charset="0"/>
                <a:ea typeface="Calibri" pitchFamily="34" charset="-122"/>
                <a:cs typeface="Calibri" pitchFamily="34" charset="-120"/>
              </a:rPr>
              <a:t>AI PC</a:t>
            </a:r>
            <a:endParaRPr lang="en-US" sz="1450" dirty="0"/>
          </a:p>
        </p:txBody>
      </p:sp>
      <p:sp>
        <p:nvSpPr>
          <p:cNvPr id="7" name="Text 5"/>
          <p:cNvSpPr/>
          <p:nvPr/>
        </p:nvSpPr>
        <p:spPr>
          <a:xfrm>
            <a:off x="676656" y="2377440"/>
            <a:ext cx="3105912" cy="1257300"/>
          </a:xfrm>
          <a:prstGeom prst="rect">
            <a:avLst/>
          </a:prstGeom>
          <a:noFill/>
          <a:ln/>
        </p:spPr>
        <p:txBody>
          <a:bodyPr wrap="square" rtlCol="0" anchor="t"/>
          <a:lstStyle/>
          <a:p>
            <a:pPr indent="0" marL="0">
              <a:buNone/>
            </a:pPr>
            <a:r>
              <a:rPr lang="en-US" sz="1200" dirty="0">
                <a:solidFill>
                  <a:srgbClr val="263947"/>
                </a:solidFill>
                <a:latin typeface="Calibri" pitchFamily="34" charset="0"/>
                <a:ea typeface="Calibri" pitchFamily="34" charset="-122"/>
                <a:cs typeface="Calibri" pitchFamily="34" charset="-120"/>
              </a:rPr>
              <a:t>NPU + GPU under shared memory; bandwidth and coverage, not TOPS, decide.</a:t>
            </a:r>
            <a:endParaRPr lang="en-US" sz="1200" dirty="0"/>
          </a:p>
        </p:txBody>
      </p:sp>
      <p:sp>
        <p:nvSpPr>
          <p:cNvPr id="8" name="Shape 6"/>
          <p:cNvSpPr/>
          <p:nvPr/>
        </p:nvSpPr>
        <p:spPr>
          <a:xfrm>
            <a:off x="4322064" y="1600200"/>
            <a:ext cx="3544824" cy="2171700"/>
          </a:xfrm>
          <a:prstGeom prst="roundRect">
            <a:avLst>
              <a:gd name="adj" fmla="val 2947"/>
            </a:avLst>
          </a:prstGeom>
          <a:solidFill>
            <a:srgbClr val="F4F7F8"/>
          </a:solidFill>
          <a:ln w="12700">
            <a:solidFill>
              <a:srgbClr val="E7ECEF"/>
            </a:solidFill>
            <a:prstDash val="solid"/>
          </a:ln>
        </p:spPr>
      </p:sp>
      <p:sp>
        <p:nvSpPr>
          <p:cNvPr id="9" name="Shape 7"/>
          <p:cNvSpPr/>
          <p:nvPr/>
        </p:nvSpPr>
        <p:spPr>
          <a:xfrm>
            <a:off x="4523232" y="1801368"/>
            <a:ext cx="457200" cy="457200"/>
          </a:xfrm>
          <a:prstGeom prst="roundRect">
            <a:avLst>
              <a:gd name="adj" fmla="val 12000"/>
            </a:avLst>
          </a:prstGeom>
          <a:solidFill>
            <a:srgbClr val="2E6E9E"/>
          </a:solidFill>
          <a:ln/>
        </p:spPr>
      </p:sp>
      <p:sp>
        <p:nvSpPr>
          <p:cNvPr id="10" name="Text 8"/>
          <p:cNvSpPr/>
          <p:nvPr/>
        </p:nvSpPr>
        <p:spPr>
          <a:xfrm>
            <a:off x="5099304" y="1783080"/>
            <a:ext cx="2584704" cy="502920"/>
          </a:xfrm>
          <a:prstGeom prst="rect">
            <a:avLst/>
          </a:prstGeom>
          <a:noFill/>
          <a:ln/>
        </p:spPr>
        <p:txBody>
          <a:bodyPr wrap="square" rtlCol="0" anchor="ctr"/>
          <a:lstStyle/>
          <a:p>
            <a:pPr indent="0" marL="0">
              <a:buNone/>
            </a:pPr>
            <a:r>
              <a:rPr lang="en-US" sz="1450" b="1" dirty="0">
                <a:solidFill>
                  <a:srgbClr val="263947"/>
                </a:solidFill>
                <a:latin typeface="Calibri" pitchFamily="34" charset="0"/>
                <a:ea typeface="Calibri" pitchFamily="34" charset="-122"/>
                <a:cs typeface="Calibri" pitchFamily="34" charset="-120"/>
              </a:rPr>
              <a:t>Mobile SoC</a:t>
            </a:r>
            <a:endParaRPr lang="en-US" sz="1450" dirty="0"/>
          </a:p>
        </p:txBody>
      </p:sp>
      <p:sp>
        <p:nvSpPr>
          <p:cNvPr id="11" name="Text 9"/>
          <p:cNvSpPr/>
          <p:nvPr/>
        </p:nvSpPr>
        <p:spPr>
          <a:xfrm>
            <a:off x="4541520" y="2377440"/>
            <a:ext cx="3105912" cy="1257300"/>
          </a:xfrm>
          <a:prstGeom prst="rect">
            <a:avLst/>
          </a:prstGeom>
          <a:noFill/>
          <a:ln/>
        </p:spPr>
        <p:txBody>
          <a:bodyPr wrap="square" rtlCol="0" anchor="t"/>
          <a:lstStyle/>
          <a:p>
            <a:pPr indent="0" marL="0">
              <a:buNone/>
            </a:pPr>
            <a:r>
              <a:rPr lang="en-US" sz="1200" dirty="0">
                <a:solidFill>
                  <a:srgbClr val="263947"/>
                </a:solidFill>
                <a:latin typeface="Calibri" pitchFamily="34" charset="0"/>
                <a:ea typeface="Calibri" pitchFamily="34" charset="-122"/>
                <a:cs typeface="Calibri" pitchFamily="34" charset="-120"/>
              </a:rPr>
              <a:t>Three wake tiers; on-device foundation models; thermal equilibrium separates the field.</a:t>
            </a:r>
            <a:endParaRPr lang="en-US" sz="1200" dirty="0"/>
          </a:p>
        </p:txBody>
      </p:sp>
      <p:sp>
        <p:nvSpPr>
          <p:cNvPr id="12" name="Shape 10"/>
          <p:cNvSpPr/>
          <p:nvPr/>
        </p:nvSpPr>
        <p:spPr>
          <a:xfrm>
            <a:off x="8186928" y="1600200"/>
            <a:ext cx="3544824" cy="2171700"/>
          </a:xfrm>
          <a:prstGeom prst="roundRect">
            <a:avLst>
              <a:gd name="adj" fmla="val 2947"/>
            </a:avLst>
          </a:prstGeom>
          <a:solidFill>
            <a:srgbClr val="F4F7F8"/>
          </a:solidFill>
          <a:ln w="12700">
            <a:solidFill>
              <a:srgbClr val="E7ECEF"/>
            </a:solidFill>
            <a:prstDash val="solid"/>
          </a:ln>
        </p:spPr>
      </p:sp>
      <p:sp>
        <p:nvSpPr>
          <p:cNvPr id="13" name="Shape 11"/>
          <p:cNvSpPr/>
          <p:nvPr/>
        </p:nvSpPr>
        <p:spPr>
          <a:xfrm>
            <a:off x="8388096" y="1801368"/>
            <a:ext cx="457200" cy="457200"/>
          </a:xfrm>
          <a:prstGeom prst="roundRect">
            <a:avLst>
              <a:gd name="adj" fmla="val 12000"/>
            </a:avLst>
          </a:prstGeom>
          <a:solidFill>
            <a:srgbClr val="E08A2B"/>
          </a:solidFill>
          <a:ln/>
        </p:spPr>
      </p:sp>
      <p:sp>
        <p:nvSpPr>
          <p:cNvPr id="14" name="Text 12"/>
          <p:cNvSpPr/>
          <p:nvPr/>
        </p:nvSpPr>
        <p:spPr>
          <a:xfrm>
            <a:off x="8964168" y="1783080"/>
            <a:ext cx="2584704" cy="502920"/>
          </a:xfrm>
          <a:prstGeom prst="rect">
            <a:avLst/>
          </a:prstGeom>
          <a:noFill/>
          <a:ln/>
        </p:spPr>
        <p:txBody>
          <a:bodyPr wrap="square" rtlCol="0" anchor="ctr"/>
          <a:lstStyle/>
          <a:p>
            <a:pPr indent="0" marL="0">
              <a:buNone/>
            </a:pPr>
            <a:r>
              <a:rPr lang="en-US" sz="1450" b="1" dirty="0">
                <a:solidFill>
                  <a:srgbClr val="263947"/>
                </a:solidFill>
                <a:latin typeface="Calibri" pitchFamily="34" charset="0"/>
                <a:ea typeface="Calibri" pitchFamily="34" charset="-122"/>
                <a:cs typeface="Calibri" pitchFamily="34" charset="-120"/>
              </a:rPr>
              <a:t>Embedded / µNPU</a:t>
            </a:r>
            <a:endParaRPr lang="en-US" sz="1450" dirty="0"/>
          </a:p>
        </p:txBody>
      </p:sp>
      <p:sp>
        <p:nvSpPr>
          <p:cNvPr id="15" name="Text 13"/>
          <p:cNvSpPr/>
          <p:nvPr/>
        </p:nvSpPr>
        <p:spPr>
          <a:xfrm>
            <a:off x="8406384" y="2377440"/>
            <a:ext cx="3105912" cy="1257300"/>
          </a:xfrm>
          <a:prstGeom prst="rect">
            <a:avLst/>
          </a:prstGeom>
          <a:noFill/>
          <a:ln/>
        </p:spPr>
        <p:txBody>
          <a:bodyPr wrap="square" rtlCol="0" anchor="t"/>
          <a:lstStyle/>
          <a:p>
            <a:pPr indent="0" marL="0">
              <a:buNone/>
            </a:pPr>
            <a:r>
              <a:rPr lang="en-US" sz="1200" dirty="0">
                <a:solidFill>
                  <a:srgbClr val="263947"/>
                </a:solidFill>
                <a:latin typeface="Calibri" pitchFamily="34" charset="0"/>
                <a:ea typeface="Calibri" pitchFamily="34" charset="-122"/>
                <a:cs typeface="Calibri" pitchFamily="34" charset="-120"/>
              </a:rPr>
              <a:t>IP-licensed; cost floor and decade lifecycle dominate.</a:t>
            </a:r>
            <a:endParaRPr lang="en-US" sz="1200" dirty="0"/>
          </a:p>
        </p:txBody>
      </p:sp>
      <p:sp>
        <p:nvSpPr>
          <p:cNvPr id="16" name="Shape 14"/>
          <p:cNvSpPr/>
          <p:nvPr/>
        </p:nvSpPr>
        <p:spPr>
          <a:xfrm>
            <a:off x="457200" y="4046220"/>
            <a:ext cx="3544824" cy="2171700"/>
          </a:xfrm>
          <a:prstGeom prst="roundRect">
            <a:avLst>
              <a:gd name="adj" fmla="val 2947"/>
            </a:avLst>
          </a:prstGeom>
          <a:solidFill>
            <a:srgbClr val="F4F7F8"/>
          </a:solidFill>
          <a:ln w="12700">
            <a:solidFill>
              <a:srgbClr val="E7ECEF"/>
            </a:solidFill>
            <a:prstDash val="solid"/>
          </a:ln>
        </p:spPr>
      </p:sp>
      <p:sp>
        <p:nvSpPr>
          <p:cNvPr id="17" name="Shape 15"/>
          <p:cNvSpPr/>
          <p:nvPr/>
        </p:nvSpPr>
        <p:spPr>
          <a:xfrm>
            <a:off x="658368" y="4247388"/>
            <a:ext cx="457200" cy="457200"/>
          </a:xfrm>
          <a:prstGeom prst="roundRect">
            <a:avLst>
              <a:gd name="adj" fmla="val 12000"/>
            </a:avLst>
          </a:prstGeom>
          <a:solidFill>
            <a:srgbClr val="3F9E6A"/>
          </a:solidFill>
          <a:ln/>
        </p:spPr>
      </p:sp>
      <p:sp>
        <p:nvSpPr>
          <p:cNvPr id="18" name="Text 16"/>
          <p:cNvSpPr/>
          <p:nvPr/>
        </p:nvSpPr>
        <p:spPr>
          <a:xfrm>
            <a:off x="1234440" y="4229100"/>
            <a:ext cx="2584704" cy="502920"/>
          </a:xfrm>
          <a:prstGeom prst="rect">
            <a:avLst/>
          </a:prstGeom>
          <a:noFill/>
          <a:ln/>
        </p:spPr>
        <p:txBody>
          <a:bodyPr wrap="square" rtlCol="0" anchor="ctr"/>
          <a:lstStyle/>
          <a:p>
            <a:pPr indent="0" marL="0">
              <a:buNone/>
            </a:pPr>
            <a:r>
              <a:rPr lang="en-US" sz="1450" b="1" dirty="0">
                <a:solidFill>
                  <a:srgbClr val="263947"/>
                </a:solidFill>
                <a:latin typeface="Calibri" pitchFamily="34" charset="0"/>
                <a:ea typeface="Calibri" pitchFamily="34" charset="-122"/>
                <a:cs typeface="Calibri" pitchFamily="34" charset="-120"/>
              </a:rPr>
              <a:t>Robotics</a:t>
            </a:r>
            <a:endParaRPr lang="en-US" sz="1450" dirty="0"/>
          </a:p>
        </p:txBody>
      </p:sp>
      <p:sp>
        <p:nvSpPr>
          <p:cNvPr id="19" name="Text 17"/>
          <p:cNvSpPr/>
          <p:nvPr/>
        </p:nvSpPr>
        <p:spPr>
          <a:xfrm>
            <a:off x="676656" y="4823460"/>
            <a:ext cx="3105912" cy="1257300"/>
          </a:xfrm>
          <a:prstGeom prst="rect">
            <a:avLst/>
          </a:prstGeom>
          <a:noFill/>
          <a:ln/>
        </p:spPr>
        <p:txBody>
          <a:bodyPr wrap="square" rtlCol="0" anchor="t"/>
          <a:lstStyle/>
          <a:p>
            <a:pPr indent="0" marL="0">
              <a:buNone/>
            </a:pPr>
            <a:r>
              <a:rPr lang="en-US" sz="1200" dirty="0">
                <a:solidFill>
                  <a:srgbClr val="263947"/>
                </a:solidFill>
                <a:latin typeface="Calibri" pitchFamily="34" charset="0"/>
                <a:ea typeface="Calibri" pitchFamily="34" charset="-122"/>
                <a:cs typeface="Calibri" pitchFamily="34" charset="-120"/>
              </a:rPr>
              <a:t>GPU-class perception above a deterministic control floor — flexibility wins when algorithms churn.</a:t>
            </a:r>
            <a:endParaRPr lang="en-US" sz="1200" dirty="0"/>
          </a:p>
        </p:txBody>
      </p:sp>
      <p:sp>
        <p:nvSpPr>
          <p:cNvPr id="20" name="Shape 18"/>
          <p:cNvSpPr/>
          <p:nvPr/>
        </p:nvSpPr>
        <p:spPr>
          <a:xfrm>
            <a:off x="4322064" y="4046220"/>
            <a:ext cx="3544824" cy="2171700"/>
          </a:xfrm>
          <a:prstGeom prst="roundRect">
            <a:avLst>
              <a:gd name="adj" fmla="val 2947"/>
            </a:avLst>
          </a:prstGeom>
          <a:solidFill>
            <a:srgbClr val="F4F7F8"/>
          </a:solidFill>
          <a:ln w="12700">
            <a:solidFill>
              <a:srgbClr val="E7ECEF"/>
            </a:solidFill>
            <a:prstDash val="solid"/>
          </a:ln>
        </p:spPr>
      </p:sp>
      <p:sp>
        <p:nvSpPr>
          <p:cNvPr id="21" name="Shape 19"/>
          <p:cNvSpPr/>
          <p:nvPr/>
        </p:nvSpPr>
        <p:spPr>
          <a:xfrm>
            <a:off x="4523232" y="4247388"/>
            <a:ext cx="457200" cy="457200"/>
          </a:xfrm>
          <a:prstGeom prst="roundRect">
            <a:avLst>
              <a:gd name="adj" fmla="val 12000"/>
            </a:avLst>
          </a:prstGeom>
          <a:solidFill>
            <a:srgbClr val="16232E"/>
          </a:solidFill>
          <a:ln/>
        </p:spPr>
      </p:sp>
      <p:sp>
        <p:nvSpPr>
          <p:cNvPr id="22" name="Text 20"/>
          <p:cNvSpPr/>
          <p:nvPr/>
        </p:nvSpPr>
        <p:spPr>
          <a:xfrm>
            <a:off x="5099304" y="4229100"/>
            <a:ext cx="2584704" cy="502920"/>
          </a:xfrm>
          <a:prstGeom prst="rect">
            <a:avLst/>
          </a:prstGeom>
          <a:noFill/>
          <a:ln/>
        </p:spPr>
        <p:txBody>
          <a:bodyPr wrap="square" rtlCol="0" anchor="ctr"/>
          <a:lstStyle/>
          <a:p>
            <a:pPr indent="0" marL="0">
              <a:buNone/>
            </a:pPr>
            <a:r>
              <a:rPr lang="en-US" sz="1450" b="1" dirty="0">
                <a:solidFill>
                  <a:srgbClr val="263947"/>
                </a:solidFill>
                <a:latin typeface="Calibri" pitchFamily="34" charset="0"/>
                <a:ea typeface="Calibri" pitchFamily="34" charset="-122"/>
                <a:cs typeface="Calibri" pitchFamily="34" charset="-120"/>
              </a:rPr>
              <a:t>Automotive</a:t>
            </a:r>
            <a:endParaRPr lang="en-US" sz="1450" dirty="0"/>
          </a:p>
        </p:txBody>
      </p:sp>
      <p:sp>
        <p:nvSpPr>
          <p:cNvPr id="23" name="Text 21"/>
          <p:cNvSpPr/>
          <p:nvPr/>
        </p:nvSpPr>
        <p:spPr>
          <a:xfrm>
            <a:off x="4541520" y="4823460"/>
            <a:ext cx="3105912" cy="1257300"/>
          </a:xfrm>
          <a:prstGeom prst="rect">
            <a:avLst/>
          </a:prstGeom>
          <a:noFill/>
          <a:ln/>
        </p:spPr>
        <p:txBody>
          <a:bodyPr wrap="square" rtlCol="0" anchor="t"/>
          <a:lstStyle/>
          <a:p>
            <a:pPr indent="0" marL="0">
              <a:buNone/>
            </a:pPr>
            <a:r>
              <a:rPr lang="en-US" sz="1200" dirty="0">
                <a:solidFill>
                  <a:srgbClr val="263947"/>
                </a:solidFill>
                <a:latin typeface="Calibri" pitchFamily="34" charset="0"/>
                <a:ea typeface="Calibri" pitchFamily="34" charset="-122"/>
                <a:cs typeface="Calibri" pitchFamily="34" charset="-120"/>
              </a:rPr>
              <a:t>Determinism and lifecycle become certification objects; supply sovereignty joins economics.</a:t>
            </a:r>
            <a:endParaRPr lang="en-US" sz="1200" dirty="0"/>
          </a:p>
        </p:txBody>
      </p:sp>
      <p:sp>
        <p:nvSpPr>
          <p:cNvPr id="24" name="Shape 22"/>
          <p:cNvSpPr/>
          <p:nvPr/>
        </p:nvSpPr>
        <p:spPr>
          <a:xfrm>
            <a:off x="8186928" y="4046220"/>
            <a:ext cx="3544824" cy="2171700"/>
          </a:xfrm>
          <a:prstGeom prst="roundRect">
            <a:avLst>
              <a:gd name="adj" fmla="val 2947"/>
            </a:avLst>
          </a:prstGeom>
          <a:solidFill>
            <a:srgbClr val="F4F7F8"/>
          </a:solidFill>
          <a:ln w="12700">
            <a:solidFill>
              <a:srgbClr val="E7ECEF"/>
            </a:solidFill>
            <a:prstDash val="solid"/>
          </a:ln>
        </p:spPr>
      </p:sp>
      <p:sp>
        <p:nvSpPr>
          <p:cNvPr id="25" name="Shape 23"/>
          <p:cNvSpPr/>
          <p:nvPr/>
        </p:nvSpPr>
        <p:spPr>
          <a:xfrm>
            <a:off x="8388096" y="4247388"/>
            <a:ext cx="457200" cy="457200"/>
          </a:xfrm>
          <a:prstGeom prst="roundRect">
            <a:avLst>
              <a:gd name="adj" fmla="val 12000"/>
            </a:avLst>
          </a:prstGeom>
          <a:solidFill>
            <a:srgbClr val="263947"/>
          </a:solidFill>
          <a:ln/>
        </p:spPr>
      </p:sp>
      <p:sp>
        <p:nvSpPr>
          <p:cNvPr id="26" name="Text 24"/>
          <p:cNvSpPr/>
          <p:nvPr/>
        </p:nvSpPr>
        <p:spPr>
          <a:xfrm>
            <a:off x="8964168" y="4229100"/>
            <a:ext cx="2584704" cy="502920"/>
          </a:xfrm>
          <a:prstGeom prst="rect">
            <a:avLst/>
          </a:prstGeom>
          <a:noFill/>
          <a:ln/>
        </p:spPr>
        <p:txBody>
          <a:bodyPr wrap="square" rtlCol="0" anchor="ctr"/>
          <a:lstStyle/>
          <a:p>
            <a:pPr indent="0" marL="0">
              <a:buNone/>
            </a:pPr>
            <a:r>
              <a:rPr lang="en-US" sz="1450" b="1" dirty="0">
                <a:solidFill>
                  <a:srgbClr val="263947"/>
                </a:solidFill>
                <a:latin typeface="Calibri" pitchFamily="34" charset="0"/>
                <a:ea typeface="Calibri" pitchFamily="34" charset="-122"/>
                <a:cs typeface="Calibri" pitchFamily="34" charset="-120"/>
              </a:rPr>
              <a:t>Shared taxonomy</a:t>
            </a:r>
            <a:endParaRPr lang="en-US" sz="1450" dirty="0"/>
          </a:p>
        </p:txBody>
      </p:sp>
      <p:sp>
        <p:nvSpPr>
          <p:cNvPr id="27" name="Text 25"/>
          <p:cNvSpPr/>
          <p:nvPr/>
        </p:nvSpPr>
        <p:spPr>
          <a:xfrm>
            <a:off x="8406384" y="4823460"/>
            <a:ext cx="3105912" cy="1257300"/>
          </a:xfrm>
          <a:prstGeom prst="rect">
            <a:avLst/>
          </a:prstGeom>
          <a:noFill/>
          <a:ln/>
        </p:spPr>
        <p:txBody>
          <a:bodyPr wrap="square" rtlCol="0" anchor="t"/>
          <a:lstStyle/>
          <a:p>
            <a:pPr indent="0" marL="0">
              <a:buNone/>
            </a:pPr>
            <a:r>
              <a:rPr lang="en-US" sz="1200" dirty="0">
                <a:solidFill>
                  <a:srgbClr val="263947"/>
                </a:solidFill>
                <a:latin typeface="Calibri" pitchFamily="34" charset="0"/>
                <a:ea typeface="Calibri" pitchFamily="34" charset="-122"/>
                <a:cs typeface="Calibri" pitchFamily="34" charset="-120"/>
              </a:rPr>
              <a:t>Same families as the datacenter — different binding constraints.</a:t>
            </a:r>
            <a:endParaRPr lang="en-US" sz="1200" dirty="0"/>
          </a:p>
        </p:txBody>
      </p:sp>
      <p:sp>
        <p:nvSpPr>
          <p:cNvPr id="28" name="Text 26"/>
          <p:cNvSpPr/>
          <p:nvPr/>
        </p:nvSpPr>
        <p:spPr>
          <a:xfrm>
            <a:off x="457200" y="6473952"/>
            <a:ext cx="7315200" cy="274320"/>
          </a:xfrm>
          <a:prstGeom prst="rect">
            <a:avLst/>
          </a:prstGeom>
          <a:noFill/>
          <a:ln/>
        </p:spPr>
        <p:txBody>
          <a:bodyPr wrap="square" rtlCol="0" anchor="ctr"/>
          <a:lstStyle/>
          <a:p>
            <a:pPr indent="0" marL="0">
              <a:buNone/>
            </a:pPr>
            <a:r>
              <a:rPr lang="en-US" sz="900" dirty="0">
                <a:solidFill>
                  <a:srgbClr val="7C8B96"/>
                </a:solidFill>
                <a:latin typeface="Calibri" pitchFamily="34" charset="0"/>
                <a:ea typeface="Calibri" pitchFamily="34" charset="-122"/>
                <a:cs typeface="Calibri" pitchFamily="34" charset="-120"/>
              </a:rPr>
              <a:t>Beyond the GPU — 2-hour lecture</a:t>
            </a:r>
            <a:endParaRPr lang="en-US" sz="900" dirty="0"/>
          </a:p>
        </p:txBody>
      </p:sp>
      <p:sp>
        <p:nvSpPr>
          <p:cNvPr id="29" name="Text 27"/>
          <p:cNvSpPr/>
          <p:nvPr/>
        </p:nvSpPr>
        <p:spPr>
          <a:xfrm>
            <a:off x="11277295" y="6473952"/>
            <a:ext cx="457200" cy="274320"/>
          </a:xfrm>
          <a:prstGeom prst="rect">
            <a:avLst/>
          </a:prstGeom>
          <a:noFill/>
          <a:ln/>
        </p:spPr>
        <p:txBody>
          <a:bodyPr wrap="square" rtlCol="0" anchor="ctr"/>
          <a:lstStyle/>
          <a:p>
            <a:pPr algn="r" indent="0" marL="0">
              <a:buNone/>
            </a:pPr>
            <a:r>
              <a:rPr lang="en-US" sz="900" dirty="0">
                <a:solidFill>
                  <a:srgbClr val="7C8B96"/>
                </a:solidFill>
                <a:latin typeface="Calibri" pitchFamily="34" charset="0"/>
                <a:ea typeface="Calibri" pitchFamily="34" charset="-122"/>
                <a:cs typeface="Calibri" pitchFamily="34" charset="-120"/>
              </a:rPr>
              <a:t>40</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16232E"/>
        </a:solidFill>
      </p:bgPr>
    </p:bg>
    <p:spTree>
      <p:nvGrpSpPr>
        <p:cNvPr id="1" name=""/>
        <p:cNvGrpSpPr/>
        <p:nvPr/>
      </p:nvGrpSpPr>
      <p:grpSpPr>
        <a:xfrm>
          <a:off x="0" y="0"/>
          <a:ext cx="0" cy="0"/>
          <a:chOff x="0" y="0"/>
          <a:chExt cx="0" cy="0"/>
        </a:xfrm>
      </p:grpSpPr>
      <p:sp>
        <p:nvSpPr>
          <p:cNvPr id="2" name="Text 0"/>
          <p:cNvSpPr/>
          <p:nvPr/>
        </p:nvSpPr>
        <p:spPr>
          <a:xfrm>
            <a:off x="731520" y="2103120"/>
            <a:ext cx="2011680" cy="1645920"/>
          </a:xfrm>
          <a:prstGeom prst="rect">
            <a:avLst/>
          </a:prstGeom>
          <a:noFill/>
          <a:ln/>
        </p:spPr>
        <p:txBody>
          <a:bodyPr wrap="square" rtlCol="0" anchor="ctr"/>
          <a:lstStyle/>
          <a:p>
            <a:pPr indent="0" marL="0">
              <a:buNone/>
            </a:pPr>
            <a:r>
              <a:rPr lang="en-US" sz="8000" b="1" dirty="0">
                <a:solidFill>
                  <a:srgbClr val="E08A2B"/>
                </a:solidFill>
                <a:latin typeface="Cambria" pitchFamily="34" charset="0"/>
                <a:ea typeface="Cambria" pitchFamily="34" charset="-122"/>
                <a:cs typeface="Cambria" pitchFamily="34" charset="-120"/>
              </a:rPr>
              <a:t>06</a:t>
            </a:r>
            <a:endParaRPr lang="en-US" sz="8000" dirty="0"/>
          </a:p>
        </p:txBody>
      </p:sp>
      <p:sp>
        <p:nvSpPr>
          <p:cNvPr id="3" name="Text 1"/>
          <p:cNvSpPr/>
          <p:nvPr/>
        </p:nvSpPr>
        <p:spPr>
          <a:xfrm>
            <a:off x="2834640" y="2514600"/>
            <a:ext cx="8595360" cy="1280160"/>
          </a:xfrm>
          <a:prstGeom prst="rect">
            <a:avLst/>
          </a:prstGeom>
          <a:noFill/>
          <a:ln/>
        </p:spPr>
        <p:txBody>
          <a:bodyPr wrap="square"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Substrate &amp; economics</a:t>
            </a:r>
            <a:endParaRPr lang="en-US" sz="3800" dirty="0"/>
          </a:p>
        </p:txBody>
      </p:sp>
      <p:sp>
        <p:nvSpPr>
          <p:cNvPr id="4" name="Text 2"/>
          <p:cNvSpPr/>
          <p:nvPr/>
        </p:nvSpPr>
        <p:spPr>
          <a:xfrm>
            <a:off x="2880360" y="3703320"/>
            <a:ext cx="8412480" cy="822960"/>
          </a:xfrm>
          <a:prstGeom prst="rect">
            <a:avLst/>
          </a:prstGeom>
          <a:noFill/>
          <a:ln/>
        </p:spPr>
        <p:txBody>
          <a:bodyPr wrap="square" rtlCol="0" anchor="ctr"/>
          <a:lstStyle/>
          <a:p>
            <a:pPr indent="0" marL="0">
              <a:buNone/>
            </a:pPr>
            <a:r>
              <a:rPr lang="en-US" sz="1600" dirty="0">
                <a:solidFill>
                  <a:srgbClr val="E7ECEF"/>
                </a:solidFill>
                <a:latin typeface="Calibri" pitchFamily="34" charset="0"/>
                <a:ea typeface="Calibri" pitchFamily="34" charset="-122"/>
                <a:cs typeface="Calibri" pitchFamily="34" charset="-120"/>
              </a:rPr>
              <a:t>Software capital, packaging, and cost</a:t>
            </a:r>
            <a:endParaRPr lang="en-US" sz="1600" dirty="0"/>
          </a:p>
        </p:txBody>
      </p:sp>
      <p:sp>
        <p:nvSpPr>
          <p:cNvPr id="5" name="Text 3"/>
          <p:cNvSpPr/>
          <p:nvPr/>
        </p:nvSpPr>
        <p:spPr>
          <a:xfrm>
            <a:off x="457200" y="6473952"/>
            <a:ext cx="7315200" cy="274320"/>
          </a:xfrm>
          <a:prstGeom prst="rect">
            <a:avLst/>
          </a:prstGeom>
          <a:noFill/>
          <a:ln/>
        </p:spPr>
        <p:txBody>
          <a:bodyPr wrap="square" rtlCol="0" anchor="ctr"/>
          <a:lstStyle/>
          <a:p>
            <a:pPr indent="0" marL="0">
              <a:buNone/>
            </a:pPr>
            <a:r>
              <a:rPr lang="en-US" sz="900" dirty="0">
                <a:solidFill>
                  <a:srgbClr val="7C8B96"/>
                </a:solidFill>
                <a:latin typeface="Calibri" pitchFamily="34" charset="0"/>
                <a:ea typeface="Calibri" pitchFamily="34" charset="-122"/>
                <a:cs typeface="Calibri" pitchFamily="34" charset="-120"/>
              </a:rPr>
              <a:t>Beyond the GPU — 2-hour lecture</a:t>
            </a:r>
            <a:endParaRPr lang="en-US" sz="900" dirty="0"/>
          </a:p>
        </p:txBody>
      </p:sp>
      <p:sp>
        <p:nvSpPr>
          <p:cNvPr id="6" name="Text 4"/>
          <p:cNvSpPr/>
          <p:nvPr/>
        </p:nvSpPr>
        <p:spPr>
          <a:xfrm>
            <a:off x="11277295" y="6473952"/>
            <a:ext cx="457200" cy="274320"/>
          </a:xfrm>
          <a:prstGeom prst="rect">
            <a:avLst/>
          </a:prstGeom>
          <a:noFill/>
          <a:ln/>
        </p:spPr>
        <p:txBody>
          <a:bodyPr wrap="square" rtlCol="0" anchor="ctr"/>
          <a:lstStyle/>
          <a:p>
            <a:pPr algn="r" indent="0" marL="0">
              <a:buNone/>
            </a:pPr>
            <a:r>
              <a:rPr lang="en-US" sz="900" dirty="0">
                <a:solidFill>
                  <a:srgbClr val="7C8B96"/>
                </a:solidFill>
                <a:latin typeface="Calibri" pitchFamily="34" charset="0"/>
                <a:ea typeface="Calibri" pitchFamily="34" charset="-122"/>
                <a:cs typeface="Calibri" pitchFamily="34" charset="-120"/>
              </a:rPr>
              <a:t>41</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10896"/>
            <a:ext cx="10058400" cy="274320"/>
          </a:xfrm>
          <a:prstGeom prst="rect">
            <a:avLst/>
          </a:prstGeom>
          <a:noFill/>
          <a:ln/>
        </p:spPr>
        <p:txBody>
          <a:bodyPr wrap="square" rtlCol="0" anchor="ctr"/>
          <a:lstStyle/>
          <a:p>
            <a:pPr indent="0" marL="0">
              <a:buNone/>
            </a:pPr>
            <a:r>
              <a:rPr lang="en-US" sz="1200" b="1" spc="200" kern="0" dirty="0">
                <a:solidFill>
                  <a:srgbClr val="0E8C9B"/>
                </a:solidFill>
                <a:latin typeface="Calibri" pitchFamily="34" charset="0"/>
                <a:ea typeface="Calibri" pitchFamily="34" charset="-122"/>
                <a:cs typeface="Calibri" pitchFamily="34" charset="-120"/>
              </a:rPr>
              <a:t>SOFTWARE ECOSYSTEM</a:t>
            </a:r>
            <a:endParaRPr lang="en-US" sz="1200" dirty="0"/>
          </a:p>
        </p:txBody>
      </p:sp>
      <p:sp>
        <p:nvSpPr>
          <p:cNvPr id="3" name="Text 1"/>
          <p:cNvSpPr/>
          <p:nvPr/>
        </p:nvSpPr>
        <p:spPr>
          <a:xfrm>
            <a:off x="457200" y="548640"/>
            <a:ext cx="11247120" cy="822960"/>
          </a:xfrm>
          <a:prstGeom prst="rect">
            <a:avLst/>
          </a:prstGeom>
          <a:noFill/>
          <a:ln/>
        </p:spPr>
        <p:txBody>
          <a:bodyPr wrap="square" rtlCol="0" anchor="ctr"/>
          <a:lstStyle/>
          <a:p>
            <a:pPr indent="0" marL="0">
              <a:buNone/>
            </a:pPr>
            <a:r>
              <a:rPr lang="en-US" sz="3000" b="1" dirty="0">
                <a:solidFill>
                  <a:srgbClr val="263947"/>
                </a:solidFill>
                <a:latin typeface="Cambria" pitchFamily="34" charset="0"/>
                <a:ea typeface="Cambria" pitchFamily="34" charset="-122"/>
                <a:cs typeface="Cambria" pitchFamily="34" charset="-120"/>
              </a:rPr>
              <a:t>The moat is not the kernel language</a:t>
            </a:r>
            <a:endParaRPr lang="en-US" sz="3000" dirty="0"/>
          </a:p>
        </p:txBody>
      </p:sp>
      <p:pic>
        <p:nvPicPr>
          <p:cNvPr id="4" name="Image 0" descr="/sessions/compassionate-blissful-planck/mnt/outputs/deck_assets/narrow_waist.png">    </p:cNvPr>
          <p:cNvPicPr>
            <a:picLocks noChangeAspect="1"/>
          </p:cNvPicPr>
          <p:nvPr/>
        </p:nvPicPr>
        <p:blipFill>
          <a:blip r:embed="rId1"/>
          <a:srcRect l="-78049" r="-78049" t="0" b="0"/>
          <a:stretch/>
        </p:blipFill>
        <p:spPr>
          <a:xfrm>
            <a:off x="1280160" y="1554480"/>
            <a:ext cx="9601200" cy="3749040"/>
          </a:xfrm>
          <a:prstGeom prst="rect">
            <a:avLst/>
          </a:prstGeom>
        </p:spPr>
      </p:pic>
      <p:sp>
        <p:nvSpPr>
          <p:cNvPr id="5" name="Shape 2"/>
          <p:cNvSpPr/>
          <p:nvPr/>
        </p:nvSpPr>
        <p:spPr>
          <a:xfrm>
            <a:off x="457200" y="5715000"/>
            <a:ext cx="11274552" cy="566928"/>
          </a:xfrm>
          <a:prstGeom prst="roundRect">
            <a:avLst>
              <a:gd name="adj" fmla="val 9677"/>
            </a:avLst>
          </a:prstGeom>
          <a:solidFill>
            <a:srgbClr val="F4F7F8"/>
          </a:solidFill>
          <a:ln w="12700">
            <a:solidFill>
              <a:srgbClr val="E7ECEF"/>
            </a:solidFill>
            <a:prstDash val="solid"/>
          </a:ln>
        </p:spPr>
      </p:sp>
      <p:sp>
        <p:nvSpPr>
          <p:cNvPr id="6" name="Text 3"/>
          <p:cNvSpPr/>
          <p:nvPr/>
        </p:nvSpPr>
        <p:spPr>
          <a:xfrm>
            <a:off x="731520" y="5715000"/>
            <a:ext cx="10789920" cy="566928"/>
          </a:xfrm>
          <a:prstGeom prst="rect">
            <a:avLst/>
          </a:prstGeom>
          <a:noFill/>
          <a:ln/>
        </p:spPr>
        <p:txBody>
          <a:bodyPr wrap="square" rtlCol="0" anchor="ctr"/>
          <a:lstStyle/>
          <a:p>
            <a:pPr indent="0" marL="0">
              <a:buNone/>
            </a:pPr>
            <a:r>
              <a:rPr lang="en-US" sz="1400" b="1" dirty="0">
                <a:solidFill>
                  <a:srgbClr val="E08A2B"/>
                </a:solidFill>
                <a:latin typeface="Calibri" pitchFamily="34" charset="0"/>
                <a:ea typeface="Calibri" pitchFamily="34" charset="-122"/>
                <a:cs typeface="Calibri" pitchFamily="34" charset="-120"/>
              </a:rPr>
              <a:t>⇒  </a:t>
            </a:r>
            <a:pPr indent="0" marL="0">
              <a:buNone/>
            </a:pPr>
            <a:r>
              <a:rPr lang="en-US" sz="1400" b="1" dirty="0">
                <a:solidFill>
                  <a:srgbClr val="263947"/>
                </a:solidFill>
                <a:latin typeface="Calibri" pitchFamily="34" charset="0"/>
                <a:ea typeface="Calibri" pitchFamily="34" charset="-122"/>
                <a:cs typeface="Calibri" pitchFamily="34" charset="-120"/>
              </a:rPr>
              <a:t>Portability efforts aimed at the kernel layer solve the cheapest part; the moat sits above and below the waist.</a:t>
            </a:r>
            <a:endParaRPr lang="en-US" sz="1400" dirty="0"/>
          </a:p>
        </p:txBody>
      </p:sp>
      <p:sp>
        <p:nvSpPr>
          <p:cNvPr id="7" name="Text 4"/>
          <p:cNvSpPr/>
          <p:nvPr/>
        </p:nvSpPr>
        <p:spPr>
          <a:xfrm>
            <a:off x="457200" y="6473952"/>
            <a:ext cx="7315200" cy="274320"/>
          </a:xfrm>
          <a:prstGeom prst="rect">
            <a:avLst/>
          </a:prstGeom>
          <a:noFill/>
          <a:ln/>
        </p:spPr>
        <p:txBody>
          <a:bodyPr wrap="square" rtlCol="0" anchor="ctr"/>
          <a:lstStyle/>
          <a:p>
            <a:pPr indent="0" marL="0">
              <a:buNone/>
            </a:pPr>
            <a:r>
              <a:rPr lang="en-US" sz="900" dirty="0">
                <a:solidFill>
                  <a:srgbClr val="7C8B96"/>
                </a:solidFill>
                <a:latin typeface="Calibri" pitchFamily="34" charset="0"/>
                <a:ea typeface="Calibri" pitchFamily="34" charset="-122"/>
                <a:cs typeface="Calibri" pitchFamily="34" charset="-120"/>
              </a:rPr>
              <a:t>Beyond the GPU — 2-hour lecture</a:t>
            </a:r>
            <a:endParaRPr lang="en-US" sz="900" dirty="0"/>
          </a:p>
        </p:txBody>
      </p:sp>
      <p:sp>
        <p:nvSpPr>
          <p:cNvPr id="8" name="Text 5"/>
          <p:cNvSpPr/>
          <p:nvPr/>
        </p:nvSpPr>
        <p:spPr>
          <a:xfrm>
            <a:off x="11277295" y="6473952"/>
            <a:ext cx="457200" cy="274320"/>
          </a:xfrm>
          <a:prstGeom prst="rect">
            <a:avLst/>
          </a:prstGeom>
          <a:noFill/>
          <a:ln/>
        </p:spPr>
        <p:txBody>
          <a:bodyPr wrap="square" rtlCol="0" anchor="ctr"/>
          <a:lstStyle/>
          <a:p>
            <a:pPr algn="r" indent="0" marL="0">
              <a:buNone/>
            </a:pPr>
            <a:r>
              <a:rPr lang="en-US" sz="900" dirty="0">
                <a:solidFill>
                  <a:srgbClr val="7C8B96"/>
                </a:solidFill>
                <a:latin typeface="Calibri" pitchFamily="34" charset="0"/>
                <a:ea typeface="Calibri" pitchFamily="34" charset="-122"/>
                <a:cs typeface="Calibri" pitchFamily="34" charset="-120"/>
              </a:rPr>
              <a:t>42</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10896"/>
            <a:ext cx="10058400" cy="274320"/>
          </a:xfrm>
          <a:prstGeom prst="rect">
            <a:avLst/>
          </a:prstGeom>
          <a:noFill/>
          <a:ln/>
        </p:spPr>
        <p:txBody>
          <a:bodyPr wrap="square" rtlCol="0" anchor="ctr"/>
          <a:lstStyle/>
          <a:p>
            <a:pPr indent="0" marL="0">
              <a:buNone/>
            </a:pPr>
            <a:r>
              <a:rPr lang="en-US" sz="1200" b="1" spc="200" kern="0" dirty="0">
                <a:solidFill>
                  <a:srgbClr val="0E8C9B"/>
                </a:solidFill>
                <a:latin typeface="Calibri" pitchFamily="34" charset="0"/>
                <a:ea typeface="Calibri" pitchFamily="34" charset="-122"/>
                <a:cs typeface="Calibri" pitchFamily="34" charset="-120"/>
              </a:rPr>
              <a:t>THE PACKAGE IS THE NEW NODE</a:t>
            </a:r>
            <a:endParaRPr lang="en-US" sz="1200" dirty="0"/>
          </a:p>
        </p:txBody>
      </p:sp>
      <p:sp>
        <p:nvSpPr>
          <p:cNvPr id="3" name="Text 1"/>
          <p:cNvSpPr/>
          <p:nvPr/>
        </p:nvSpPr>
        <p:spPr>
          <a:xfrm>
            <a:off x="457200" y="548640"/>
            <a:ext cx="11247120" cy="822960"/>
          </a:xfrm>
          <a:prstGeom prst="rect">
            <a:avLst/>
          </a:prstGeom>
          <a:noFill/>
          <a:ln/>
        </p:spPr>
        <p:txBody>
          <a:bodyPr wrap="square" rtlCol="0" anchor="ctr"/>
          <a:lstStyle/>
          <a:p>
            <a:pPr indent="0" marL="0">
              <a:buNone/>
            </a:pPr>
            <a:r>
              <a:rPr lang="en-US" sz="3000" b="1" dirty="0">
                <a:solidFill>
                  <a:srgbClr val="263947"/>
                </a:solidFill>
                <a:latin typeface="Cambria" pitchFamily="34" charset="0"/>
                <a:ea typeface="Cambria" pitchFamily="34" charset="-122"/>
                <a:cs typeface="Cambria" pitchFamily="34" charset="-120"/>
              </a:rPr>
              <a:t>Integration is the frontier</a:t>
            </a:r>
            <a:endParaRPr lang="en-US" sz="3000" dirty="0"/>
          </a:p>
        </p:txBody>
      </p:sp>
      <p:sp>
        <p:nvSpPr>
          <p:cNvPr id="4" name="Shape 2"/>
          <p:cNvSpPr/>
          <p:nvPr/>
        </p:nvSpPr>
        <p:spPr>
          <a:xfrm>
            <a:off x="457200" y="1600200"/>
            <a:ext cx="3544824" cy="4343400"/>
          </a:xfrm>
          <a:prstGeom prst="roundRect">
            <a:avLst>
              <a:gd name="adj" fmla="val 1806"/>
            </a:avLst>
          </a:prstGeom>
          <a:solidFill>
            <a:srgbClr val="F4F7F8"/>
          </a:solidFill>
          <a:ln w="12700">
            <a:solidFill>
              <a:srgbClr val="E7ECEF"/>
            </a:solidFill>
            <a:prstDash val="solid"/>
          </a:ln>
        </p:spPr>
      </p:sp>
      <p:sp>
        <p:nvSpPr>
          <p:cNvPr id="5" name="Shape 3"/>
          <p:cNvSpPr/>
          <p:nvPr/>
        </p:nvSpPr>
        <p:spPr>
          <a:xfrm>
            <a:off x="658368" y="1801368"/>
            <a:ext cx="457200" cy="457200"/>
          </a:xfrm>
          <a:prstGeom prst="roundRect">
            <a:avLst>
              <a:gd name="adj" fmla="val 12000"/>
            </a:avLst>
          </a:prstGeom>
          <a:solidFill>
            <a:srgbClr val="0E8C9B"/>
          </a:solidFill>
          <a:ln/>
        </p:spPr>
      </p:sp>
      <p:sp>
        <p:nvSpPr>
          <p:cNvPr id="6" name="Text 4"/>
          <p:cNvSpPr/>
          <p:nvPr/>
        </p:nvSpPr>
        <p:spPr>
          <a:xfrm>
            <a:off x="1234440" y="1783080"/>
            <a:ext cx="2584704" cy="502920"/>
          </a:xfrm>
          <a:prstGeom prst="rect">
            <a:avLst/>
          </a:prstGeom>
          <a:noFill/>
          <a:ln/>
        </p:spPr>
        <p:txBody>
          <a:bodyPr wrap="square" rtlCol="0" anchor="ctr"/>
          <a:lstStyle/>
          <a:p>
            <a:pPr indent="0" marL="0">
              <a:buNone/>
            </a:pPr>
            <a:r>
              <a:rPr lang="en-US" sz="1450" b="1" dirty="0">
                <a:solidFill>
                  <a:srgbClr val="263947"/>
                </a:solidFill>
                <a:latin typeface="Calibri" pitchFamily="34" charset="0"/>
                <a:ea typeface="Calibri" pitchFamily="34" charset="-122"/>
                <a:cs typeface="Calibri" pitchFamily="34" charset="-120"/>
              </a:rPr>
              <a:t>HBM</a:t>
            </a:r>
            <a:endParaRPr lang="en-US" sz="1450" dirty="0"/>
          </a:p>
        </p:txBody>
      </p:sp>
      <p:sp>
        <p:nvSpPr>
          <p:cNvPr id="7" name="Text 5"/>
          <p:cNvSpPr/>
          <p:nvPr/>
        </p:nvSpPr>
        <p:spPr>
          <a:xfrm>
            <a:off x="676656" y="2377440"/>
            <a:ext cx="3105912" cy="3429000"/>
          </a:xfrm>
          <a:prstGeom prst="rect">
            <a:avLst/>
          </a:prstGeom>
          <a:noFill/>
          <a:ln/>
        </p:spPr>
        <p:txBody>
          <a:bodyPr wrap="square" rtlCol="0" anchor="t"/>
          <a:lstStyle/>
          <a:p>
            <a:pPr indent="0" marL="0">
              <a:buNone/>
            </a:pPr>
            <a:r>
              <a:rPr lang="en-US" sz="1200" dirty="0">
                <a:solidFill>
                  <a:srgbClr val="263947"/>
                </a:solidFill>
                <a:latin typeface="Calibri" pitchFamily="34" charset="0"/>
                <a:ea typeface="Calibri" pitchFamily="34" charset="-122"/>
                <a:cs typeface="Calibri" pitchFamily="34" charset="-120"/>
              </a:rPr>
              <a:t>Sets every bandwidth bound; three-vendor supply; rivals the logic die in cost share.</a:t>
            </a:r>
            <a:endParaRPr lang="en-US" sz="1200" dirty="0"/>
          </a:p>
        </p:txBody>
      </p:sp>
      <p:sp>
        <p:nvSpPr>
          <p:cNvPr id="8" name="Shape 6"/>
          <p:cNvSpPr/>
          <p:nvPr/>
        </p:nvSpPr>
        <p:spPr>
          <a:xfrm>
            <a:off x="4322064" y="1600200"/>
            <a:ext cx="3544824" cy="4343400"/>
          </a:xfrm>
          <a:prstGeom prst="roundRect">
            <a:avLst>
              <a:gd name="adj" fmla="val 1806"/>
            </a:avLst>
          </a:prstGeom>
          <a:solidFill>
            <a:srgbClr val="F4F7F8"/>
          </a:solidFill>
          <a:ln w="12700">
            <a:solidFill>
              <a:srgbClr val="E7ECEF"/>
            </a:solidFill>
            <a:prstDash val="solid"/>
          </a:ln>
        </p:spPr>
      </p:sp>
      <p:sp>
        <p:nvSpPr>
          <p:cNvPr id="9" name="Shape 7"/>
          <p:cNvSpPr/>
          <p:nvPr/>
        </p:nvSpPr>
        <p:spPr>
          <a:xfrm>
            <a:off x="4523232" y="1801368"/>
            <a:ext cx="457200" cy="457200"/>
          </a:xfrm>
          <a:prstGeom prst="roundRect">
            <a:avLst>
              <a:gd name="adj" fmla="val 12000"/>
            </a:avLst>
          </a:prstGeom>
          <a:solidFill>
            <a:srgbClr val="2E6E9E"/>
          </a:solidFill>
          <a:ln/>
        </p:spPr>
      </p:sp>
      <p:sp>
        <p:nvSpPr>
          <p:cNvPr id="10" name="Text 8"/>
          <p:cNvSpPr/>
          <p:nvPr/>
        </p:nvSpPr>
        <p:spPr>
          <a:xfrm>
            <a:off x="5099304" y="1783080"/>
            <a:ext cx="2584704" cy="502920"/>
          </a:xfrm>
          <a:prstGeom prst="rect">
            <a:avLst/>
          </a:prstGeom>
          <a:noFill/>
          <a:ln/>
        </p:spPr>
        <p:txBody>
          <a:bodyPr wrap="square" rtlCol="0" anchor="ctr"/>
          <a:lstStyle/>
          <a:p>
            <a:pPr indent="0" marL="0">
              <a:buNone/>
            </a:pPr>
            <a:r>
              <a:rPr lang="en-US" sz="1450" b="1" dirty="0">
                <a:solidFill>
                  <a:srgbClr val="263947"/>
                </a:solidFill>
                <a:latin typeface="Calibri" pitchFamily="34" charset="0"/>
                <a:ea typeface="Calibri" pitchFamily="34" charset="-122"/>
                <a:cs typeface="Calibri" pitchFamily="34" charset="-120"/>
              </a:rPr>
              <a:t>Packaging</a:t>
            </a:r>
            <a:endParaRPr lang="en-US" sz="1450" dirty="0"/>
          </a:p>
        </p:txBody>
      </p:sp>
      <p:sp>
        <p:nvSpPr>
          <p:cNvPr id="11" name="Text 9"/>
          <p:cNvSpPr/>
          <p:nvPr/>
        </p:nvSpPr>
        <p:spPr>
          <a:xfrm>
            <a:off x="4541520" y="2377440"/>
            <a:ext cx="3105912" cy="3429000"/>
          </a:xfrm>
          <a:prstGeom prst="rect">
            <a:avLst/>
          </a:prstGeom>
          <a:noFill/>
          <a:ln/>
        </p:spPr>
        <p:txBody>
          <a:bodyPr wrap="square" rtlCol="0" anchor="t"/>
          <a:lstStyle/>
          <a:p>
            <a:pPr indent="0" marL="0">
              <a:buNone/>
            </a:pPr>
            <a:r>
              <a:rPr lang="en-US" sz="1200" dirty="0">
                <a:solidFill>
                  <a:srgbClr val="263947"/>
                </a:solidFill>
                <a:latin typeface="Calibri" pitchFamily="34" charset="0"/>
                <a:ea typeface="Calibri" pitchFamily="34" charset="-122"/>
                <a:cs typeface="Calibri" pitchFamily="34" charset="-120"/>
              </a:rPr>
              <a:t>Reticle limit drives 2.5D, chiplets, hybrid bonding; capacity itself gates supply.</a:t>
            </a:r>
            <a:endParaRPr lang="en-US" sz="1200" dirty="0"/>
          </a:p>
        </p:txBody>
      </p:sp>
      <p:sp>
        <p:nvSpPr>
          <p:cNvPr id="12" name="Shape 10"/>
          <p:cNvSpPr/>
          <p:nvPr/>
        </p:nvSpPr>
        <p:spPr>
          <a:xfrm>
            <a:off x="8186928" y="1600200"/>
            <a:ext cx="3544824" cy="4343400"/>
          </a:xfrm>
          <a:prstGeom prst="roundRect">
            <a:avLst>
              <a:gd name="adj" fmla="val 1806"/>
            </a:avLst>
          </a:prstGeom>
          <a:solidFill>
            <a:srgbClr val="F4F7F8"/>
          </a:solidFill>
          <a:ln w="12700">
            <a:solidFill>
              <a:srgbClr val="E7ECEF"/>
            </a:solidFill>
            <a:prstDash val="solid"/>
          </a:ln>
        </p:spPr>
      </p:sp>
      <p:sp>
        <p:nvSpPr>
          <p:cNvPr id="13" name="Shape 11"/>
          <p:cNvSpPr/>
          <p:nvPr/>
        </p:nvSpPr>
        <p:spPr>
          <a:xfrm>
            <a:off x="8388096" y="1801368"/>
            <a:ext cx="457200" cy="457200"/>
          </a:xfrm>
          <a:prstGeom prst="roundRect">
            <a:avLst>
              <a:gd name="adj" fmla="val 12000"/>
            </a:avLst>
          </a:prstGeom>
          <a:solidFill>
            <a:srgbClr val="E08A2B"/>
          </a:solidFill>
          <a:ln/>
        </p:spPr>
      </p:sp>
      <p:sp>
        <p:nvSpPr>
          <p:cNvPr id="14" name="Text 12"/>
          <p:cNvSpPr/>
          <p:nvPr/>
        </p:nvSpPr>
        <p:spPr>
          <a:xfrm>
            <a:off x="8964168" y="1783080"/>
            <a:ext cx="2584704" cy="502920"/>
          </a:xfrm>
          <a:prstGeom prst="rect">
            <a:avLst/>
          </a:prstGeom>
          <a:noFill/>
          <a:ln/>
        </p:spPr>
        <p:txBody>
          <a:bodyPr wrap="square" rtlCol="0" anchor="ctr"/>
          <a:lstStyle/>
          <a:p>
            <a:pPr indent="0" marL="0">
              <a:buNone/>
            </a:pPr>
            <a:r>
              <a:rPr lang="en-US" sz="1450" b="1" dirty="0">
                <a:solidFill>
                  <a:srgbClr val="263947"/>
                </a:solidFill>
                <a:latin typeface="Calibri" pitchFamily="34" charset="0"/>
                <a:ea typeface="Calibri" pitchFamily="34" charset="-122"/>
                <a:cs typeface="Calibri" pitchFamily="34" charset="-120"/>
              </a:rPr>
              <a:t>Fabric &amp; optics</a:t>
            </a:r>
            <a:endParaRPr lang="en-US" sz="1450" dirty="0"/>
          </a:p>
        </p:txBody>
      </p:sp>
      <p:sp>
        <p:nvSpPr>
          <p:cNvPr id="15" name="Text 13"/>
          <p:cNvSpPr/>
          <p:nvPr/>
        </p:nvSpPr>
        <p:spPr>
          <a:xfrm>
            <a:off x="8406384" y="2377440"/>
            <a:ext cx="3105912" cy="3429000"/>
          </a:xfrm>
          <a:prstGeom prst="rect">
            <a:avLst/>
          </a:prstGeom>
          <a:noFill/>
          <a:ln/>
        </p:spPr>
        <p:txBody>
          <a:bodyPr wrap="square" rtlCol="0" anchor="t"/>
          <a:lstStyle/>
          <a:p>
            <a:pPr indent="0" marL="0">
              <a:buNone/>
            </a:pPr>
            <a:r>
              <a:rPr lang="en-US" sz="1200" dirty="0">
                <a:solidFill>
                  <a:srgbClr val="263947"/>
                </a:solidFill>
                <a:latin typeface="Calibri" pitchFamily="34" charset="0"/>
                <a:ea typeface="Calibri" pitchFamily="34" charset="-122"/>
                <a:cs typeface="Calibri" pitchFamily="34" charset="-120"/>
              </a:rPr>
              <a:t>Scale-up vs Ethernet; co-packaged optics attacks network power, not latency.</a:t>
            </a:r>
            <a:endParaRPr lang="en-US" sz="1200" dirty="0"/>
          </a:p>
        </p:txBody>
      </p:sp>
      <p:sp>
        <p:nvSpPr>
          <p:cNvPr id="16" name="Text 14"/>
          <p:cNvSpPr/>
          <p:nvPr/>
        </p:nvSpPr>
        <p:spPr>
          <a:xfrm>
            <a:off x="457200" y="6108192"/>
            <a:ext cx="11274552" cy="365760"/>
          </a:xfrm>
          <a:prstGeom prst="rect">
            <a:avLst/>
          </a:prstGeom>
          <a:noFill/>
          <a:ln/>
        </p:spPr>
        <p:txBody>
          <a:bodyPr wrap="square" rtlCol="0" anchor="ctr"/>
          <a:lstStyle/>
          <a:p>
            <a:pPr indent="0" marL="0">
              <a:buNone/>
            </a:pPr>
            <a:r>
              <a:rPr lang="en-US" sz="1350" b="1" dirty="0">
                <a:solidFill>
                  <a:srgbClr val="E08A2B"/>
                </a:solidFill>
                <a:latin typeface="Calibri" pitchFamily="34" charset="0"/>
                <a:ea typeface="Calibri" pitchFamily="34" charset="-122"/>
                <a:cs typeface="Calibri" pitchFamily="34" charset="-120"/>
              </a:rPr>
              <a:t>⇒  </a:t>
            </a:r>
            <a:pPr indent="0" marL="0">
              <a:buNone/>
            </a:pPr>
            <a:r>
              <a:rPr lang="en-US" sz="1350" b="1" dirty="0">
                <a:solidFill>
                  <a:srgbClr val="263947"/>
                </a:solidFill>
                <a:latin typeface="Calibri" pitchFamily="34" charset="0"/>
                <a:ea typeface="Calibri" pitchFamily="34" charset="-122"/>
                <a:cs typeface="Calibri" pitchFamily="34" charset="-120"/>
              </a:rPr>
              <a:t>The competitive frontier moved from logic to integration — the package, the rack, the facility.</a:t>
            </a:r>
            <a:endParaRPr lang="en-US" sz="1350" dirty="0"/>
          </a:p>
        </p:txBody>
      </p:sp>
      <p:sp>
        <p:nvSpPr>
          <p:cNvPr id="17" name="Text 15"/>
          <p:cNvSpPr/>
          <p:nvPr/>
        </p:nvSpPr>
        <p:spPr>
          <a:xfrm>
            <a:off x="457200" y="6473952"/>
            <a:ext cx="7315200" cy="274320"/>
          </a:xfrm>
          <a:prstGeom prst="rect">
            <a:avLst/>
          </a:prstGeom>
          <a:noFill/>
          <a:ln/>
        </p:spPr>
        <p:txBody>
          <a:bodyPr wrap="square" rtlCol="0" anchor="ctr"/>
          <a:lstStyle/>
          <a:p>
            <a:pPr indent="0" marL="0">
              <a:buNone/>
            </a:pPr>
            <a:r>
              <a:rPr lang="en-US" sz="900" dirty="0">
                <a:solidFill>
                  <a:srgbClr val="7C8B96"/>
                </a:solidFill>
                <a:latin typeface="Calibri" pitchFamily="34" charset="0"/>
                <a:ea typeface="Calibri" pitchFamily="34" charset="-122"/>
                <a:cs typeface="Calibri" pitchFamily="34" charset="-120"/>
              </a:rPr>
              <a:t>Beyond the GPU — 2-hour lecture</a:t>
            </a:r>
            <a:endParaRPr lang="en-US" sz="900" dirty="0"/>
          </a:p>
        </p:txBody>
      </p:sp>
      <p:sp>
        <p:nvSpPr>
          <p:cNvPr id="18" name="Text 16"/>
          <p:cNvSpPr/>
          <p:nvPr/>
        </p:nvSpPr>
        <p:spPr>
          <a:xfrm>
            <a:off x="11277295" y="6473952"/>
            <a:ext cx="457200" cy="274320"/>
          </a:xfrm>
          <a:prstGeom prst="rect">
            <a:avLst/>
          </a:prstGeom>
          <a:noFill/>
          <a:ln/>
        </p:spPr>
        <p:txBody>
          <a:bodyPr wrap="square" rtlCol="0" anchor="ctr"/>
          <a:lstStyle/>
          <a:p>
            <a:pPr algn="r" indent="0" marL="0">
              <a:buNone/>
            </a:pPr>
            <a:r>
              <a:rPr lang="en-US" sz="900" dirty="0">
                <a:solidFill>
                  <a:srgbClr val="7C8B96"/>
                </a:solidFill>
                <a:latin typeface="Calibri" pitchFamily="34" charset="0"/>
                <a:ea typeface="Calibri" pitchFamily="34" charset="-122"/>
                <a:cs typeface="Calibri" pitchFamily="34" charset="-120"/>
              </a:rPr>
              <a:t>43</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10896"/>
            <a:ext cx="10058400" cy="274320"/>
          </a:xfrm>
          <a:prstGeom prst="rect">
            <a:avLst/>
          </a:prstGeom>
          <a:noFill/>
          <a:ln/>
        </p:spPr>
        <p:txBody>
          <a:bodyPr wrap="square" rtlCol="0" anchor="ctr"/>
          <a:lstStyle/>
          <a:p>
            <a:pPr indent="0" marL="0">
              <a:buNone/>
            </a:pPr>
            <a:r>
              <a:rPr lang="en-US" sz="1200" b="1" spc="200" kern="0" dirty="0">
                <a:solidFill>
                  <a:srgbClr val="0E8C9B"/>
                </a:solidFill>
                <a:latin typeface="Calibri" pitchFamily="34" charset="0"/>
                <a:ea typeface="Calibri" pitchFamily="34" charset="-122"/>
                <a:cs typeface="Calibri" pitchFamily="34" charset="-120"/>
              </a:rPr>
              <a:t>ECONOMICS</a:t>
            </a:r>
            <a:endParaRPr lang="en-US" sz="1200" dirty="0"/>
          </a:p>
        </p:txBody>
      </p:sp>
      <p:sp>
        <p:nvSpPr>
          <p:cNvPr id="3" name="Text 1"/>
          <p:cNvSpPr/>
          <p:nvPr/>
        </p:nvSpPr>
        <p:spPr>
          <a:xfrm>
            <a:off x="457200" y="548640"/>
            <a:ext cx="11247120" cy="822960"/>
          </a:xfrm>
          <a:prstGeom prst="rect">
            <a:avLst/>
          </a:prstGeom>
          <a:noFill/>
          <a:ln/>
        </p:spPr>
        <p:txBody>
          <a:bodyPr wrap="square" rtlCol="0" anchor="ctr"/>
          <a:lstStyle/>
          <a:p>
            <a:pPr indent="0" marL="0">
              <a:buNone/>
            </a:pPr>
            <a:r>
              <a:rPr lang="en-US" sz="3000" b="1" dirty="0">
                <a:solidFill>
                  <a:srgbClr val="263947"/>
                </a:solidFill>
                <a:latin typeface="Cambria" pitchFamily="34" charset="0"/>
                <a:ea typeface="Cambria" pitchFamily="34" charset="-122"/>
                <a:cs typeface="Cambria" pitchFamily="34" charset="-120"/>
              </a:rPr>
              <a:t>The full cost stack of useful work</a:t>
            </a:r>
            <a:endParaRPr lang="en-US" sz="3000" dirty="0"/>
          </a:p>
        </p:txBody>
      </p:sp>
      <p:pic>
        <p:nvPicPr>
          <p:cNvPr id="4" name="Image 0" descr="/sessions/compassionate-blissful-planck/mnt/outputs/deck_assets/cost_stack.png">    </p:cNvPr>
          <p:cNvPicPr>
            <a:picLocks noChangeAspect="1"/>
          </p:cNvPicPr>
          <p:nvPr/>
        </p:nvPicPr>
        <p:blipFill>
          <a:blip r:embed="rId1"/>
          <a:srcRect l="-45238" r="-45238" t="0" b="0"/>
          <a:stretch/>
        </p:blipFill>
        <p:spPr>
          <a:xfrm>
            <a:off x="457200" y="1554480"/>
            <a:ext cx="7315200" cy="3840480"/>
          </a:xfrm>
          <a:prstGeom prst="rect">
            <a:avLst/>
          </a:prstGeom>
        </p:spPr>
      </p:pic>
      <p:sp>
        <p:nvSpPr>
          <p:cNvPr id="5" name="Shape 2"/>
          <p:cNvSpPr/>
          <p:nvPr/>
        </p:nvSpPr>
        <p:spPr>
          <a:xfrm>
            <a:off x="8138160" y="1847088"/>
            <a:ext cx="109728" cy="109728"/>
          </a:xfrm>
          <a:prstGeom prst="rect">
            <a:avLst/>
          </a:prstGeom>
          <a:solidFill>
            <a:srgbClr val="E08A2B"/>
          </a:solidFill>
          <a:ln/>
        </p:spPr>
      </p:sp>
      <p:sp>
        <p:nvSpPr>
          <p:cNvPr id="6" name="Text 3"/>
          <p:cNvSpPr/>
          <p:nvPr/>
        </p:nvSpPr>
        <p:spPr>
          <a:xfrm>
            <a:off x="8366760" y="1673352"/>
            <a:ext cx="3291840" cy="731520"/>
          </a:xfrm>
          <a:prstGeom prst="rect">
            <a:avLst/>
          </a:prstGeom>
          <a:noFill/>
          <a:ln/>
        </p:spPr>
        <p:txBody>
          <a:bodyPr wrap="square" rtlCol="0" anchor="t"/>
          <a:lstStyle/>
          <a:p>
            <a:pPr indent="0" marL="0">
              <a:buNone/>
            </a:pPr>
            <a:r>
              <a:rPr lang="en-US" sz="1300" dirty="0">
                <a:solidFill>
                  <a:srgbClr val="263947"/>
                </a:solidFill>
                <a:latin typeface="Calibri" pitchFamily="34" charset="0"/>
                <a:ea typeface="Calibri" pitchFamily="34" charset="-122"/>
                <a:cs typeface="Calibri" pitchFamily="34" charset="-120"/>
              </a:rPr>
              <a:t>Every family redistributes weight.</a:t>
            </a:r>
            <a:endParaRPr lang="en-US" sz="1300" dirty="0"/>
          </a:p>
        </p:txBody>
      </p:sp>
      <p:sp>
        <p:nvSpPr>
          <p:cNvPr id="7" name="Shape 4"/>
          <p:cNvSpPr/>
          <p:nvPr/>
        </p:nvSpPr>
        <p:spPr>
          <a:xfrm>
            <a:off x="8138160" y="2596896"/>
            <a:ext cx="109728" cy="109728"/>
          </a:xfrm>
          <a:prstGeom prst="rect">
            <a:avLst/>
          </a:prstGeom>
          <a:solidFill>
            <a:srgbClr val="E08A2B"/>
          </a:solidFill>
          <a:ln/>
        </p:spPr>
      </p:sp>
      <p:sp>
        <p:nvSpPr>
          <p:cNvPr id="8" name="Text 5"/>
          <p:cNvSpPr/>
          <p:nvPr/>
        </p:nvSpPr>
        <p:spPr>
          <a:xfrm>
            <a:off x="8366760" y="2423160"/>
            <a:ext cx="3291840" cy="731520"/>
          </a:xfrm>
          <a:prstGeom prst="rect">
            <a:avLst/>
          </a:prstGeom>
          <a:noFill/>
          <a:ln/>
        </p:spPr>
        <p:txBody>
          <a:bodyPr wrap="square" rtlCol="0" anchor="t"/>
          <a:lstStyle/>
          <a:p>
            <a:pPr indent="0" marL="0">
              <a:buNone/>
            </a:pPr>
            <a:r>
              <a:rPr lang="en-US" sz="1300" dirty="0">
                <a:solidFill>
                  <a:srgbClr val="263947"/>
                </a:solidFill>
                <a:latin typeface="Calibri" pitchFamily="34" charset="0"/>
                <a:ea typeface="Calibri" pitchFamily="34" charset="-122"/>
                <a:cs typeface="Calibri" pitchFamily="34" charset="-120"/>
              </a:rPr>
              <a:t>None shrinks the stack uniformly.</a:t>
            </a:r>
            <a:endParaRPr lang="en-US" sz="1300" dirty="0"/>
          </a:p>
        </p:txBody>
      </p:sp>
      <p:sp>
        <p:nvSpPr>
          <p:cNvPr id="9" name="Shape 6"/>
          <p:cNvSpPr/>
          <p:nvPr/>
        </p:nvSpPr>
        <p:spPr>
          <a:xfrm>
            <a:off x="8138160" y="3346704"/>
            <a:ext cx="109728" cy="109728"/>
          </a:xfrm>
          <a:prstGeom prst="rect">
            <a:avLst/>
          </a:prstGeom>
          <a:solidFill>
            <a:srgbClr val="E08A2B"/>
          </a:solidFill>
          <a:ln/>
        </p:spPr>
      </p:sp>
      <p:sp>
        <p:nvSpPr>
          <p:cNvPr id="10" name="Text 7"/>
          <p:cNvSpPr/>
          <p:nvPr/>
        </p:nvSpPr>
        <p:spPr>
          <a:xfrm>
            <a:off x="8366760" y="3172968"/>
            <a:ext cx="3291840" cy="731520"/>
          </a:xfrm>
          <a:prstGeom prst="rect">
            <a:avLst/>
          </a:prstGeom>
          <a:noFill/>
          <a:ln/>
        </p:spPr>
        <p:txBody>
          <a:bodyPr wrap="square" rtlCol="0" anchor="t"/>
          <a:lstStyle/>
          <a:p>
            <a:pPr indent="0" marL="0">
              <a:buNone/>
            </a:pPr>
            <a:r>
              <a:rPr lang="en-US" sz="1300" dirty="0">
                <a:solidFill>
                  <a:srgbClr val="263947"/>
                </a:solidFill>
                <a:latin typeface="Calibri" pitchFamily="34" charset="0"/>
                <a:ea typeface="Calibri" pitchFamily="34" charset="-122"/>
                <a:cs typeface="Calibri" pitchFamily="34" charset="-120"/>
              </a:rPr>
              <a:t>Power now gates deployments.</a:t>
            </a:r>
            <a:endParaRPr lang="en-US" sz="1300" dirty="0"/>
          </a:p>
        </p:txBody>
      </p:sp>
      <p:sp>
        <p:nvSpPr>
          <p:cNvPr id="11" name="Shape 8"/>
          <p:cNvSpPr/>
          <p:nvPr/>
        </p:nvSpPr>
        <p:spPr>
          <a:xfrm>
            <a:off x="457200" y="5715000"/>
            <a:ext cx="11274552" cy="566928"/>
          </a:xfrm>
          <a:prstGeom prst="roundRect">
            <a:avLst>
              <a:gd name="adj" fmla="val 9677"/>
            </a:avLst>
          </a:prstGeom>
          <a:solidFill>
            <a:srgbClr val="F4F7F8"/>
          </a:solidFill>
          <a:ln w="12700">
            <a:solidFill>
              <a:srgbClr val="E7ECEF"/>
            </a:solidFill>
            <a:prstDash val="solid"/>
          </a:ln>
        </p:spPr>
      </p:sp>
      <p:sp>
        <p:nvSpPr>
          <p:cNvPr id="12" name="Text 9"/>
          <p:cNvSpPr/>
          <p:nvPr/>
        </p:nvSpPr>
        <p:spPr>
          <a:xfrm>
            <a:off x="731520" y="5715000"/>
            <a:ext cx="10789920" cy="566928"/>
          </a:xfrm>
          <a:prstGeom prst="rect">
            <a:avLst/>
          </a:prstGeom>
          <a:noFill/>
          <a:ln/>
        </p:spPr>
        <p:txBody>
          <a:bodyPr wrap="square" rtlCol="0" anchor="ctr"/>
          <a:lstStyle/>
          <a:p>
            <a:pPr indent="0" marL="0">
              <a:buNone/>
            </a:pPr>
            <a:r>
              <a:rPr lang="en-US" sz="1400" b="1" dirty="0">
                <a:solidFill>
                  <a:srgbClr val="E08A2B"/>
                </a:solidFill>
                <a:latin typeface="Calibri" pitchFamily="34" charset="0"/>
                <a:ea typeface="Calibri" pitchFamily="34" charset="-122"/>
                <a:cs typeface="Calibri" pitchFamily="34" charset="-120"/>
              </a:rPr>
              <a:t>⇒  </a:t>
            </a:r>
            <a:pPr indent="0" marL="0">
              <a:buNone/>
            </a:pPr>
            <a:r>
              <a:rPr lang="en-US" sz="1400" b="1" dirty="0">
                <a:solidFill>
                  <a:srgbClr val="263947"/>
                </a:solidFill>
                <a:latin typeface="Calibri" pitchFamily="34" charset="0"/>
                <a:ea typeface="Calibri" pitchFamily="34" charset="-122"/>
                <a:cs typeface="Calibri" pitchFamily="34" charset="-120"/>
              </a:rPr>
              <a:t>The necessity test, in cost terms: does a redistribution lower the total for this workload at this volume?</a:t>
            </a:r>
            <a:endParaRPr lang="en-US" sz="1400" dirty="0"/>
          </a:p>
        </p:txBody>
      </p:sp>
      <p:sp>
        <p:nvSpPr>
          <p:cNvPr id="13" name="Text 10"/>
          <p:cNvSpPr/>
          <p:nvPr/>
        </p:nvSpPr>
        <p:spPr>
          <a:xfrm>
            <a:off x="457200" y="6473952"/>
            <a:ext cx="7315200" cy="274320"/>
          </a:xfrm>
          <a:prstGeom prst="rect">
            <a:avLst/>
          </a:prstGeom>
          <a:noFill/>
          <a:ln/>
        </p:spPr>
        <p:txBody>
          <a:bodyPr wrap="square" rtlCol="0" anchor="ctr"/>
          <a:lstStyle/>
          <a:p>
            <a:pPr indent="0" marL="0">
              <a:buNone/>
            </a:pPr>
            <a:r>
              <a:rPr lang="en-US" sz="900" dirty="0">
                <a:solidFill>
                  <a:srgbClr val="7C8B96"/>
                </a:solidFill>
                <a:latin typeface="Calibri" pitchFamily="34" charset="0"/>
                <a:ea typeface="Calibri" pitchFamily="34" charset="-122"/>
                <a:cs typeface="Calibri" pitchFamily="34" charset="-120"/>
              </a:rPr>
              <a:t>Beyond the GPU — 2-hour lecture</a:t>
            </a:r>
            <a:endParaRPr lang="en-US" sz="900" dirty="0"/>
          </a:p>
        </p:txBody>
      </p:sp>
      <p:sp>
        <p:nvSpPr>
          <p:cNvPr id="14" name="Text 11"/>
          <p:cNvSpPr/>
          <p:nvPr/>
        </p:nvSpPr>
        <p:spPr>
          <a:xfrm>
            <a:off x="11277295" y="6473952"/>
            <a:ext cx="457200" cy="274320"/>
          </a:xfrm>
          <a:prstGeom prst="rect">
            <a:avLst/>
          </a:prstGeom>
          <a:noFill/>
          <a:ln/>
        </p:spPr>
        <p:txBody>
          <a:bodyPr wrap="square" rtlCol="0" anchor="ctr"/>
          <a:lstStyle/>
          <a:p>
            <a:pPr algn="r" indent="0" marL="0">
              <a:buNone/>
            </a:pPr>
            <a:r>
              <a:rPr lang="en-US" sz="900" dirty="0">
                <a:solidFill>
                  <a:srgbClr val="7C8B96"/>
                </a:solidFill>
                <a:latin typeface="Calibri" pitchFamily="34" charset="0"/>
                <a:ea typeface="Calibri" pitchFamily="34" charset="-122"/>
                <a:cs typeface="Calibri" pitchFamily="34" charset="-120"/>
              </a:rPr>
              <a:t>44</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10896"/>
            <a:ext cx="10058400" cy="274320"/>
          </a:xfrm>
          <a:prstGeom prst="rect">
            <a:avLst/>
          </a:prstGeom>
          <a:noFill/>
          <a:ln/>
        </p:spPr>
        <p:txBody>
          <a:bodyPr wrap="square" rtlCol="0" anchor="ctr"/>
          <a:lstStyle/>
          <a:p>
            <a:pPr indent="0" marL="0">
              <a:buNone/>
            </a:pPr>
            <a:r>
              <a:rPr lang="en-US" sz="1200" b="1" spc="200" kern="0" dirty="0">
                <a:solidFill>
                  <a:srgbClr val="0E8C9B"/>
                </a:solidFill>
                <a:latin typeface="Calibri" pitchFamily="34" charset="0"/>
                <a:ea typeface="Calibri" pitchFamily="34" charset="-122"/>
                <a:cs typeface="Calibri" pitchFamily="34" charset="-120"/>
              </a:rPr>
              <a:t>ECONOMICS</a:t>
            </a:r>
            <a:endParaRPr lang="en-US" sz="1200" dirty="0"/>
          </a:p>
        </p:txBody>
      </p:sp>
      <p:sp>
        <p:nvSpPr>
          <p:cNvPr id="3" name="Text 1"/>
          <p:cNvSpPr/>
          <p:nvPr/>
        </p:nvSpPr>
        <p:spPr>
          <a:xfrm>
            <a:off x="457200" y="548640"/>
            <a:ext cx="11247120" cy="822960"/>
          </a:xfrm>
          <a:prstGeom prst="rect">
            <a:avLst/>
          </a:prstGeom>
          <a:noFill/>
          <a:ln/>
        </p:spPr>
        <p:txBody>
          <a:bodyPr wrap="square" rtlCol="0" anchor="ctr"/>
          <a:lstStyle/>
          <a:p>
            <a:pPr indent="0" marL="0">
              <a:buNone/>
            </a:pPr>
            <a:r>
              <a:rPr lang="en-US" sz="3000" b="1" dirty="0">
                <a:solidFill>
                  <a:srgbClr val="263947"/>
                </a:solidFill>
                <a:latin typeface="Cambria" pitchFamily="34" charset="0"/>
                <a:ea typeface="Cambria" pitchFamily="34" charset="-122"/>
                <a:cs typeface="Cambria" pitchFamily="34" charset="-120"/>
              </a:rPr>
              <a:t>Volume decides — architecture held constant</a:t>
            </a:r>
            <a:endParaRPr lang="en-US" sz="3000" dirty="0"/>
          </a:p>
        </p:txBody>
      </p:sp>
      <p:pic>
        <p:nvPicPr>
          <p:cNvPr id="4" name="Image 0" descr="/sessions/compassionate-blissful-planck/mnt/outputs/deck_assets/break_even.png">    </p:cNvPr>
          <p:cNvPicPr>
            <a:picLocks noChangeAspect="1"/>
          </p:cNvPicPr>
          <p:nvPr/>
        </p:nvPicPr>
        <p:blipFill>
          <a:blip r:embed="rId1"/>
          <a:srcRect l="-45238" r="-45238" t="0" b="0"/>
          <a:stretch/>
        </p:blipFill>
        <p:spPr>
          <a:xfrm>
            <a:off x="457200" y="1554480"/>
            <a:ext cx="7315200" cy="3840480"/>
          </a:xfrm>
          <a:prstGeom prst="rect">
            <a:avLst/>
          </a:prstGeom>
        </p:spPr>
      </p:pic>
      <p:sp>
        <p:nvSpPr>
          <p:cNvPr id="5" name="Shape 2"/>
          <p:cNvSpPr/>
          <p:nvPr/>
        </p:nvSpPr>
        <p:spPr>
          <a:xfrm>
            <a:off x="8138160" y="1847088"/>
            <a:ext cx="109728" cy="109728"/>
          </a:xfrm>
          <a:prstGeom prst="rect">
            <a:avLst/>
          </a:prstGeom>
          <a:solidFill>
            <a:srgbClr val="E08A2B"/>
          </a:solidFill>
          <a:ln/>
        </p:spPr>
      </p:sp>
      <p:sp>
        <p:nvSpPr>
          <p:cNvPr id="6" name="Text 3"/>
          <p:cNvSpPr/>
          <p:nvPr/>
        </p:nvSpPr>
        <p:spPr>
          <a:xfrm>
            <a:off x="8366760" y="1673352"/>
            <a:ext cx="3291840" cy="731520"/>
          </a:xfrm>
          <a:prstGeom prst="rect">
            <a:avLst/>
          </a:prstGeom>
          <a:noFill/>
          <a:ln/>
        </p:spPr>
        <p:txBody>
          <a:bodyPr wrap="square" rtlCol="0" anchor="t"/>
          <a:lstStyle/>
          <a:p>
            <a:pPr indent="0" marL="0">
              <a:buNone/>
            </a:pPr>
            <a:r>
              <a:rPr lang="en-US" sz="1300" dirty="0">
                <a:solidFill>
                  <a:srgbClr val="263947"/>
                </a:solidFill>
                <a:latin typeface="Calibri" pitchFamily="34" charset="0"/>
                <a:ea typeface="Calibri" pitchFamily="34" charset="-122"/>
                <a:cs typeface="Calibri" pitchFamily="34" charset="-120"/>
              </a:rPr>
              <a:t>Fixed cost ≈ software enablement.</a:t>
            </a:r>
            <a:endParaRPr lang="en-US" sz="1300" dirty="0"/>
          </a:p>
        </p:txBody>
      </p:sp>
      <p:sp>
        <p:nvSpPr>
          <p:cNvPr id="7" name="Shape 4"/>
          <p:cNvSpPr/>
          <p:nvPr/>
        </p:nvSpPr>
        <p:spPr>
          <a:xfrm>
            <a:off x="8138160" y="2596896"/>
            <a:ext cx="109728" cy="109728"/>
          </a:xfrm>
          <a:prstGeom prst="rect">
            <a:avLst/>
          </a:prstGeom>
          <a:solidFill>
            <a:srgbClr val="E08A2B"/>
          </a:solidFill>
          <a:ln/>
        </p:spPr>
      </p:sp>
      <p:sp>
        <p:nvSpPr>
          <p:cNvPr id="8" name="Text 5"/>
          <p:cNvSpPr/>
          <p:nvPr/>
        </p:nvSpPr>
        <p:spPr>
          <a:xfrm>
            <a:off x="8366760" y="2423160"/>
            <a:ext cx="3291840" cy="731520"/>
          </a:xfrm>
          <a:prstGeom prst="rect">
            <a:avLst/>
          </a:prstGeom>
          <a:noFill/>
          <a:ln/>
        </p:spPr>
        <p:txBody>
          <a:bodyPr wrap="square" rtlCol="0" anchor="t"/>
          <a:lstStyle/>
          <a:p>
            <a:pPr indent="0" marL="0">
              <a:buNone/>
            </a:pPr>
            <a:r>
              <a:rPr lang="en-US" sz="1300" dirty="0">
                <a:solidFill>
                  <a:srgbClr val="263947"/>
                </a:solidFill>
                <a:latin typeface="Calibri" pitchFamily="34" charset="0"/>
                <a:ea typeface="Calibri" pitchFamily="34" charset="-122"/>
                <a:cs typeface="Calibri" pitchFamily="34" charset="-120"/>
              </a:rPr>
              <a:t>Savings scale with volume.</a:t>
            </a:r>
            <a:endParaRPr lang="en-US" sz="1300" dirty="0"/>
          </a:p>
        </p:txBody>
      </p:sp>
      <p:sp>
        <p:nvSpPr>
          <p:cNvPr id="9" name="Shape 6"/>
          <p:cNvSpPr/>
          <p:nvPr/>
        </p:nvSpPr>
        <p:spPr>
          <a:xfrm>
            <a:off x="8138160" y="3346704"/>
            <a:ext cx="109728" cy="109728"/>
          </a:xfrm>
          <a:prstGeom prst="rect">
            <a:avLst/>
          </a:prstGeom>
          <a:solidFill>
            <a:srgbClr val="E08A2B"/>
          </a:solidFill>
          <a:ln/>
        </p:spPr>
      </p:sp>
      <p:sp>
        <p:nvSpPr>
          <p:cNvPr id="10" name="Text 7"/>
          <p:cNvSpPr/>
          <p:nvPr/>
        </p:nvSpPr>
        <p:spPr>
          <a:xfrm>
            <a:off x="8366760" y="3172968"/>
            <a:ext cx="3291840" cy="731520"/>
          </a:xfrm>
          <a:prstGeom prst="rect">
            <a:avLst/>
          </a:prstGeom>
          <a:noFill/>
          <a:ln/>
        </p:spPr>
        <p:txBody>
          <a:bodyPr wrap="square" rtlCol="0" anchor="t"/>
          <a:lstStyle/>
          <a:p>
            <a:pPr indent="0" marL="0">
              <a:buNone/>
            </a:pPr>
            <a:r>
              <a:rPr lang="en-US" sz="1300" dirty="0">
                <a:solidFill>
                  <a:srgbClr val="263947"/>
                </a:solidFill>
                <a:latin typeface="Calibri" pitchFamily="34" charset="0"/>
                <a:ea typeface="Calibri" pitchFamily="34" charset="-122"/>
                <a:cs typeface="Calibri" pitchFamily="34" charset="-120"/>
              </a:rPr>
              <a:t>Flexibility has option value.</a:t>
            </a:r>
            <a:endParaRPr lang="en-US" sz="1300" dirty="0"/>
          </a:p>
        </p:txBody>
      </p:sp>
      <p:sp>
        <p:nvSpPr>
          <p:cNvPr id="11" name="Shape 8"/>
          <p:cNvSpPr/>
          <p:nvPr/>
        </p:nvSpPr>
        <p:spPr>
          <a:xfrm>
            <a:off x="457200" y="5715000"/>
            <a:ext cx="11274552" cy="566928"/>
          </a:xfrm>
          <a:prstGeom prst="roundRect">
            <a:avLst>
              <a:gd name="adj" fmla="val 9677"/>
            </a:avLst>
          </a:prstGeom>
          <a:solidFill>
            <a:srgbClr val="F4F7F8"/>
          </a:solidFill>
          <a:ln w="12700">
            <a:solidFill>
              <a:srgbClr val="E7ECEF"/>
            </a:solidFill>
            <a:prstDash val="solid"/>
          </a:ln>
        </p:spPr>
      </p:sp>
      <p:sp>
        <p:nvSpPr>
          <p:cNvPr id="12" name="Text 9"/>
          <p:cNvSpPr/>
          <p:nvPr/>
        </p:nvSpPr>
        <p:spPr>
          <a:xfrm>
            <a:off x="731520" y="5715000"/>
            <a:ext cx="10789920" cy="566928"/>
          </a:xfrm>
          <a:prstGeom prst="rect">
            <a:avLst/>
          </a:prstGeom>
          <a:noFill/>
          <a:ln/>
        </p:spPr>
        <p:txBody>
          <a:bodyPr wrap="square" rtlCol="0" anchor="ctr"/>
          <a:lstStyle/>
          <a:p>
            <a:pPr indent="0" marL="0">
              <a:buNone/>
            </a:pPr>
            <a:r>
              <a:rPr lang="en-US" sz="1400" b="1" dirty="0">
                <a:solidFill>
                  <a:srgbClr val="E08A2B"/>
                </a:solidFill>
                <a:latin typeface="Calibri" pitchFamily="34" charset="0"/>
                <a:ea typeface="Calibri" pitchFamily="34" charset="-122"/>
                <a:cs typeface="Calibri" pitchFamily="34" charset="-120"/>
              </a:rPr>
              <a:t>⇒  </a:t>
            </a:r>
            <a:pPr indent="0" marL="0">
              <a:buNone/>
            </a:pPr>
            <a:r>
              <a:rPr lang="en-US" sz="1400" b="1" dirty="0">
                <a:solidFill>
                  <a:srgbClr val="263947"/>
                </a:solidFill>
                <a:latin typeface="Calibri" pitchFamily="34" charset="0"/>
                <a:ea typeface="Calibri" pitchFamily="34" charset="-122"/>
                <a:cs typeface="Calibri" pitchFamily="34" charset="-120"/>
              </a:rPr>
              <a:t>Below the volume threshold no efficiency percentage rescues the case; above it, small percentages justify large programs.</a:t>
            </a:r>
            <a:endParaRPr lang="en-US" sz="1400" dirty="0"/>
          </a:p>
        </p:txBody>
      </p:sp>
      <p:sp>
        <p:nvSpPr>
          <p:cNvPr id="13" name="Text 10"/>
          <p:cNvSpPr/>
          <p:nvPr/>
        </p:nvSpPr>
        <p:spPr>
          <a:xfrm>
            <a:off x="457200" y="6473952"/>
            <a:ext cx="7315200" cy="274320"/>
          </a:xfrm>
          <a:prstGeom prst="rect">
            <a:avLst/>
          </a:prstGeom>
          <a:noFill/>
          <a:ln/>
        </p:spPr>
        <p:txBody>
          <a:bodyPr wrap="square" rtlCol="0" anchor="ctr"/>
          <a:lstStyle/>
          <a:p>
            <a:pPr indent="0" marL="0">
              <a:buNone/>
            </a:pPr>
            <a:r>
              <a:rPr lang="en-US" sz="900" dirty="0">
                <a:solidFill>
                  <a:srgbClr val="7C8B96"/>
                </a:solidFill>
                <a:latin typeface="Calibri" pitchFamily="34" charset="0"/>
                <a:ea typeface="Calibri" pitchFamily="34" charset="-122"/>
                <a:cs typeface="Calibri" pitchFamily="34" charset="-120"/>
              </a:rPr>
              <a:t>Beyond the GPU — 2-hour lecture</a:t>
            </a:r>
            <a:endParaRPr lang="en-US" sz="900" dirty="0"/>
          </a:p>
        </p:txBody>
      </p:sp>
      <p:sp>
        <p:nvSpPr>
          <p:cNvPr id="14" name="Text 11"/>
          <p:cNvSpPr/>
          <p:nvPr/>
        </p:nvSpPr>
        <p:spPr>
          <a:xfrm>
            <a:off x="11277295" y="6473952"/>
            <a:ext cx="457200" cy="274320"/>
          </a:xfrm>
          <a:prstGeom prst="rect">
            <a:avLst/>
          </a:prstGeom>
          <a:noFill/>
          <a:ln/>
        </p:spPr>
        <p:txBody>
          <a:bodyPr wrap="square" rtlCol="0" anchor="ctr"/>
          <a:lstStyle/>
          <a:p>
            <a:pPr algn="r" indent="0" marL="0">
              <a:buNone/>
            </a:pPr>
            <a:r>
              <a:rPr lang="en-US" sz="900" dirty="0">
                <a:solidFill>
                  <a:srgbClr val="7C8B96"/>
                </a:solidFill>
                <a:latin typeface="Calibri" pitchFamily="34" charset="0"/>
                <a:ea typeface="Calibri" pitchFamily="34" charset="-122"/>
                <a:cs typeface="Calibri" pitchFamily="34" charset="-120"/>
              </a:rPr>
              <a:t>45</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16232E"/>
        </a:solidFill>
      </p:bgPr>
    </p:bg>
    <p:spTree>
      <p:nvGrpSpPr>
        <p:cNvPr id="1" name=""/>
        <p:cNvGrpSpPr/>
        <p:nvPr/>
      </p:nvGrpSpPr>
      <p:grpSpPr>
        <a:xfrm>
          <a:off x="0" y="0"/>
          <a:ext cx="0" cy="0"/>
          <a:chOff x="0" y="0"/>
          <a:chExt cx="0" cy="0"/>
        </a:xfrm>
      </p:grpSpPr>
      <p:sp>
        <p:nvSpPr>
          <p:cNvPr id="2" name="Text 0"/>
          <p:cNvSpPr/>
          <p:nvPr/>
        </p:nvSpPr>
        <p:spPr>
          <a:xfrm>
            <a:off x="731520" y="2103120"/>
            <a:ext cx="2011680" cy="1645920"/>
          </a:xfrm>
          <a:prstGeom prst="rect">
            <a:avLst/>
          </a:prstGeom>
          <a:noFill/>
          <a:ln/>
        </p:spPr>
        <p:txBody>
          <a:bodyPr wrap="square" rtlCol="0" anchor="ctr"/>
          <a:lstStyle/>
          <a:p>
            <a:pPr indent="0" marL="0">
              <a:buNone/>
            </a:pPr>
            <a:r>
              <a:rPr lang="en-US" sz="8000" b="1" dirty="0">
                <a:solidFill>
                  <a:srgbClr val="E08A2B"/>
                </a:solidFill>
                <a:latin typeface="Cambria" pitchFamily="34" charset="0"/>
                <a:ea typeface="Cambria" pitchFamily="34" charset="-122"/>
                <a:cs typeface="Cambria" pitchFamily="34" charset="-120"/>
              </a:rPr>
              <a:t>07</a:t>
            </a:r>
            <a:endParaRPr lang="en-US" sz="8000" dirty="0"/>
          </a:p>
        </p:txBody>
      </p:sp>
      <p:sp>
        <p:nvSpPr>
          <p:cNvPr id="3" name="Text 1"/>
          <p:cNvSpPr/>
          <p:nvPr/>
        </p:nvSpPr>
        <p:spPr>
          <a:xfrm>
            <a:off x="2834640" y="2514600"/>
            <a:ext cx="8595360" cy="1280160"/>
          </a:xfrm>
          <a:prstGeom prst="rect">
            <a:avLst/>
          </a:prstGeom>
          <a:noFill/>
          <a:ln/>
        </p:spPr>
        <p:txBody>
          <a:bodyPr wrap="square"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Futures &amp; conclusions</a:t>
            </a:r>
            <a:endParaRPr lang="en-US" sz="3800" dirty="0"/>
          </a:p>
        </p:txBody>
      </p:sp>
      <p:sp>
        <p:nvSpPr>
          <p:cNvPr id="4" name="Text 2"/>
          <p:cNvSpPr/>
          <p:nvPr/>
        </p:nvSpPr>
        <p:spPr>
          <a:xfrm>
            <a:off x="2880360" y="3703320"/>
            <a:ext cx="8412480" cy="822960"/>
          </a:xfrm>
          <a:prstGeom prst="rect">
            <a:avLst/>
          </a:prstGeom>
          <a:noFill/>
          <a:ln/>
        </p:spPr>
        <p:txBody>
          <a:bodyPr wrap="square" rtlCol="0" anchor="ctr"/>
          <a:lstStyle/>
          <a:p>
            <a:pPr indent="0" marL="0">
              <a:buNone/>
            </a:pPr>
            <a:r>
              <a:rPr lang="en-US" sz="1600" dirty="0">
                <a:solidFill>
                  <a:srgbClr val="E7ECEF"/>
                </a:solidFill>
                <a:latin typeface="Calibri" pitchFamily="34" charset="0"/>
                <a:ea typeface="Calibri" pitchFamily="34" charset="-122"/>
                <a:cs typeface="Calibri" pitchFamily="34" charset="-120"/>
              </a:rPr>
              <a:t>Graded by evidence; what holds everywhere</a:t>
            </a:r>
            <a:endParaRPr lang="en-US" sz="1600" dirty="0"/>
          </a:p>
        </p:txBody>
      </p:sp>
      <p:sp>
        <p:nvSpPr>
          <p:cNvPr id="5" name="Text 3"/>
          <p:cNvSpPr/>
          <p:nvPr/>
        </p:nvSpPr>
        <p:spPr>
          <a:xfrm>
            <a:off x="457200" y="6473952"/>
            <a:ext cx="7315200" cy="274320"/>
          </a:xfrm>
          <a:prstGeom prst="rect">
            <a:avLst/>
          </a:prstGeom>
          <a:noFill/>
          <a:ln/>
        </p:spPr>
        <p:txBody>
          <a:bodyPr wrap="square" rtlCol="0" anchor="ctr"/>
          <a:lstStyle/>
          <a:p>
            <a:pPr indent="0" marL="0">
              <a:buNone/>
            </a:pPr>
            <a:r>
              <a:rPr lang="en-US" sz="900" dirty="0">
                <a:solidFill>
                  <a:srgbClr val="7C8B96"/>
                </a:solidFill>
                <a:latin typeface="Calibri" pitchFamily="34" charset="0"/>
                <a:ea typeface="Calibri" pitchFamily="34" charset="-122"/>
                <a:cs typeface="Calibri" pitchFamily="34" charset="-120"/>
              </a:rPr>
              <a:t>Beyond the GPU — 2-hour lecture</a:t>
            </a:r>
            <a:endParaRPr lang="en-US" sz="900" dirty="0"/>
          </a:p>
        </p:txBody>
      </p:sp>
      <p:sp>
        <p:nvSpPr>
          <p:cNvPr id="6" name="Text 4"/>
          <p:cNvSpPr/>
          <p:nvPr/>
        </p:nvSpPr>
        <p:spPr>
          <a:xfrm>
            <a:off x="11277295" y="6473952"/>
            <a:ext cx="457200" cy="274320"/>
          </a:xfrm>
          <a:prstGeom prst="rect">
            <a:avLst/>
          </a:prstGeom>
          <a:noFill/>
          <a:ln/>
        </p:spPr>
        <p:txBody>
          <a:bodyPr wrap="square" rtlCol="0" anchor="ctr"/>
          <a:lstStyle/>
          <a:p>
            <a:pPr algn="r" indent="0" marL="0">
              <a:buNone/>
            </a:pPr>
            <a:r>
              <a:rPr lang="en-US" sz="900" dirty="0">
                <a:solidFill>
                  <a:srgbClr val="7C8B96"/>
                </a:solidFill>
                <a:latin typeface="Calibri" pitchFamily="34" charset="0"/>
                <a:ea typeface="Calibri" pitchFamily="34" charset="-122"/>
                <a:cs typeface="Calibri" pitchFamily="34" charset="-120"/>
              </a:rPr>
              <a:t>46</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10896"/>
            <a:ext cx="10058400" cy="274320"/>
          </a:xfrm>
          <a:prstGeom prst="rect">
            <a:avLst/>
          </a:prstGeom>
          <a:noFill/>
          <a:ln/>
        </p:spPr>
        <p:txBody>
          <a:bodyPr wrap="square" rtlCol="0" anchor="ctr"/>
          <a:lstStyle/>
          <a:p>
            <a:pPr indent="0" marL="0">
              <a:buNone/>
            </a:pPr>
            <a:r>
              <a:rPr lang="en-US" sz="1200" b="1" spc="200" kern="0" dirty="0">
                <a:solidFill>
                  <a:srgbClr val="0E8C9B"/>
                </a:solidFill>
                <a:latin typeface="Calibri" pitchFamily="34" charset="0"/>
                <a:ea typeface="Calibri" pitchFamily="34" charset="-122"/>
                <a:cs typeface="Calibri" pitchFamily="34" charset="-120"/>
              </a:rPr>
              <a:t>FUTURES</a:t>
            </a:r>
            <a:endParaRPr lang="en-US" sz="1200" dirty="0"/>
          </a:p>
        </p:txBody>
      </p:sp>
      <p:sp>
        <p:nvSpPr>
          <p:cNvPr id="3" name="Text 1"/>
          <p:cNvSpPr/>
          <p:nvPr/>
        </p:nvSpPr>
        <p:spPr>
          <a:xfrm>
            <a:off x="457200" y="548640"/>
            <a:ext cx="11247120" cy="822960"/>
          </a:xfrm>
          <a:prstGeom prst="rect">
            <a:avLst/>
          </a:prstGeom>
          <a:noFill/>
          <a:ln/>
        </p:spPr>
        <p:txBody>
          <a:bodyPr wrap="square" rtlCol="0" anchor="ctr"/>
          <a:lstStyle/>
          <a:p>
            <a:pPr indent="0" marL="0">
              <a:buNone/>
            </a:pPr>
            <a:r>
              <a:rPr lang="en-US" sz="3000" b="1" dirty="0">
                <a:solidFill>
                  <a:srgbClr val="263947"/>
                </a:solidFill>
                <a:latin typeface="Cambria" pitchFamily="34" charset="0"/>
                <a:ea typeface="Cambria" pitchFamily="34" charset="-122"/>
                <a:cs typeface="Cambria" pitchFamily="34" charset="-120"/>
              </a:rPr>
              <a:t>Graded by evidence class</a:t>
            </a:r>
            <a:endParaRPr lang="en-US" sz="3000" dirty="0"/>
          </a:p>
        </p:txBody>
      </p:sp>
      <p:pic>
        <p:nvPicPr>
          <p:cNvPr id="4" name="Image 0" descr="/sessions/compassionate-blissful-planck/mnt/outputs/deck_assets/future_grades.png">    </p:cNvPr>
          <p:cNvPicPr>
            <a:picLocks noChangeAspect="1"/>
          </p:cNvPicPr>
          <p:nvPr/>
        </p:nvPicPr>
        <p:blipFill>
          <a:blip r:embed="rId1"/>
          <a:srcRect l="-78049" r="-78049" t="0" b="0"/>
          <a:stretch/>
        </p:blipFill>
        <p:spPr>
          <a:xfrm>
            <a:off x="1280160" y="1554480"/>
            <a:ext cx="9601200" cy="3749040"/>
          </a:xfrm>
          <a:prstGeom prst="rect">
            <a:avLst/>
          </a:prstGeom>
        </p:spPr>
      </p:pic>
      <p:sp>
        <p:nvSpPr>
          <p:cNvPr id="5" name="Shape 2"/>
          <p:cNvSpPr/>
          <p:nvPr/>
        </p:nvSpPr>
        <p:spPr>
          <a:xfrm>
            <a:off x="457200" y="5715000"/>
            <a:ext cx="11274552" cy="566928"/>
          </a:xfrm>
          <a:prstGeom prst="roundRect">
            <a:avLst>
              <a:gd name="adj" fmla="val 9677"/>
            </a:avLst>
          </a:prstGeom>
          <a:solidFill>
            <a:srgbClr val="F4F7F8"/>
          </a:solidFill>
          <a:ln w="12700">
            <a:solidFill>
              <a:srgbClr val="E7ECEF"/>
            </a:solidFill>
            <a:prstDash val="solid"/>
          </a:ln>
        </p:spPr>
      </p:sp>
      <p:sp>
        <p:nvSpPr>
          <p:cNvPr id="6" name="Text 3"/>
          <p:cNvSpPr/>
          <p:nvPr/>
        </p:nvSpPr>
        <p:spPr>
          <a:xfrm>
            <a:off x="731520" y="5715000"/>
            <a:ext cx="10789920" cy="566928"/>
          </a:xfrm>
          <a:prstGeom prst="rect">
            <a:avLst/>
          </a:prstGeom>
          <a:noFill/>
          <a:ln/>
        </p:spPr>
        <p:txBody>
          <a:bodyPr wrap="square" rtlCol="0" anchor="ctr"/>
          <a:lstStyle/>
          <a:p>
            <a:pPr indent="0" marL="0">
              <a:buNone/>
            </a:pPr>
            <a:r>
              <a:rPr lang="en-US" sz="1400" b="1" dirty="0">
                <a:solidFill>
                  <a:srgbClr val="E08A2B"/>
                </a:solidFill>
                <a:latin typeface="Calibri" pitchFamily="34" charset="0"/>
                <a:ea typeface="Calibri" pitchFamily="34" charset="-122"/>
                <a:cs typeface="Calibri" pitchFamily="34" charset="-120"/>
              </a:rPr>
              <a:t>⇒  </a:t>
            </a:r>
            <a:pPr indent="0" marL="0">
              <a:buNone/>
            </a:pPr>
            <a:r>
              <a:rPr lang="en-US" sz="1400" b="1" dirty="0">
                <a:solidFill>
                  <a:srgbClr val="263947"/>
                </a:solidFill>
                <a:latin typeface="Calibri" pitchFamily="34" charset="0"/>
                <a:ea typeface="Calibri" pitchFamily="34" charset="-122"/>
                <a:cs typeface="Calibri" pitchFamily="34" charset="-120"/>
              </a:rPr>
              <a:t>New memories arrive before new logic; the nearest contract changes enter inside incumbent platforms, via packaging.</a:t>
            </a:r>
            <a:endParaRPr lang="en-US" sz="1400" dirty="0"/>
          </a:p>
        </p:txBody>
      </p:sp>
      <p:sp>
        <p:nvSpPr>
          <p:cNvPr id="7" name="Text 4"/>
          <p:cNvSpPr/>
          <p:nvPr/>
        </p:nvSpPr>
        <p:spPr>
          <a:xfrm>
            <a:off x="457200" y="6473952"/>
            <a:ext cx="7315200" cy="274320"/>
          </a:xfrm>
          <a:prstGeom prst="rect">
            <a:avLst/>
          </a:prstGeom>
          <a:noFill/>
          <a:ln/>
        </p:spPr>
        <p:txBody>
          <a:bodyPr wrap="square" rtlCol="0" anchor="ctr"/>
          <a:lstStyle/>
          <a:p>
            <a:pPr indent="0" marL="0">
              <a:buNone/>
            </a:pPr>
            <a:r>
              <a:rPr lang="en-US" sz="900" dirty="0">
                <a:solidFill>
                  <a:srgbClr val="7C8B96"/>
                </a:solidFill>
                <a:latin typeface="Calibri" pitchFamily="34" charset="0"/>
                <a:ea typeface="Calibri" pitchFamily="34" charset="-122"/>
                <a:cs typeface="Calibri" pitchFamily="34" charset="-120"/>
              </a:rPr>
              <a:t>Beyond the GPU — 2-hour lecture</a:t>
            </a:r>
            <a:endParaRPr lang="en-US" sz="900" dirty="0"/>
          </a:p>
        </p:txBody>
      </p:sp>
      <p:sp>
        <p:nvSpPr>
          <p:cNvPr id="8" name="Text 5"/>
          <p:cNvSpPr/>
          <p:nvPr/>
        </p:nvSpPr>
        <p:spPr>
          <a:xfrm>
            <a:off x="11277295" y="6473952"/>
            <a:ext cx="457200" cy="274320"/>
          </a:xfrm>
          <a:prstGeom prst="rect">
            <a:avLst/>
          </a:prstGeom>
          <a:noFill/>
          <a:ln/>
        </p:spPr>
        <p:txBody>
          <a:bodyPr wrap="square" rtlCol="0" anchor="ctr"/>
          <a:lstStyle/>
          <a:p>
            <a:pPr algn="r" indent="0" marL="0">
              <a:buNone/>
            </a:pPr>
            <a:r>
              <a:rPr lang="en-US" sz="900" dirty="0">
                <a:solidFill>
                  <a:srgbClr val="7C8B96"/>
                </a:solidFill>
                <a:latin typeface="Calibri" pitchFamily="34" charset="0"/>
                <a:ea typeface="Calibri" pitchFamily="34" charset="-122"/>
                <a:cs typeface="Calibri" pitchFamily="34" charset="-120"/>
              </a:rPr>
              <a:t>47</a:t>
            </a:r>
            <a:endParaRPr lang="en-US" sz="9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10896"/>
            <a:ext cx="10058400" cy="274320"/>
          </a:xfrm>
          <a:prstGeom prst="rect">
            <a:avLst/>
          </a:prstGeom>
          <a:noFill/>
          <a:ln/>
        </p:spPr>
        <p:txBody>
          <a:bodyPr wrap="square" rtlCol="0" anchor="ctr"/>
          <a:lstStyle/>
          <a:p>
            <a:pPr indent="0" marL="0">
              <a:buNone/>
            </a:pPr>
            <a:r>
              <a:rPr lang="en-US" sz="1200" b="1" spc="200" kern="0" dirty="0">
                <a:solidFill>
                  <a:srgbClr val="0E8C9B"/>
                </a:solidFill>
                <a:latin typeface="Calibri" pitchFamily="34" charset="0"/>
                <a:ea typeface="Calibri" pitchFamily="34" charset="-122"/>
                <a:cs typeface="Calibri" pitchFamily="34" charset="-120"/>
              </a:rPr>
              <a:t>DEMAND-SIDE WILDCARDS</a:t>
            </a:r>
            <a:endParaRPr lang="en-US" sz="1200" dirty="0"/>
          </a:p>
        </p:txBody>
      </p:sp>
      <p:sp>
        <p:nvSpPr>
          <p:cNvPr id="3" name="Text 1"/>
          <p:cNvSpPr/>
          <p:nvPr/>
        </p:nvSpPr>
        <p:spPr>
          <a:xfrm>
            <a:off x="457200" y="548640"/>
            <a:ext cx="11247120" cy="822960"/>
          </a:xfrm>
          <a:prstGeom prst="rect">
            <a:avLst/>
          </a:prstGeom>
          <a:noFill/>
          <a:ln/>
        </p:spPr>
        <p:txBody>
          <a:bodyPr wrap="square" rtlCol="0" anchor="ctr"/>
          <a:lstStyle/>
          <a:p>
            <a:pPr indent="0" marL="0">
              <a:buNone/>
            </a:pPr>
            <a:r>
              <a:rPr lang="en-US" sz="3000" b="1" dirty="0">
                <a:solidFill>
                  <a:srgbClr val="263947"/>
                </a:solidFill>
                <a:latin typeface="Cambria" pitchFamily="34" charset="0"/>
                <a:ea typeface="Cambria" pitchFamily="34" charset="-122"/>
                <a:cs typeface="Cambria" pitchFamily="34" charset="-120"/>
              </a:rPr>
              <a:t>What could move the bounds first</a:t>
            </a:r>
            <a:endParaRPr lang="en-US" sz="3000" dirty="0"/>
          </a:p>
        </p:txBody>
      </p:sp>
      <p:sp>
        <p:nvSpPr>
          <p:cNvPr id="4" name="Shape 2"/>
          <p:cNvSpPr/>
          <p:nvPr/>
        </p:nvSpPr>
        <p:spPr>
          <a:xfrm>
            <a:off x="457200" y="1600200"/>
            <a:ext cx="3544824" cy="4343400"/>
          </a:xfrm>
          <a:prstGeom prst="roundRect">
            <a:avLst>
              <a:gd name="adj" fmla="val 1806"/>
            </a:avLst>
          </a:prstGeom>
          <a:solidFill>
            <a:srgbClr val="F4F7F8"/>
          </a:solidFill>
          <a:ln w="12700">
            <a:solidFill>
              <a:srgbClr val="E7ECEF"/>
            </a:solidFill>
            <a:prstDash val="solid"/>
          </a:ln>
        </p:spPr>
      </p:sp>
      <p:sp>
        <p:nvSpPr>
          <p:cNvPr id="5" name="Shape 3"/>
          <p:cNvSpPr/>
          <p:nvPr/>
        </p:nvSpPr>
        <p:spPr>
          <a:xfrm>
            <a:off x="658368" y="1801368"/>
            <a:ext cx="457200" cy="457200"/>
          </a:xfrm>
          <a:prstGeom prst="roundRect">
            <a:avLst>
              <a:gd name="adj" fmla="val 12000"/>
            </a:avLst>
          </a:prstGeom>
          <a:solidFill>
            <a:srgbClr val="0E8C9B"/>
          </a:solidFill>
          <a:ln/>
        </p:spPr>
      </p:sp>
      <p:sp>
        <p:nvSpPr>
          <p:cNvPr id="6" name="Text 4"/>
          <p:cNvSpPr/>
          <p:nvPr/>
        </p:nvSpPr>
        <p:spPr>
          <a:xfrm>
            <a:off x="1234440" y="1783080"/>
            <a:ext cx="2584704" cy="502920"/>
          </a:xfrm>
          <a:prstGeom prst="rect">
            <a:avLst/>
          </a:prstGeom>
          <a:noFill/>
          <a:ln/>
        </p:spPr>
        <p:txBody>
          <a:bodyPr wrap="square" rtlCol="0" anchor="ctr"/>
          <a:lstStyle/>
          <a:p>
            <a:pPr indent="0" marL="0">
              <a:buNone/>
            </a:pPr>
            <a:r>
              <a:rPr lang="en-US" sz="1450" b="1" dirty="0">
                <a:solidFill>
                  <a:srgbClr val="263947"/>
                </a:solidFill>
                <a:latin typeface="Calibri" pitchFamily="34" charset="0"/>
                <a:ea typeface="Calibri" pitchFamily="34" charset="-122"/>
                <a:cs typeface="Calibri" pitchFamily="34" charset="-120"/>
              </a:rPr>
              <a:t>Test-time compute</a:t>
            </a:r>
            <a:endParaRPr lang="en-US" sz="1450" dirty="0"/>
          </a:p>
        </p:txBody>
      </p:sp>
      <p:sp>
        <p:nvSpPr>
          <p:cNvPr id="7" name="Text 5"/>
          <p:cNvSpPr/>
          <p:nvPr/>
        </p:nvSpPr>
        <p:spPr>
          <a:xfrm>
            <a:off x="676656" y="2377440"/>
            <a:ext cx="3105912" cy="3429000"/>
          </a:xfrm>
          <a:prstGeom prst="rect">
            <a:avLst/>
          </a:prstGeom>
          <a:noFill/>
          <a:ln/>
        </p:spPr>
        <p:txBody>
          <a:bodyPr wrap="square" rtlCol="0" anchor="t"/>
          <a:lstStyle/>
          <a:p>
            <a:pPr indent="0" marL="0">
              <a:buNone/>
            </a:pPr>
            <a:r>
              <a:rPr lang="en-US" sz="1200" dirty="0">
                <a:solidFill>
                  <a:srgbClr val="263947"/>
                </a:solidFill>
                <a:latin typeface="Calibri" pitchFamily="34" charset="0"/>
                <a:ea typeface="Calibri" pitchFamily="34" charset="-122"/>
                <a:cs typeface="Calibri" pitchFamily="34" charset="-120"/>
              </a:rPr>
              <a:t>Reasoning longer, not larger — deepens the decode bound, strengthens inference silicon.</a:t>
            </a:r>
            <a:endParaRPr lang="en-US" sz="1200" dirty="0"/>
          </a:p>
        </p:txBody>
      </p:sp>
      <p:sp>
        <p:nvSpPr>
          <p:cNvPr id="8" name="Shape 6"/>
          <p:cNvSpPr/>
          <p:nvPr/>
        </p:nvSpPr>
        <p:spPr>
          <a:xfrm>
            <a:off x="4322064" y="1600200"/>
            <a:ext cx="3544824" cy="4343400"/>
          </a:xfrm>
          <a:prstGeom prst="roundRect">
            <a:avLst>
              <a:gd name="adj" fmla="val 1806"/>
            </a:avLst>
          </a:prstGeom>
          <a:solidFill>
            <a:srgbClr val="F4F7F8"/>
          </a:solidFill>
          <a:ln w="12700">
            <a:solidFill>
              <a:srgbClr val="E7ECEF"/>
            </a:solidFill>
            <a:prstDash val="solid"/>
          </a:ln>
        </p:spPr>
      </p:sp>
      <p:sp>
        <p:nvSpPr>
          <p:cNvPr id="9" name="Shape 7"/>
          <p:cNvSpPr/>
          <p:nvPr/>
        </p:nvSpPr>
        <p:spPr>
          <a:xfrm>
            <a:off x="4523232" y="1801368"/>
            <a:ext cx="457200" cy="457200"/>
          </a:xfrm>
          <a:prstGeom prst="roundRect">
            <a:avLst>
              <a:gd name="adj" fmla="val 12000"/>
            </a:avLst>
          </a:prstGeom>
          <a:solidFill>
            <a:srgbClr val="2E6E9E"/>
          </a:solidFill>
          <a:ln/>
        </p:spPr>
      </p:sp>
      <p:sp>
        <p:nvSpPr>
          <p:cNvPr id="10" name="Text 8"/>
          <p:cNvSpPr/>
          <p:nvPr/>
        </p:nvSpPr>
        <p:spPr>
          <a:xfrm>
            <a:off x="5099304" y="1783080"/>
            <a:ext cx="2584704" cy="502920"/>
          </a:xfrm>
          <a:prstGeom prst="rect">
            <a:avLst/>
          </a:prstGeom>
          <a:noFill/>
          <a:ln/>
        </p:spPr>
        <p:txBody>
          <a:bodyPr wrap="square" rtlCol="0" anchor="ctr"/>
          <a:lstStyle/>
          <a:p>
            <a:pPr indent="0" marL="0">
              <a:buNone/>
            </a:pPr>
            <a:r>
              <a:rPr lang="en-US" sz="1450" b="1" dirty="0">
                <a:solidFill>
                  <a:srgbClr val="263947"/>
                </a:solidFill>
                <a:latin typeface="Calibri" pitchFamily="34" charset="0"/>
                <a:ea typeface="Calibri" pitchFamily="34" charset="-122"/>
                <a:cs typeface="Calibri" pitchFamily="34" charset="-120"/>
              </a:rPr>
              <a:t>Persistent-state agents</a:t>
            </a:r>
            <a:endParaRPr lang="en-US" sz="1450" dirty="0"/>
          </a:p>
        </p:txBody>
      </p:sp>
      <p:sp>
        <p:nvSpPr>
          <p:cNvPr id="11" name="Text 9"/>
          <p:cNvSpPr/>
          <p:nvPr/>
        </p:nvSpPr>
        <p:spPr>
          <a:xfrm>
            <a:off x="4541520" y="2377440"/>
            <a:ext cx="3105912" cy="3429000"/>
          </a:xfrm>
          <a:prstGeom prst="rect">
            <a:avLst/>
          </a:prstGeom>
          <a:noFill/>
          <a:ln/>
        </p:spPr>
        <p:txBody>
          <a:bodyPr wrap="square" rtlCol="0" anchor="t"/>
          <a:lstStyle/>
          <a:p>
            <a:pPr indent="0" marL="0">
              <a:buNone/>
            </a:pPr>
            <a:r>
              <a:rPr lang="en-US" sz="1200" dirty="0">
                <a:solidFill>
                  <a:srgbClr val="263947"/>
                </a:solidFill>
                <a:latin typeface="Calibri" pitchFamily="34" charset="0"/>
                <a:ea typeface="Calibri" pitchFamily="34" charset="-122"/>
                <a:cs typeface="Calibri" pitchFamily="34" charset="-120"/>
              </a:rPr>
              <a:t>Promote state residency and freshness to first-class bounds — a possible new family.</a:t>
            </a:r>
            <a:endParaRPr lang="en-US" sz="1200" dirty="0"/>
          </a:p>
        </p:txBody>
      </p:sp>
      <p:sp>
        <p:nvSpPr>
          <p:cNvPr id="12" name="Shape 10"/>
          <p:cNvSpPr/>
          <p:nvPr/>
        </p:nvSpPr>
        <p:spPr>
          <a:xfrm>
            <a:off x="8186928" y="1600200"/>
            <a:ext cx="3544824" cy="4343400"/>
          </a:xfrm>
          <a:prstGeom prst="roundRect">
            <a:avLst>
              <a:gd name="adj" fmla="val 1806"/>
            </a:avLst>
          </a:prstGeom>
          <a:solidFill>
            <a:srgbClr val="F4F7F8"/>
          </a:solidFill>
          <a:ln w="12700">
            <a:solidFill>
              <a:srgbClr val="E7ECEF"/>
            </a:solidFill>
            <a:prstDash val="solid"/>
          </a:ln>
        </p:spPr>
      </p:sp>
      <p:sp>
        <p:nvSpPr>
          <p:cNvPr id="13" name="Shape 11"/>
          <p:cNvSpPr/>
          <p:nvPr/>
        </p:nvSpPr>
        <p:spPr>
          <a:xfrm>
            <a:off x="8388096" y="1801368"/>
            <a:ext cx="457200" cy="457200"/>
          </a:xfrm>
          <a:prstGeom prst="roundRect">
            <a:avLst>
              <a:gd name="adj" fmla="val 12000"/>
            </a:avLst>
          </a:prstGeom>
          <a:solidFill>
            <a:srgbClr val="E08A2B"/>
          </a:solidFill>
          <a:ln/>
        </p:spPr>
      </p:sp>
      <p:sp>
        <p:nvSpPr>
          <p:cNvPr id="14" name="Text 12"/>
          <p:cNvSpPr/>
          <p:nvPr/>
        </p:nvSpPr>
        <p:spPr>
          <a:xfrm>
            <a:off x="8964168" y="1783080"/>
            <a:ext cx="2584704" cy="502920"/>
          </a:xfrm>
          <a:prstGeom prst="rect">
            <a:avLst/>
          </a:prstGeom>
          <a:noFill/>
          <a:ln/>
        </p:spPr>
        <p:txBody>
          <a:bodyPr wrap="square" rtlCol="0" anchor="ctr"/>
          <a:lstStyle/>
          <a:p>
            <a:pPr indent="0" marL="0">
              <a:buNone/>
            </a:pPr>
            <a:r>
              <a:rPr lang="en-US" sz="1450" b="1" dirty="0">
                <a:solidFill>
                  <a:srgbClr val="263947"/>
                </a:solidFill>
                <a:latin typeface="Calibri" pitchFamily="34" charset="0"/>
                <a:ea typeface="Calibri" pitchFamily="34" charset="-122"/>
                <a:cs typeface="Calibri" pitchFamily="34" charset="-120"/>
              </a:rPr>
              <a:t>Default sparsity</a:t>
            </a:r>
            <a:endParaRPr lang="en-US" sz="1450" dirty="0"/>
          </a:p>
        </p:txBody>
      </p:sp>
      <p:sp>
        <p:nvSpPr>
          <p:cNvPr id="15" name="Text 13"/>
          <p:cNvSpPr/>
          <p:nvPr/>
        </p:nvSpPr>
        <p:spPr>
          <a:xfrm>
            <a:off x="8406384" y="2377440"/>
            <a:ext cx="3105912" cy="3429000"/>
          </a:xfrm>
          <a:prstGeom prst="rect">
            <a:avLst/>
          </a:prstGeom>
          <a:noFill/>
          <a:ln/>
        </p:spPr>
        <p:txBody>
          <a:bodyPr wrap="square" rtlCol="0" anchor="t"/>
          <a:lstStyle/>
          <a:p>
            <a:pPr indent="0" marL="0">
              <a:buNone/>
            </a:pPr>
            <a:r>
              <a:rPr lang="en-US" sz="1200" dirty="0">
                <a:solidFill>
                  <a:srgbClr val="263947"/>
                </a:solidFill>
                <a:latin typeface="Calibri" pitchFamily="34" charset="0"/>
                <a:ea typeface="Calibri" pitchFamily="34" charset="-122"/>
                <a:cs typeface="Calibri" pitchFamily="34" charset="-120"/>
              </a:rPr>
              <a:t>MoE and retrieval push routing and gather up the priority list.</a:t>
            </a:r>
            <a:endParaRPr lang="en-US" sz="1200" dirty="0"/>
          </a:p>
        </p:txBody>
      </p:sp>
      <p:sp>
        <p:nvSpPr>
          <p:cNvPr id="16" name="Text 14"/>
          <p:cNvSpPr/>
          <p:nvPr/>
        </p:nvSpPr>
        <p:spPr>
          <a:xfrm>
            <a:off x="457200" y="6108192"/>
            <a:ext cx="11274552" cy="365760"/>
          </a:xfrm>
          <a:prstGeom prst="rect">
            <a:avLst/>
          </a:prstGeom>
          <a:noFill/>
          <a:ln/>
        </p:spPr>
        <p:txBody>
          <a:bodyPr wrap="square" rtlCol="0" anchor="ctr"/>
          <a:lstStyle/>
          <a:p>
            <a:pPr indent="0" marL="0">
              <a:buNone/>
            </a:pPr>
            <a:r>
              <a:rPr lang="en-US" sz="1350" b="1" dirty="0">
                <a:solidFill>
                  <a:srgbClr val="E08A2B"/>
                </a:solidFill>
                <a:latin typeface="Calibri" pitchFamily="34" charset="0"/>
                <a:ea typeface="Calibri" pitchFamily="34" charset="-122"/>
                <a:cs typeface="Calibri" pitchFamily="34" charset="-120"/>
              </a:rPr>
              <a:t>⇒  </a:t>
            </a:r>
            <a:pPr indent="0" marL="0">
              <a:buNone/>
            </a:pPr>
            <a:r>
              <a:rPr lang="en-US" sz="1350" b="1" dirty="0">
                <a:solidFill>
                  <a:srgbClr val="263947"/>
                </a:solidFill>
                <a:latin typeface="Calibri" pitchFamily="34" charset="0"/>
                <a:ea typeface="Calibri" pitchFamily="34" charset="-122"/>
                <a:cs typeface="Calibri" pitchFamily="34" charset="-120"/>
              </a:rPr>
              <a:t>If the signatures move, the family taxonomy should be re-derived — the method predicts its own revision.</a:t>
            </a:r>
            <a:endParaRPr lang="en-US" sz="1350" dirty="0"/>
          </a:p>
        </p:txBody>
      </p:sp>
      <p:sp>
        <p:nvSpPr>
          <p:cNvPr id="17" name="Text 15"/>
          <p:cNvSpPr/>
          <p:nvPr/>
        </p:nvSpPr>
        <p:spPr>
          <a:xfrm>
            <a:off x="457200" y="6473952"/>
            <a:ext cx="7315200" cy="274320"/>
          </a:xfrm>
          <a:prstGeom prst="rect">
            <a:avLst/>
          </a:prstGeom>
          <a:noFill/>
          <a:ln/>
        </p:spPr>
        <p:txBody>
          <a:bodyPr wrap="square" rtlCol="0" anchor="ctr"/>
          <a:lstStyle/>
          <a:p>
            <a:pPr indent="0" marL="0">
              <a:buNone/>
            </a:pPr>
            <a:r>
              <a:rPr lang="en-US" sz="900" dirty="0">
                <a:solidFill>
                  <a:srgbClr val="7C8B96"/>
                </a:solidFill>
                <a:latin typeface="Calibri" pitchFamily="34" charset="0"/>
                <a:ea typeface="Calibri" pitchFamily="34" charset="-122"/>
                <a:cs typeface="Calibri" pitchFamily="34" charset="-120"/>
              </a:rPr>
              <a:t>Beyond the GPU — 2-hour lecture</a:t>
            </a:r>
            <a:endParaRPr lang="en-US" sz="900" dirty="0"/>
          </a:p>
        </p:txBody>
      </p:sp>
      <p:sp>
        <p:nvSpPr>
          <p:cNvPr id="18" name="Text 16"/>
          <p:cNvSpPr/>
          <p:nvPr/>
        </p:nvSpPr>
        <p:spPr>
          <a:xfrm>
            <a:off x="11277295" y="6473952"/>
            <a:ext cx="457200" cy="274320"/>
          </a:xfrm>
          <a:prstGeom prst="rect">
            <a:avLst/>
          </a:prstGeom>
          <a:noFill/>
          <a:ln/>
        </p:spPr>
        <p:txBody>
          <a:bodyPr wrap="square" rtlCol="0" anchor="ctr"/>
          <a:lstStyle/>
          <a:p>
            <a:pPr algn="r" indent="0" marL="0">
              <a:buNone/>
            </a:pPr>
            <a:r>
              <a:rPr lang="en-US" sz="900" dirty="0">
                <a:solidFill>
                  <a:srgbClr val="7C8B96"/>
                </a:solidFill>
                <a:latin typeface="Calibri" pitchFamily="34" charset="0"/>
                <a:ea typeface="Calibri" pitchFamily="34" charset="-122"/>
                <a:cs typeface="Calibri" pitchFamily="34" charset="-120"/>
              </a:rPr>
              <a:t>48</a:t>
            </a:r>
            <a:endParaRPr lang="en-US" sz="9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10896"/>
            <a:ext cx="10058400" cy="274320"/>
          </a:xfrm>
          <a:prstGeom prst="rect">
            <a:avLst/>
          </a:prstGeom>
          <a:noFill/>
          <a:ln/>
        </p:spPr>
        <p:txBody>
          <a:bodyPr wrap="square" rtlCol="0" anchor="ctr"/>
          <a:lstStyle/>
          <a:p>
            <a:pPr indent="0" marL="0">
              <a:buNone/>
            </a:pPr>
            <a:r>
              <a:rPr lang="en-US" sz="1200" b="1" spc="200" kern="0" dirty="0">
                <a:solidFill>
                  <a:srgbClr val="0E8C9B"/>
                </a:solidFill>
                <a:latin typeface="Calibri" pitchFamily="34" charset="0"/>
                <a:ea typeface="Calibri" pitchFamily="34" charset="-122"/>
                <a:cs typeface="Calibri" pitchFamily="34" charset="-120"/>
              </a:rPr>
              <a:t>CONCLUSIONS</a:t>
            </a:r>
            <a:endParaRPr lang="en-US" sz="1200" dirty="0"/>
          </a:p>
        </p:txBody>
      </p:sp>
      <p:sp>
        <p:nvSpPr>
          <p:cNvPr id="3" name="Text 1"/>
          <p:cNvSpPr/>
          <p:nvPr/>
        </p:nvSpPr>
        <p:spPr>
          <a:xfrm>
            <a:off x="457200" y="548640"/>
            <a:ext cx="11247120" cy="822960"/>
          </a:xfrm>
          <a:prstGeom prst="rect">
            <a:avLst/>
          </a:prstGeom>
          <a:noFill/>
          <a:ln/>
        </p:spPr>
        <p:txBody>
          <a:bodyPr wrap="square" rtlCol="0" anchor="ctr"/>
          <a:lstStyle/>
          <a:p>
            <a:pPr indent="0" marL="0">
              <a:buNone/>
            </a:pPr>
            <a:r>
              <a:rPr lang="en-US" sz="3000" b="1" dirty="0">
                <a:solidFill>
                  <a:srgbClr val="263947"/>
                </a:solidFill>
                <a:latin typeface="Cambria" pitchFamily="34" charset="0"/>
                <a:ea typeface="Cambria" pitchFamily="34" charset="-122"/>
                <a:cs typeface="Cambria" pitchFamily="34" charset="-120"/>
              </a:rPr>
              <a:t>What holds across the whole picture</a:t>
            </a:r>
            <a:endParaRPr lang="en-US" sz="3000" dirty="0"/>
          </a:p>
        </p:txBody>
      </p:sp>
      <p:sp>
        <p:nvSpPr>
          <p:cNvPr id="4" name="Shape 2"/>
          <p:cNvSpPr/>
          <p:nvPr/>
        </p:nvSpPr>
        <p:spPr>
          <a:xfrm>
            <a:off x="457200" y="1600200"/>
            <a:ext cx="5477256" cy="1356360"/>
          </a:xfrm>
          <a:prstGeom prst="roundRect">
            <a:avLst>
              <a:gd name="adj" fmla="val 4719"/>
            </a:avLst>
          </a:prstGeom>
          <a:solidFill>
            <a:srgbClr val="F4F7F8"/>
          </a:solidFill>
          <a:ln w="12700">
            <a:solidFill>
              <a:srgbClr val="E7ECEF"/>
            </a:solidFill>
            <a:prstDash val="solid"/>
          </a:ln>
        </p:spPr>
      </p:sp>
      <p:sp>
        <p:nvSpPr>
          <p:cNvPr id="5" name="Shape 3"/>
          <p:cNvSpPr/>
          <p:nvPr/>
        </p:nvSpPr>
        <p:spPr>
          <a:xfrm>
            <a:off x="658368" y="1801368"/>
            <a:ext cx="457200" cy="457200"/>
          </a:xfrm>
          <a:prstGeom prst="roundRect">
            <a:avLst>
              <a:gd name="adj" fmla="val 12000"/>
            </a:avLst>
          </a:prstGeom>
          <a:solidFill>
            <a:srgbClr val="0E8C9B"/>
          </a:solidFill>
          <a:ln/>
        </p:spPr>
      </p:sp>
      <p:sp>
        <p:nvSpPr>
          <p:cNvPr id="6" name="Text 4"/>
          <p:cNvSpPr/>
          <p:nvPr/>
        </p:nvSpPr>
        <p:spPr>
          <a:xfrm>
            <a:off x="658368" y="1801368"/>
            <a:ext cx="457200" cy="457200"/>
          </a:xfrm>
          <a:prstGeom prst="rect">
            <a:avLst/>
          </a:prstGeom>
          <a:noFill/>
          <a:ln/>
        </p:spPr>
        <p:txBody>
          <a:bodyPr wrap="square"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A</a:t>
            </a:r>
            <a:endParaRPr lang="en-US" sz="1500" dirty="0"/>
          </a:p>
        </p:txBody>
      </p:sp>
      <p:sp>
        <p:nvSpPr>
          <p:cNvPr id="7" name="Text 5"/>
          <p:cNvSpPr/>
          <p:nvPr/>
        </p:nvSpPr>
        <p:spPr>
          <a:xfrm>
            <a:off x="1234440" y="1783080"/>
            <a:ext cx="4517136" cy="502920"/>
          </a:xfrm>
          <a:prstGeom prst="rect">
            <a:avLst/>
          </a:prstGeom>
          <a:noFill/>
          <a:ln/>
        </p:spPr>
        <p:txBody>
          <a:bodyPr wrap="square" rtlCol="0" anchor="ctr"/>
          <a:lstStyle/>
          <a:p>
            <a:pPr indent="0" marL="0">
              <a:buNone/>
            </a:pPr>
            <a:r>
              <a:rPr lang="en-US" sz="1450" b="1" dirty="0">
                <a:solidFill>
                  <a:srgbClr val="263947"/>
                </a:solidFill>
                <a:latin typeface="Calibri" pitchFamily="34" charset="0"/>
                <a:ea typeface="Calibri" pitchFamily="34" charset="-122"/>
                <a:cs typeface="Calibri" pitchFamily="34" charset="-120"/>
              </a:rPr>
              <a:t>Software converges on physics</a:t>
            </a:r>
            <a:endParaRPr lang="en-US" sz="1450" dirty="0"/>
          </a:p>
        </p:txBody>
      </p:sp>
      <p:sp>
        <p:nvSpPr>
          <p:cNvPr id="8" name="Text 6"/>
          <p:cNvSpPr/>
          <p:nvPr/>
        </p:nvSpPr>
        <p:spPr>
          <a:xfrm>
            <a:off x="676656" y="2377440"/>
            <a:ext cx="5038344" cy="441960"/>
          </a:xfrm>
          <a:prstGeom prst="rect">
            <a:avLst/>
          </a:prstGeom>
          <a:noFill/>
          <a:ln/>
        </p:spPr>
        <p:txBody>
          <a:bodyPr wrap="square" rtlCol="0" anchor="t"/>
          <a:lstStyle/>
          <a:p>
            <a:pPr indent="0" marL="0">
              <a:buNone/>
            </a:pPr>
            <a:r>
              <a:rPr lang="en-US" sz="1200" dirty="0">
                <a:solidFill>
                  <a:srgbClr val="263947"/>
                </a:solidFill>
                <a:latin typeface="Calibri" pitchFamily="34" charset="0"/>
                <a:ea typeface="Calibri" pitchFamily="34" charset="-122"/>
                <a:cs typeface="Calibri" pitchFamily="34" charset="-120"/>
              </a:rPr>
              <a:t>Both transitions are software succeeding until it exposes a hard, measurable bound.</a:t>
            </a:r>
            <a:endParaRPr lang="en-US" sz="1200" dirty="0"/>
          </a:p>
        </p:txBody>
      </p:sp>
      <p:sp>
        <p:nvSpPr>
          <p:cNvPr id="9" name="Shape 7"/>
          <p:cNvSpPr/>
          <p:nvPr/>
        </p:nvSpPr>
        <p:spPr>
          <a:xfrm>
            <a:off x="6254496" y="1600200"/>
            <a:ext cx="5477256" cy="1356360"/>
          </a:xfrm>
          <a:prstGeom prst="roundRect">
            <a:avLst>
              <a:gd name="adj" fmla="val 4719"/>
            </a:avLst>
          </a:prstGeom>
          <a:solidFill>
            <a:srgbClr val="F4F7F8"/>
          </a:solidFill>
          <a:ln w="12700">
            <a:solidFill>
              <a:srgbClr val="E7ECEF"/>
            </a:solidFill>
            <a:prstDash val="solid"/>
          </a:ln>
        </p:spPr>
      </p:sp>
      <p:sp>
        <p:nvSpPr>
          <p:cNvPr id="10" name="Shape 8"/>
          <p:cNvSpPr/>
          <p:nvPr/>
        </p:nvSpPr>
        <p:spPr>
          <a:xfrm>
            <a:off x="6455664" y="1801368"/>
            <a:ext cx="457200" cy="457200"/>
          </a:xfrm>
          <a:prstGeom prst="roundRect">
            <a:avLst>
              <a:gd name="adj" fmla="val 12000"/>
            </a:avLst>
          </a:prstGeom>
          <a:solidFill>
            <a:srgbClr val="2E6E9E"/>
          </a:solidFill>
          <a:ln/>
        </p:spPr>
      </p:sp>
      <p:sp>
        <p:nvSpPr>
          <p:cNvPr id="11" name="Text 9"/>
          <p:cNvSpPr/>
          <p:nvPr/>
        </p:nvSpPr>
        <p:spPr>
          <a:xfrm>
            <a:off x="6455664" y="1801368"/>
            <a:ext cx="457200" cy="457200"/>
          </a:xfrm>
          <a:prstGeom prst="rect">
            <a:avLst/>
          </a:prstGeom>
          <a:noFill/>
          <a:ln/>
        </p:spPr>
        <p:txBody>
          <a:bodyPr wrap="square"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B</a:t>
            </a:r>
            <a:endParaRPr lang="en-US" sz="1500" dirty="0"/>
          </a:p>
        </p:txBody>
      </p:sp>
      <p:sp>
        <p:nvSpPr>
          <p:cNvPr id="12" name="Text 10"/>
          <p:cNvSpPr/>
          <p:nvPr/>
        </p:nvSpPr>
        <p:spPr>
          <a:xfrm>
            <a:off x="7031736" y="1783080"/>
            <a:ext cx="4517136" cy="502920"/>
          </a:xfrm>
          <a:prstGeom prst="rect">
            <a:avLst/>
          </a:prstGeom>
          <a:noFill/>
          <a:ln/>
        </p:spPr>
        <p:txBody>
          <a:bodyPr wrap="square" rtlCol="0" anchor="ctr"/>
          <a:lstStyle/>
          <a:p>
            <a:pPr indent="0" marL="0">
              <a:buNone/>
            </a:pPr>
            <a:r>
              <a:rPr lang="en-US" sz="1450" b="1" dirty="0">
                <a:solidFill>
                  <a:srgbClr val="263947"/>
                </a:solidFill>
                <a:latin typeface="Calibri" pitchFamily="34" charset="0"/>
                <a:ea typeface="Calibri" pitchFamily="34" charset="-122"/>
                <a:cs typeface="Calibri" pitchFamily="34" charset="-120"/>
              </a:rPr>
              <a:t>Necessity is decidable</a:t>
            </a:r>
            <a:endParaRPr lang="en-US" sz="1450" dirty="0"/>
          </a:p>
        </p:txBody>
      </p:sp>
      <p:sp>
        <p:nvSpPr>
          <p:cNvPr id="13" name="Text 11"/>
          <p:cNvSpPr/>
          <p:nvPr/>
        </p:nvSpPr>
        <p:spPr>
          <a:xfrm>
            <a:off x="6473952" y="2377440"/>
            <a:ext cx="5038344" cy="441960"/>
          </a:xfrm>
          <a:prstGeom prst="rect">
            <a:avLst/>
          </a:prstGeom>
          <a:noFill/>
          <a:ln/>
        </p:spPr>
        <p:txBody>
          <a:bodyPr wrap="square" rtlCol="0" anchor="t"/>
          <a:lstStyle/>
          <a:p>
            <a:pPr indent="0" marL="0">
              <a:buNone/>
            </a:pPr>
            <a:r>
              <a:rPr lang="en-US" sz="1200" dirty="0">
                <a:solidFill>
                  <a:srgbClr val="263947"/>
                </a:solidFill>
                <a:latin typeface="Calibri" pitchFamily="34" charset="0"/>
                <a:ea typeface="Calibri" pitchFamily="34" charset="-122"/>
                <a:cs typeface="Calibri" pitchFamily="34" charset="-120"/>
              </a:rPr>
              <a:t>A four-condition test returns specialize / market-no / stay-on-GPU from measurable inputs.</a:t>
            </a:r>
            <a:endParaRPr lang="en-US" sz="1200" dirty="0"/>
          </a:p>
        </p:txBody>
      </p:sp>
      <p:sp>
        <p:nvSpPr>
          <p:cNvPr id="14" name="Shape 12"/>
          <p:cNvSpPr/>
          <p:nvPr/>
        </p:nvSpPr>
        <p:spPr>
          <a:xfrm>
            <a:off x="457200" y="3230880"/>
            <a:ext cx="5477256" cy="1356360"/>
          </a:xfrm>
          <a:prstGeom prst="roundRect">
            <a:avLst>
              <a:gd name="adj" fmla="val 4719"/>
            </a:avLst>
          </a:prstGeom>
          <a:solidFill>
            <a:srgbClr val="F4F7F8"/>
          </a:solidFill>
          <a:ln w="12700">
            <a:solidFill>
              <a:srgbClr val="E7ECEF"/>
            </a:solidFill>
            <a:prstDash val="solid"/>
          </a:ln>
        </p:spPr>
      </p:sp>
      <p:sp>
        <p:nvSpPr>
          <p:cNvPr id="15" name="Shape 13"/>
          <p:cNvSpPr/>
          <p:nvPr/>
        </p:nvSpPr>
        <p:spPr>
          <a:xfrm>
            <a:off x="658368" y="3432048"/>
            <a:ext cx="457200" cy="457200"/>
          </a:xfrm>
          <a:prstGeom prst="roundRect">
            <a:avLst>
              <a:gd name="adj" fmla="val 12000"/>
            </a:avLst>
          </a:prstGeom>
          <a:solidFill>
            <a:srgbClr val="E08A2B"/>
          </a:solidFill>
          <a:ln/>
        </p:spPr>
      </p:sp>
      <p:sp>
        <p:nvSpPr>
          <p:cNvPr id="16" name="Text 14"/>
          <p:cNvSpPr/>
          <p:nvPr/>
        </p:nvSpPr>
        <p:spPr>
          <a:xfrm>
            <a:off x="658368" y="3432048"/>
            <a:ext cx="457200" cy="457200"/>
          </a:xfrm>
          <a:prstGeom prst="rect">
            <a:avLst/>
          </a:prstGeom>
          <a:noFill/>
          <a:ln/>
        </p:spPr>
        <p:txBody>
          <a:bodyPr wrap="square"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C</a:t>
            </a:r>
            <a:endParaRPr lang="en-US" sz="1500" dirty="0"/>
          </a:p>
        </p:txBody>
      </p:sp>
      <p:sp>
        <p:nvSpPr>
          <p:cNvPr id="17" name="Text 15"/>
          <p:cNvSpPr/>
          <p:nvPr/>
        </p:nvSpPr>
        <p:spPr>
          <a:xfrm>
            <a:off x="1234440" y="3413760"/>
            <a:ext cx="4517136" cy="502920"/>
          </a:xfrm>
          <a:prstGeom prst="rect">
            <a:avLst/>
          </a:prstGeom>
          <a:noFill/>
          <a:ln/>
        </p:spPr>
        <p:txBody>
          <a:bodyPr wrap="square" rtlCol="0" anchor="ctr"/>
          <a:lstStyle/>
          <a:p>
            <a:pPr indent="0" marL="0">
              <a:buNone/>
            </a:pPr>
            <a:r>
              <a:rPr lang="en-US" sz="1450" b="1" dirty="0">
                <a:solidFill>
                  <a:srgbClr val="263947"/>
                </a:solidFill>
                <a:latin typeface="Calibri" pitchFamily="34" charset="0"/>
                <a:ea typeface="Calibri" pitchFamily="34" charset="-122"/>
                <a:cs typeface="Calibri" pitchFamily="34" charset="-120"/>
              </a:rPr>
              <a:t>Condition 4 dominates</a:t>
            </a:r>
            <a:endParaRPr lang="en-US" sz="1450" dirty="0"/>
          </a:p>
        </p:txBody>
      </p:sp>
      <p:sp>
        <p:nvSpPr>
          <p:cNvPr id="18" name="Text 16"/>
          <p:cNvSpPr/>
          <p:nvPr/>
        </p:nvSpPr>
        <p:spPr>
          <a:xfrm>
            <a:off x="676656" y="4008120"/>
            <a:ext cx="5038344" cy="441960"/>
          </a:xfrm>
          <a:prstGeom prst="rect">
            <a:avLst/>
          </a:prstGeom>
          <a:noFill/>
          <a:ln/>
        </p:spPr>
        <p:txBody>
          <a:bodyPr wrap="square" rtlCol="0" anchor="t"/>
          <a:lstStyle/>
          <a:p>
            <a:pPr indent="0" marL="0">
              <a:buNone/>
            </a:pPr>
            <a:r>
              <a:rPr lang="en-US" sz="1200" dirty="0">
                <a:solidFill>
                  <a:srgbClr val="263947"/>
                </a:solidFill>
                <a:latin typeface="Calibri" pitchFamily="34" charset="0"/>
                <a:ea typeface="Calibri" pitchFamily="34" charset="-122"/>
                <a:cs typeface="Calibri" pitchFamily="34" charset="-120"/>
              </a:rPr>
              <a:t>Software capital, volume, and distribution decide outcomes more than silicon merit.</a:t>
            </a:r>
            <a:endParaRPr lang="en-US" sz="1200" dirty="0"/>
          </a:p>
        </p:txBody>
      </p:sp>
      <p:sp>
        <p:nvSpPr>
          <p:cNvPr id="19" name="Shape 17"/>
          <p:cNvSpPr/>
          <p:nvPr/>
        </p:nvSpPr>
        <p:spPr>
          <a:xfrm>
            <a:off x="6254496" y="3230880"/>
            <a:ext cx="5477256" cy="1356360"/>
          </a:xfrm>
          <a:prstGeom prst="roundRect">
            <a:avLst>
              <a:gd name="adj" fmla="val 4719"/>
            </a:avLst>
          </a:prstGeom>
          <a:solidFill>
            <a:srgbClr val="F4F7F8"/>
          </a:solidFill>
          <a:ln w="12700">
            <a:solidFill>
              <a:srgbClr val="E7ECEF"/>
            </a:solidFill>
            <a:prstDash val="solid"/>
          </a:ln>
        </p:spPr>
      </p:sp>
      <p:sp>
        <p:nvSpPr>
          <p:cNvPr id="20" name="Shape 18"/>
          <p:cNvSpPr/>
          <p:nvPr/>
        </p:nvSpPr>
        <p:spPr>
          <a:xfrm>
            <a:off x="6455664" y="3432048"/>
            <a:ext cx="457200" cy="457200"/>
          </a:xfrm>
          <a:prstGeom prst="roundRect">
            <a:avLst>
              <a:gd name="adj" fmla="val 12000"/>
            </a:avLst>
          </a:prstGeom>
          <a:solidFill>
            <a:srgbClr val="3F9E6A"/>
          </a:solidFill>
          <a:ln/>
        </p:spPr>
      </p:sp>
      <p:sp>
        <p:nvSpPr>
          <p:cNvPr id="21" name="Text 19"/>
          <p:cNvSpPr/>
          <p:nvPr/>
        </p:nvSpPr>
        <p:spPr>
          <a:xfrm>
            <a:off x="6455664" y="3432048"/>
            <a:ext cx="457200" cy="457200"/>
          </a:xfrm>
          <a:prstGeom prst="rect">
            <a:avLst/>
          </a:prstGeom>
          <a:noFill/>
          <a:ln/>
        </p:spPr>
        <p:txBody>
          <a:bodyPr wrap="square"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D</a:t>
            </a:r>
            <a:endParaRPr lang="en-US" sz="1500" dirty="0"/>
          </a:p>
        </p:txBody>
      </p:sp>
      <p:sp>
        <p:nvSpPr>
          <p:cNvPr id="22" name="Text 20"/>
          <p:cNvSpPr/>
          <p:nvPr/>
        </p:nvSpPr>
        <p:spPr>
          <a:xfrm>
            <a:off x="7031736" y="3413760"/>
            <a:ext cx="4517136" cy="502920"/>
          </a:xfrm>
          <a:prstGeom prst="rect">
            <a:avLst/>
          </a:prstGeom>
          <a:noFill/>
          <a:ln/>
        </p:spPr>
        <p:txBody>
          <a:bodyPr wrap="square" rtlCol="0" anchor="ctr"/>
          <a:lstStyle/>
          <a:p>
            <a:pPr indent="0" marL="0">
              <a:buNone/>
            </a:pPr>
            <a:r>
              <a:rPr lang="en-US" sz="1450" b="1" dirty="0">
                <a:solidFill>
                  <a:srgbClr val="263947"/>
                </a:solidFill>
                <a:latin typeface="Calibri" pitchFamily="34" charset="0"/>
                <a:ea typeface="Calibri" pitchFamily="34" charset="-122"/>
                <a:cs typeface="Calibri" pitchFamily="34" charset="-120"/>
              </a:rPr>
              <a:t>Families, not a successor</a:t>
            </a:r>
            <a:endParaRPr lang="en-US" sz="1450" dirty="0"/>
          </a:p>
        </p:txBody>
      </p:sp>
      <p:sp>
        <p:nvSpPr>
          <p:cNvPr id="23" name="Text 21"/>
          <p:cNvSpPr/>
          <p:nvPr/>
        </p:nvSpPr>
        <p:spPr>
          <a:xfrm>
            <a:off x="6473952" y="4008120"/>
            <a:ext cx="5038344" cy="441960"/>
          </a:xfrm>
          <a:prstGeom prst="rect">
            <a:avLst/>
          </a:prstGeom>
          <a:noFill/>
          <a:ln/>
        </p:spPr>
        <p:txBody>
          <a:bodyPr wrap="square" rtlCol="0" anchor="t"/>
          <a:lstStyle/>
          <a:p>
            <a:pPr indent="0" marL="0">
              <a:buNone/>
            </a:pPr>
            <a:r>
              <a:rPr lang="en-US" sz="1200" dirty="0">
                <a:solidFill>
                  <a:srgbClr val="263947"/>
                </a:solidFill>
                <a:latin typeface="Calibri" pitchFamily="34" charset="0"/>
                <a:ea typeface="Calibri" pitchFamily="34" charset="-122"/>
                <a:cs typeface="Calibri" pitchFamily="34" charset="-120"/>
              </a:rPr>
              <a:t>Each changes a contract the GPU cannot adopt without ceasing to be a GPU.</a:t>
            </a:r>
            <a:endParaRPr lang="en-US" sz="1200" dirty="0"/>
          </a:p>
        </p:txBody>
      </p:sp>
      <p:sp>
        <p:nvSpPr>
          <p:cNvPr id="24" name="Shape 22"/>
          <p:cNvSpPr/>
          <p:nvPr/>
        </p:nvSpPr>
        <p:spPr>
          <a:xfrm>
            <a:off x="457200" y="4861560"/>
            <a:ext cx="5477256" cy="1356360"/>
          </a:xfrm>
          <a:prstGeom prst="roundRect">
            <a:avLst>
              <a:gd name="adj" fmla="val 4719"/>
            </a:avLst>
          </a:prstGeom>
          <a:solidFill>
            <a:srgbClr val="F4F7F8"/>
          </a:solidFill>
          <a:ln w="12700">
            <a:solidFill>
              <a:srgbClr val="E7ECEF"/>
            </a:solidFill>
            <a:prstDash val="solid"/>
          </a:ln>
        </p:spPr>
      </p:sp>
      <p:sp>
        <p:nvSpPr>
          <p:cNvPr id="25" name="Shape 23"/>
          <p:cNvSpPr/>
          <p:nvPr/>
        </p:nvSpPr>
        <p:spPr>
          <a:xfrm>
            <a:off x="658368" y="5062728"/>
            <a:ext cx="457200" cy="457200"/>
          </a:xfrm>
          <a:prstGeom prst="roundRect">
            <a:avLst>
              <a:gd name="adj" fmla="val 12000"/>
            </a:avLst>
          </a:prstGeom>
          <a:solidFill>
            <a:srgbClr val="16232E"/>
          </a:solidFill>
          <a:ln/>
        </p:spPr>
      </p:sp>
      <p:sp>
        <p:nvSpPr>
          <p:cNvPr id="26" name="Text 24"/>
          <p:cNvSpPr/>
          <p:nvPr/>
        </p:nvSpPr>
        <p:spPr>
          <a:xfrm>
            <a:off x="658368" y="5062728"/>
            <a:ext cx="457200" cy="457200"/>
          </a:xfrm>
          <a:prstGeom prst="rect">
            <a:avLst/>
          </a:prstGeom>
          <a:noFill/>
          <a:ln/>
        </p:spPr>
        <p:txBody>
          <a:bodyPr wrap="square"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E</a:t>
            </a:r>
            <a:endParaRPr lang="en-US" sz="1500" dirty="0"/>
          </a:p>
        </p:txBody>
      </p:sp>
      <p:sp>
        <p:nvSpPr>
          <p:cNvPr id="27" name="Text 25"/>
          <p:cNvSpPr/>
          <p:nvPr/>
        </p:nvSpPr>
        <p:spPr>
          <a:xfrm>
            <a:off x="1234440" y="5044440"/>
            <a:ext cx="4517136" cy="502920"/>
          </a:xfrm>
          <a:prstGeom prst="rect">
            <a:avLst/>
          </a:prstGeom>
          <a:noFill/>
          <a:ln/>
        </p:spPr>
        <p:txBody>
          <a:bodyPr wrap="square" rtlCol="0" anchor="ctr"/>
          <a:lstStyle/>
          <a:p>
            <a:pPr indent="0" marL="0">
              <a:buNone/>
            </a:pPr>
            <a:r>
              <a:rPr lang="en-US" sz="1450" b="1" dirty="0">
                <a:solidFill>
                  <a:srgbClr val="263947"/>
                </a:solidFill>
                <a:latin typeface="Calibri" pitchFamily="34" charset="0"/>
                <a:ea typeface="Calibri" pitchFamily="34" charset="-122"/>
                <a:cs typeface="Calibri" pitchFamily="34" charset="-120"/>
              </a:rPr>
              <a:t>Bounds moved to memory &amp; power</a:t>
            </a:r>
            <a:endParaRPr lang="en-US" sz="1450" dirty="0"/>
          </a:p>
        </p:txBody>
      </p:sp>
      <p:sp>
        <p:nvSpPr>
          <p:cNvPr id="28" name="Text 26"/>
          <p:cNvSpPr/>
          <p:nvPr/>
        </p:nvSpPr>
        <p:spPr>
          <a:xfrm>
            <a:off x="676656" y="5638800"/>
            <a:ext cx="5038344" cy="441960"/>
          </a:xfrm>
          <a:prstGeom prst="rect">
            <a:avLst/>
          </a:prstGeom>
          <a:noFill/>
          <a:ln/>
        </p:spPr>
        <p:txBody>
          <a:bodyPr wrap="square" rtlCol="0" anchor="t"/>
          <a:lstStyle/>
          <a:p>
            <a:pPr indent="0" marL="0">
              <a:buNone/>
            </a:pPr>
            <a:r>
              <a:rPr lang="en-US" sz="1200" dirty="0">
                <a:solidFill>
                  <a:srgbClr val="263947"/>
                </a:solidFill>
                <a:latin typeface="Calibri" pitchFamily="34" charset="0"/>
                <a:ea typeface="Calibri" pitchFamily="34" charset="-122"/>
                <a:cs typeface="Calibri" pitchFamily="34" charset="-120"/>
              </a:rPr>
              <a:t>Capacity, bandwidth, fabric, and facility power separate contenders — not FLOPS.</a:t>
            </a:r>
            <a:endParaRPr lang="en-US" sz="1200" dirty="0"/>
          </a:p>
        </p:txBody>
      </p:sp>
      <p:sp>
        <p:nvSpPr>
          <p:cNvPr id="29" name="Shape 27"/>
          <p:cNvSpPr/>
          <p:nvPr/>
        </p:nvSpPr>
        <p:spPr>
          <a:xfrm>
            <a:off x="6254496" y="4861560"/>
            <a:ext cx="5477256" cy="1356360"/>
          </a:xfrm>
          <a:prstGeom prst="roundRect">
            <a:avLst>
              <a:gd name="adj" fmla="val 4719"/>
            </a:avLst>
          </a:prstGeom>
          <a:solidFill>
            <a:srgbClr val="F4F7F8"/>
          </a:solidFill>
          <a:ln w="12700">
            <a:solidFill>
              <a:srgbClr val="E7ECEF"/>
            </a:solidFill>
            <a:prstDash val="solid"/>
          </a:ln>
        </p:spPr>
      </p:sp>
      <p:sp>
        <p:nvSpPr>
          <p:cNvPr id="30" name="Shape 28"/>
          <p:cNvSpPr/>
          <p:nvPr/>
        </p:nvSpPr>
        <p:spPr>
          <a:xfrm>
            <a:off x="6455664" y="5062728"/>
            <a:ext cx="457200" cy="457200"/>
          </a:xfrm>
          <a:prstGeom prst="roundRect">
            <a:avLst>
              <a:gd name="adj" fmla="val 12000"/>
            </a:avLst>
          </a:prstGeom>
          <a:solidFill>
            <a:srgbClr val="263947"/>
          </a:solidFill>
          <a:ln/>
        </p:spPr>
      </p:sp>
      <p:sp>
        <p:nvSpPr>
          <p:cNvPr id="31" name="Text 29"/>
          <p:cNvSpPr/>
          <p:nvPr/>
        </p:nvSpPr>
        <p:spPr>
          <a:xfrm>
            <a:off x="6455664" y="5062728"/>
            <a:ext cx="457200" cy="457200"/>
          </a:xfrm>
          <a:prstGeom prst="rect">
            <a:avLst/>
          </a:prstGeom>
          <a:noFill/>
          <a:ln/>
        </p:spPr>
        <p:txBody>
          <a:bodyPr wrap="square"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F</a:t>
            </a:r>
            <a:endParaRPr lang="en-US" sz="1500" dirty="0"/>
          </a:p>
        </p:txBody>
      </p:sp>
      <p:sp>
        <p:nvSpPr>
          <p:cNvPr id="32" name="Text 30"/>
          <p:cNvSpPr/>
          <p:nvPr/>
        </p:nvSpPr>
        <p:spPr>
          <a:xfrm>
            <a:off x="7031736" y="5044440"/>
            <a:ext cx="4517136" cy="502920"/>
          </a:xfrm>
          <a:prstGeom prst="rect">
            <a:avLst/>
          </a:prstGeom>
          <a:noFill/>
          <a:ln/>
        </p:spPr>
        <p:txBody>
          <a:bodyPr wrap="square" rtlCol="0" anchor="ctr"/>
          <a:lstStyle/>
          <a:p>
            <a:pPr indent="0" marL="0">
              <a:buNone/>
            </a:pPr>
            <a:r>
              <a:rPr lang="en-US" sz="1450" b="1" dirty="0">
                <a:solidFill>
                  <a:srgbClr val="263947"/>
                </a:solidFill>
                <a:latin typeface="Calibri" pitchFamily="34" charset="0"/>
                <a:ea typeface="Calibri" pitchFamily="34" charset="-122"/>
                <a:cs typeface="Calibri" pitchFamily="34" charset="-120"/>
              </a:rPr>
              <a:t>One continuum</a:t>
            </a:r>
            <a:endParaRPr lang="en-US" sz="1450" dirty="0"/>
          </a:p>
        </p:txBody>
      </p:sp>
      <p:sp>
        <p:nvSpPr>
          <p:cNvPr id="33" name="Text 31"/>
          <p:cNvSpPr/>
          <p:nvPr/>
        </p:nvSpPr>
        <p:spPr>
          <a:xfrm>
            <a:off x="6473952" y="5638800"/>
            <a:ext cx="5038344" cy="441960"/>
          </a:xfrm>
          <a:prstGeom prst="rect">
            <a:avLst/>
          </a:prstGeom>
          <a:noFill/>
          <a:ln/>
        </p:spPr>
        <p:txBody>
          <a:bodyPr wrap="square" rtlCol="0" anchor="t"/>
          <a:lstStyle/>
          <a:p>
            <a:pPr indent="0" marL="0">
              <a:buNone/>
            </a:pPr>
            <a:r>
              <a:rPr lang="en-US" sz="1200" dirty="0">
                <a:solidFill>
                  <a:srgbClr val="263947"/>
                </a:solidFill>
                <a:latin typeface="Calibri" pitchFamily="34" charset="0"/>
                <a:ea typeface="Calibri" pitchFamily="34" charset="-122"/>
                <a:cs typeface="Calibri" pitchFamily="34" charset="-120"/>
              </a:rPr>
              <a:t>The same taxonomy reads microwatt silicon and megawatt pods.</a:t>
            </a:r>
            <a:endParaRPr lang="en-US" sz="1200" dirty="0"/>
          </a:p>
        </p:txBody>
      </p:sp>
      <p:sp>
        <p:nvSpPr>
          <p:cNvPr id="34" name="Text 32"/>
          <p:cNvSpPr/>
          <p:nvPr/>
        </p:nvSpPr>
        <p:spPr>
          <a:xfrm>
            <a:off x="457200" y="6473952"/>
            <a:ext cx="7315200" cy="274320"/>
          </a:xfrm>
          <a:prstGeom prst="rect">
            <a:avLst/>
          </a:prstGeom>
          <a:noFill/>
          <a:ln/>
        </p:spPr>
        <p:txBody>
          <a:bodyPr wrap="square" rtlCol="0" anchor="ctr"/>
          <a:lstStyle/>
          <a:p>
            <a:pPr indent="0" marL="0">
              <a:buNone/>
            </a:pPr>
            <a:r>
              <a:rPr lang="en-US" sz="900" dirty="0">
                <a:solidFill>
                  <a:srgbClr val="7C8B96"/>
                </a:solidFill>
                <a:latin typeface="Calibri" pitchFamily="34" charset="0"/>
                <a:ea typeface="Calibri" pitchFamily="34" charset="-122"/>
                <a:cs typeface="Calibri" pitchFamily="34" charset="-120"/>
              </a:rPr>
              <a:t>Beyond the GPU — 2-hour lecture</a:t>
            </a:r>
            <a:endParaRPr lang="en-US" sz="900" dirty="0"/>
          </a:p>
        </p:txBody>
      </p:sp>
      <p:sp>
        <p:nvSpPr>
          <p:cNvPr id="35" name="Text 33"/>
          <p:cNvSpPr/>
          <p:nvPr/>
        </p:nvSpPr>
        <p:spPr>
          <a:xfrm>
            <a:off x="11277295" y="6473952"/>
            <a:ext cx="457200" cy="274320"/>
          </a:xfrm>
          <a:prstGeom prst="rect">
            <a:avLst/>
          </a:prstGeom>
          <a:noFill/>
          <a:ln/>
        </p:spPr>
        <p:txBody>
          <a:bodyPr wrap="square" rtlCol="0" anchor="ctr"/>
          <a:lstStyle/>
          <a:p>
            <a:pPr algn="r" indent="0" marL="0">
              <a:buNone/>
            </a:pPr>
            <a:r>
              <a:rPr lang="en-US" sz="900" dirty="0">
                <a:solidFill>
                  <a:srgbClr val="7C8B96"/>
                </a:solidFill>
                <a:latin typeface="Calibri" pitchFamily="34" charset="0"/>
                <a:ea typeface="Calibri" pitchFamily="34" charset="-122"/>
                <a:cs typeface="Calibri" pitchFamily="34" charset="-120"/>
              </a:rPr>
              <a:t>49</a:t>
            </a:r>
            <a:endParaRPr lang="en-US" sz="9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10896"/>
            <a:ext cx="10058400" cy="274320"/>
          </a:xfrm>
          <a:prstGeom prst="rect">
            <a:avLst/>
          </a:prstGeom>
          <a:noFill/>
          <a:ln/>
        </p:spPr>
        <p:txBody>
          <a:bodyPr wrap="square" rtlCol="0" anchor="ctr"/>
          <a:lstStyle/>
          <a:p>
            <a:pPr indent="0" marL="0">
              <a:buNone/>
            </a:pPr>
            <a:r>
              <a:rPr lang="en-US" sz="1200" b="1" spc="200" kern="0" dirty="0">
                <a:solidFill>
                  <a:srgbClr val="0E8C9B"/>
                </a:solidFill>
                <a:latin typeface="Calibri" pitchFamily="34" charset="0"/>
                <a:ea typeface="Calibri" pitchFamily="34" charset="-122"/>
                <a:cs typeface="Calibri" pitchFamily="34" charset="-120"/>
              </a:rPr>
              <a:t>GUIDANCE</a:t>
            </a:r>
            <a:endParaRPr lang="en-US" sz="1200" dirty="0"/>
          </a:p>
        </p:txBody>
      </p:sp>
      <p:sp>
        <p:nvSpPr>
          <p:cNvPr id="3" name="Text 1"/>
          <p:cNvSpPr/>
          <p:nvPr/>
        </p:nvSpPr>
        <p:spPr>
          <a:xfrm>
            <a:off x="457200" y="548640"/>
            <a:ext cx="11247120" cy="822960"/>
          </a:xfrm>
          <a:prstGeom prst="rect">
            <a:avLst/>
          </a:prstGeom>
          <a:noFill/>
          <a:ln/>
        </p:spPr>
        <p:txBody>
          <a:bodyPr wrap="square" rtlCol="0" anchor="ctr"/>
          <a:lstStyle/>
          <a:p>
            <a:pPr indent="0" marL="0">
              <a:buNone/>
            </a:pPr>
            <a:r>
              <a:rPr lang="en-US" sz="3000" b="1" dirty="0">
                <a:solidFill>
                  <a:srgbClr val="263947"/>
                </a:solidFill>
                <a:latin typeface="Cambria" pitchFamily="34" charset="0"/>
                <a:ea typeface="Cambria" pitchFamily="34" charset="-122"/>
                <a:cs typeface="Cambria" pitchFamily="34" charset="-120"/>
              </a:rPr>
              <a:t>How to use the framework</a:t>
            </a:r>
            <a:endParaRPr lang="en-US" sz="3000" dirty="0"/>
          </a:p>
        </p:txBody>
      </p:sp>
      <p:sp>
        <p:nvSpPr>
          <p:cNvPr id="4" name="Shape 2"/>
          <p:cNvSpPr/>
          <p:nvPr/>
        </p:nvSpPr>
        <p:spPr>
          <a:xfrm>
            <a:off x="457200" y="1600200"/>
            <a:ext cx="3544824" cy="4617720"/>
          </a:xfrm>
          <a:prstGeom prst="roundRect">
            <a:avLst>
              <a:gd name="adj" fmla="val 1806"/>
            </a:avLst>
          </a:prstGeom>
          <a:solidFill>
            <a:srgbClr val="F4F7F8"/>
          </a:solidFill>
          <a:ln w="12700">
            <a:solidFill>
              <a:srgbClr val="E7ECEF"/>
            </a:solidFill>
            <a:prstDash val="solid"/>
          </a:ln>
        </p:spPr>
      </p:sp>
      <p:sp>
        <p:nvSpPr>
          <p:cNvPr id="5" name="Shape 3"/>
          <p:cNvSpPr/>
          <p:nvPr/>
        </p:nvSpPr>
        <p:spPr>
          <a:xfrm>
            <a:off x="658368" y="1801368"/>
            <a:ext cx="457200" cy="457200"/>
          </a:xfrm>
          <a:prstGeom prst="roundRect">
            <a:avLst>
              <a:gd name="adj" fmla="val 12000"/>
            </a:avLst>
          </a:prstGeom>
          <a:solidFill>
            <a:srgbClr val="0E8C9B"/>
          </a:solidFill>
          <a:ln/>
        </p:spPr>
      </p:sp>
      <p:sp>
        <p:nvSpPr>
          <p:cNvPr id="6" name="Text 4"/>
          <p:cNvSpPr/>
          <p:nvPr/>
        </p:nvSpPr>
        <p:spPr>
          <a:xfrm>
            <a:off x="1234440" y="1783080"/>
            <a:ext cx="2584704" cy="502920"/>
          </a:xfrm>
          <a:prstGeom prst="rect">
            <a:avLst/>
          </a:prstGeom>
          <a:noFill/>
          <a:ln/>
        </p:spPr>
        <p:txBody>
          <a:bodyPr wrap="square" rtlCol="0" anchor="ctr"/>
          <a:lstStyle/>
          <a:p>
            <a:pPr indent="0" marL="0">
              <a:buNone/>
            </a:pPr>
            <a:r>
              <a:rPr lang="en-US" sz="1450" b="1" dirty="0">
                <a:solidFill>
                  <a:srgbClr val="263947"/>
                </a:solidFill>
                <a:latin typeface="Calibri" pitchFamily="34" charset="0"/>
                <a:ea typeface="Calibri" pitchFamily="34" charset="-122"/>
                <a:cs typeface="Calibri" pitchFamily="34" charset="-120"/>
              </a:rPr>
              <a:t>Software architects</a:t>
            </a:r>
            <a:endParaRPr lang="en-US" sz="1450" dirty="0"/>
          </a:p>
        </p:txBody>
      </p:sp>
      <p:sp>
        <p:nvSpPr>
          <p:cNvPr id="7" name="Text 5"/>
          <p:cNvSpPr/>
          <p:nvPr/>
        </p:nvSpPr>
        <p:spPr>
          <a:xfrm>
            <a:off x="676656" y="2377440"/>
            <a:ext cx="3105912" cy="3703320"/>
          </a:xfrm>
          <a:prstGeom prst="rect">
            <a:avLst/>
          </a:prstGeom>
          <a:noFill/>
          <a:ln/>
        </p:spPr>
        <p:txBody>
          <a:bodyPr wrap="square" rtlCol="0" anchor="t"/>
          <a:lstStyle/>
          <a:p>
            <a:pPr indent="0" marL="0">
              <a:buNone/>
            </a:pPr>
            <a:r>
              <a:rPr lang="en-US" sz="1200" dirty="0">
                <a:solidFill>
                  <a:srgbClr val="263947"/>
                </a:solidFill>
                <a:latin typeface="Calibri" pitchFamily="34" charset="0"/>
                <a:ea typeface="Calibri" pitchFamily="34" charset="-122"/>
                <a:cs typeface="Calibri" pitchFamily="34" charset="-120"/>
              </a:rPr>
              <a:t>Design against signatures; respect batch-one; measure at the useful-result boundary; the test, not the catalog.</a:t>
            </a:r>
            <a:endParaRPr lang="en-US" sz="1200" dirty="0"/>
          </a:p>
        </p:txBody>
      </p:sp>
      <p:sp>
        <p:nvSpPr>
          <p:cNvPr id="8" name="Shape 6"/>
          <p:cNvSpPr/>
          <p:nvPr/>
        </p:nvSpPr>
        <p:spPr>
          <a:xfrm>
            <a:off x="4322064" y="1600200"/>
            <a:ext cx="3544824" cy="4617720"/>
          </a:xfrm>
          <a:prstGeom prst="roundRect">
            <a:avLst>
              <a:gd name="adj" fmla="val 1806"/>
            </a:avLst>
          </a:prstGeom>
          <a:solidFill>
            <a:srgbClr val="F4F7F8"/>
          </a:solidFill>
          <a:ln w="12700">
            <a:solidFill>
              <a:srgbClr val="E7ECEF"/>
            </a:solidFill>
            <a:prstDash val="solid"/>
          </a:ln>
        </p:spPr>
      </p:sp>
      <p:sp>
        <p:nvSpPr>
          <p:cNvPr id="9" name="Shape 7"/>
          <p:cNvSpPr/>
          <p:nvPr/>
        </p:nvSpPr>
        <p:spPr>
          <a:xfrm>
            <a:off x="4523232" y="1801368"/>
            <a:ext cx="457200" cy="457200"/>
          </a:xfrm>
          <a:prstGeom prst="roundRect">
            <a:avLst>
              <a:gd name="adj" fmla="val 12000"/>
            </a:avLst>
          </a:prstGeom>
          <a:solidFill>
            <a:srgbClr val="2E6E9E"/>
          </a:solidFill>
          <a:ln/>
        </p:spPr>
      </p:sp>
      <p:sp>
        <p:nvSpPr>
          <p:cNvPr id="10" name="Text 8"/>
          <p:cNvSpPr/>
          <p:nvPr/>
        </p:nvSpPr>
        <p:spPr>
          <a:xfrm>
            <a:off x="5099304" y="1783080"/>
            <a:ext cx="2584704" cy="502920"/>
          </a:xfrm>
          <a:prstGeom prst="rect">
            <a:avLst/>
          </a:prstGeom>
          <a:noFill/>
          <a:ln/>
        </p:spPr>
        <p:txBody>
          <a:bodyPr wrap="square" rtlCol="0" anchor="ctr"/>
          <a:lstStyle/>
          <a:p>
            <a:pPr indent="0" marL="0">
              <a:buNone/>
            </a:pPr>
            <a:r>
              <a:rPr lang="en-US" sz="1450" b="1" dirty="0">
                <a:solidFill>
                  <a:srgbClr val="263947"/>
                </a:solidFill>
                <a:latin typeface="Calibri" pitchFamily="34" charset="0"/>
                <a:ea typeface="Calibri" pitchFamily="34" charset="-122"/>
                <a:cs typeface="Calibri" pitchFamily="34" charset="-120"/>
              </a:rPr>
              <a:t>Platform architects</a:t>
            </a:r>
            <a:endParaRPr lang="en-US" sz="1450" dirty="0"/>
          </a:p>
        </p:txBody>
      </p:sp>
      <p:sp>
        <p:nvSpPr>
          <p:cNvPr id="11" name="Text 9"/>
          <p:cNvSpPr/>
          <p:nvPr/>
        </p:nvSpPr>
        <p:spPr>
          <a:xfrm>
            <a:off x="4541520" y="2377440"/>
            <a:ext cx="3105912" cy="3703320"/>
          </a:xfrm>
          <a:prstGeom prst="rect">
            <a:avLst/>
          </a:prstGeom>
          <a:noFill/>
          <a:ln/>
        </p:spPr>
        <p:txBody>
          <a:bodyPr wrap="square" rtlCol="0" anchor="t"/>
          <a:lstStyle/>
          <a:p>
            <a:pPr indent="0" marL="0">
              <a:buNone/>
            </a:pPr>
            <a:r>
              <a:rPr lang="en-US" sz="1200" dirty="0">
                <a:solidFill>
                  <a:srgbClr val="263947"/>
                </a:solidFill>
                <a:latin typeface="Calibri" pitchFamily="34" charset="0"/>
                <a:ea typeface="Calibri" pitchFamily="34" charset="-122"/>
                <a:cs typeface="Calibri" pitchFamily="34" charset="-120"/>
              </a:rPr>
              <a:t>Evaluate at pod and facility; prefer consumption to ownership until volume proves otherwise; protect software seams.</a:t>
            </a:r>
            <a:endParaRPr lang="en-US" sz="1200" dirty="0"/>
          </a:p>
        </p:txBody>
      </p:sp>
      <p:sp>
        <p:nvSpPr>
          <p:cNvPr id="12" name="Shape 10"/>
          <p:cNvSpPr/>
          <p:nvPr/>
        </p:nvSpPr>
        <p:spPr>
          <a:xfrm>
            <a:off x="8186928" y="1600200"/>
            <a:ext cx="3544824" cy="4617720"/>
          </a:xfrm>
          <a:prstGeom prst="roundRect">
            <a:avLst>
              <a:gd name="adj" fmla="val 1806"/>
            </a:avLst>
          </a:prstGeom>
          <a:solidFill>
            <a:srgbClr val="F4F7F8"/>
          </a:solidFill>
          <a:ln w="12700">
            <a:solidFill>
              <a:srgbClr val="E7ECEF"/>
            </a:solidFill>
            <a:prstDash val="solid"/>
          </a:ln>
        </p:spPr>
      </p:sp>
      <p:sp>
        <p:nvSpPr>
          <p:cNvPr id="13" name="Shape 11"/>
          <p:cNvSpPr/>
          <p:nvPr/>
        </p:nvSpPr>
        <p:spPr>
          <a:xfrm>
            <a:off x="8388096" y="1801368"/>
            <a:ext cx="457200" cy="457200"/>
          </a:xfrm>
          <a:prstGeom prst="roundRect">
            <a:avLst>
              <a:gd name="adj" fmla="val 12000"/>
            </a:avLst>
          </a:prstGeom>
          <a:solidFill>
            <a:srgbClr val="E08A2B"/>
          </a:solidFill>
          <a:ln/>
        </p:spPr>
      </p:sp>
      <p:sp>
        <p:nvSpPr>
          <p:cNvPr id="14" name="Text 12"/>
          <p:cNvSpPr/>
          <p:nvPr/>
        </p:nvSpPr>
        <p:spPr>
          <a:xfrm>
            <a:off x="8964168" y="1783080"/>
            <a:ext cx="2584704" cy="502920"/>
          </a:xfrm>
          <a:prstGeom prst="rect">
            <a:avLst/>
          </a:prstGeom>
          <a:noFill/>
          <a:ln/>
        </p:spPr>
        <p:txBody>
          <a:bodyPr wrap="square" rtlCol="0" anchor="ctr"/>
          <a:lstStyle/>
          <a:p>
            <a:pPr indent="0" marL="0">
              <a:buNone/>
            </a:pPr>
            <a:r>
              <a:rPr lang="en-US" sz="1450" b="1" dirty="0">
                <a:solidFill>
                  <a:srgbClr val="263947"/>
                </a:solidFill>
                <a:latin typeface="Calibri" pitchFamily="34" charset="0"/>
                <a:ea typeface="Calibri" pitchFamily="34" charset="-122"/>
                <a:cs typeface="Calibri" pitchFamily="34" charset="-120"/>
              </a:rPr>
              <a:t>Hardware selection</a:t>
            </a:r>
            <a:endParaRPr lang="en-US" sz="1450" dirty="0"/>
          </a:p>
        </p:txBody>
      </p:sp>
      <p:sp>
        <p:nvSpPr>
          <p:cNvPr id="15" name="Text 13"/>
          <p:cNvSpPr/>
          <p:nvPr/>
        </p:nvSpPr>
        <p:spPr>
          <a:xfrm>
            <a:off x="8406384" y="2377440"/>
            <a:ext cx="3105912" cy="3703320"/>
          </a:xfrm>
          <a:prstGeom prst="rect">
            <a:avLst/>
          </a:prstGeom>
          <a:noFill/>
          <a:ln/>
        </p:spPr>
        <p:txBody>
          <a:bodyPr wrap="square" rtlCol="0" anchor="t"/>
          <a:lstStyle/>
          <a:p>
            <a:pPr indent="0" marL="0">
              <a:buNone/>
            </a:pPr>
            <a:r>
              <a:rPr lang="en-US" sz="1200" dirty="0">
                <a:solidFill>
                  <a:srgbClr val="263947"/>
                </a:solidFill>
                <a:latin typeface="Calibri" pitchFamily="34" charset="0"/>
                <a:ea typeface="Calibri" pitchFamily="34" charset="-122"/>
                <a:cs typeface="Calibri" pitchFamily="34" charset="-120"/>
              </a:rPr>
              <a:t>Signatures → software ceiling → locate the bound in the partition → weight the stack → run the test.</a:t>
            </a:r>
            <a:endParaRPr lang="en-US" sz="1200" dirty="0"/>
          </a:p>
        </p:txBody>
      </p:sp>
      <p:sp>
        <p:nvSpPr>
          <p:cNvPr id="16" name="Text 14"/>
          <p:cNvSpPr/>
          <p:nvPr/>
        </p:nvSpPr>
        <p:spPr>
          <a:xfrm>
            <a:off x="457200" y="6473952"/>
            <a:ext cx="7315200" cy="274320"/>
          </a:xfrm>
          <a:prstGeom prst="rect">
            <a:avLst/>
          </a:prstGeom>
          <a:noFill/>
          <a:ln/>
        </p:spPr>
        <p:txBody>
          <a:bodyPr wrap="square" rtlCol="0" anchor="ctr"/>
          <a:lstStyle/>
          <a:p>
            <a:pPr indent="0" marL="0">
              <a:buNone/>
            </a:pPr>
            <a:r>
              <a:rPr lang="en-US" sz="900" dirty="0">
                <a:solidFill>
                  <a:srgbClr val="7C8B96"/>
                </a:solidFill>
                <a:latin typeface="Calibri" pitchFamily="34" charset="0"/>
                <a:ea typeface="Calibri" pitchFamily="34" charset="-122"/>
                <a:cs typeface="Calibri" pitchFamily="34" charset="-120"/>
              </a:rPr>
              <a:t>Beyond the GPU — 2-hour lecture</a:t>
            </a:r>
            <a:endParaRPr lang="en-US" sz="900" dirty="0"/>
          </a:p>
        </p:txBody>
      </p:sp>
      <p:sp>
        <p:nvSpPr>
          <p:cNvPr id="17" name="Text 15"/>
          <p:cNvSpPr/>
          <p:nvPr/>
        </p:nvSpPr>
        <p:spPr>
          <a:xfrm>
            <a:off x="11277295" y="6473952"/>
            <a:ext cx="457200" cy="274320"/>
          </a:xfrm>
          <a:prstGeom prst="rect">
            <a:avLst/>
          </a:prstGeom>
          <a:noFill/>
          <a:ln/>
        </p:spPr>
        <p:txBody>
          <a:bodyPr wrap="square" rtlCol="0" anchor="ctr"/>
          <a:lstStyle/>
          <a:p>
            <a:pPr algn="r" indent="0" marL="0">
              <a:buNone/>
            </a:pPr>
            <a:r>
              <a:rPr lang="en-US" sz="900" dirty="0">
                <a:solidFill>
                  <a:srgbClr val="7C8B96"/>
                </a:solidFill>
                <a:latin typeface="Calibri" pitchFamily="34" charset="0"/>
                <a:ea typeface="Calibri" pitchFamily="34" charset="-122"/>
                <a:cs typeface="Calibri" pitchFamily="34" charset="-120"/>
              </a:rPr>
              <a:t>50</a:t>
            </a:r>
            <a:endParaRPr lang="en-US" sz="9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16232E"/>
        </a:solidFill>
      </p:bgPr>
    </p:bg>
    <p:spTree>
      <p:nvGrpSpPr>
        <p:cNvPr id="1" name=""/>
        <p:cNvGrpSpPr/>
        <p:nvPr/>
      </p:nvGrpSpPr>
      <p:grpSpPr>
        <a:xfrm>
          <a:off x="0" y="0"/>
          <a:ext cx="0" cy="0"/>
          <a:chOff x="0" y="0"/>
          <a:chExt cx="0" cy="0"/>
        </a:xfrm>
      </p:grpSpPr>
      <p:sp>
        <p:nvSpPr>
          <p:cNvPr id="2" name="Text 0"/>
          <p:cNvSpPr/>
          <p:nvPr/>
        </p:nvSpPr>
        <p:spPr>
          <a:xfrm>
            <a:off x="731520" y="1554480"/>
            <a:ext cx="10058400" cy="365760"/>
          </a:xfrm>
          <a:prstGeom prst="rect">
            <a:avLst/>
          </a:prstGeom>
          <a:noFill/>
          <a:ln/>
        </p:spPr>
        <p:txBody>
          <a:bodyPr wrap="square" rtlCol="0" anchor="ctr"/>
          <a:lstStyle/>
          <a:p>
            <a:pPr indent="0" marL="0">
              <a:buNone/>
            </a:pPr>
            <a:r>
              <a:rPr lang="en-US" sz="1300" b="1" spc="200" kern="0" dirty="0">
                <a:solidFill>
                  <a:srgbClr val="E08A2B"/>
                </a:solidFill>
                <a:latin typeface="Calibri" pitchFamily="34" charset="0"/>
                <a:ea typeface="Calibri" pitchFamily="34" charset="-122"/>
                <a:cs typeface="Calibri" pitchFamily="34" charset="-120"/>
              </a:rPr>
              <a:t>THE ARGUMENT IN ONE SENTENCE</a:t>
            </a:r>
            <a:endParaRPr lang="en-US" sz="1300" dirty="0"/>
          </a:p>
        </p:txBody>
      </p:sp>
      <p:sp>
        <p:nvSpPr>
          <p:cNvPr id="3" name="Text 1"/>
          <p:cNvSpPr/>
          <p:nvPr/>
        </p:nvSpPr>
        <p:spPr>
          <a:xfrm>
            <a:off x="731520" y="2103120"/>
            <a:ext cx="10698480" cy="2743200"/>
          </a:xfrm>
          <a:prstGeom prst="rect">
            <a:avLst/>
          </a:prstGeom>
          <a:noFill/>
          <a:ln/>
        </p:spPr>
        <p:txBody>
          <a:bodyPr wrap="square" rtlCol="0" anchor="ctr"/>
          <a:lstStyle/>
          <a:p>
            <a:pPr indent="0" marL="0">
              <a:lnSpc>
                <a:spcPct val="112000"/>
              </a:lnSpc>
              <a:buNone/>
            </a:pPr>
            <a:r>
              <a:rPr lang="en-US" sz="2600" b="1" dirty="0">
                <a:solidFill>
                  <a:srgbClr val="FFFFFF"/>
                </a:solidFill>
                <a:latin typeface="Cambria" pitchFamily="34" charset="0"/>
                <a:ea typeface="Cambria" pitchFamily="34" charset="-122"/>
                <a:cs typeface="Cambria" pitchFamily="34" charset="-120"/>
              </a:rPr>
              <a:t>Software optimization succeeds until it exposes a bound; the bound is absorbed by the GPU platform, escaped by changing a contract, or lived with — and the deployment class decides which.</a:t>
            </a:r>
            <a:endParaRPr lang="en-US" sz="2600" dirty="0"/>
          </a:p>
        </p:txBody>
      </p:sp>
      <p:sp>
        <p:nvSpPr>
          <p:cNvPr id="4" name="Text 2"/>
          <p:cNvSpPr/>
          <p:nvPr/>
        </p:nvSpPr>
        <p:spPr>
          <a:xfrm>
            <a:off x="777240" y="5852160"/>
            <a:ext cx="10515600" cy="548640"/>
          </a:xfrm>
          <a:prstGeom prst="rect">
            <a:avLst/>
          </a:prstGeom>
          <a:noFill/>
          <a:ln/>
        </p:spPr>
        <p:txBody>
          <a:bodyPr wrap="square" rtlCol="0" anchor="ctr"/>
          <a:lstStyle/>
          <a:p>
            <a:pPr indent="0" marL="0">
              <a:buNone/>
            </a:pPr>
            <a:r>
              <a:rPr lang="en-US" sz="1400" i="1" dirty="0">
                <a:solidFill>
                  <a:srgbClr val="E7ECEF"/>
                </a:solidFill>
                <a:latin typeface="Calibri" pitchFamily="34" charset="0"/>
                <a:ea typeface="Calibri" pitchFamily="34" charset="-122"/>
                <a:cs typeface="Calibri" pitchFamily="34" charset="-120"/>
              </a:rPr>
              <a:t>Everything else — signatures, contracts, families, economics — is the machinery that makes that choice decidable.</a:t>
            </a:r>
            <a:endParaRPr lang="en-US" sz="1400" dirty="0"/>
          </a:p>
        </p:txBody>
      </p:sp>
      <p:sp>
        <p:nvSpPr>
          <p:cNvPr id="5" name="Text 3"/>
          <p:cNvSpPr/>
          <p:nvPr/>
        </p:nvSpPr>
        <p:spPr>
          <a:xfrm>
            <a:off x="457200" y="6473952"/>
            <a:ext cx="7315200" cy="274320"/>
          </a:xfrm>
          <a:prstGeom prst="rect">
            <a:avLst/>
          </a:prstGeom>
          <a:noFill/>
          <a:ln/>
        </p:spPr>
        <p:txBody>
          <a:bodyPr wrap="square" rtlCol="0" anchor="ctr"/>
          <a:lstStyle/>
          <a:p>
            <a:pPr indent="0" marL="0">
              <a:buNone/>
            </a:pPr>
            <a:r>
              <a:rPr lang="en-US" sz="900" dirty="0">
                <a:solidFill>
                  <a:srgbClr val="7C8B96"/>
                </a:solidFill>
                <a:latin typeface="Calibri" pitchFamily="34" charset="0"/>
                <a:ea typeface="Calibri" pitchFamily="34" charset="-122"/>
                <a:cs typeface="Calibri" pitchFamily="34" charset="-120"/>
              </a:rPr>
              <a:t>Beyond the GPU — 2-hour lecture</a:t>
            </a:r>
            <a:endParaRPr lang="en-US" sz="900" dirty="0"/>
          </a:p>
        </p:txBody>
      </p:sp>
      <p:sp>
        <p:nvSpPr>
          <p:cNvPr id="6" name="Text 4"/>
          <p:cNvSpPr/>
          <p:nvPr/>
        </p:nvSpPr>
        <p:spPr>
          <a:xfrm>
            <a:off x="11277295" y="6473952"/>
            <a:ext cx="457200" cy="274320"/>
          </a:xfrm>
          <a:prstGeom prst="rect">
            <a:avLst/>
          </a:prstGeom>
          <a:noFill/>
          <a:ln/>
        </p:spPr>
        <p:txBody>
          <a:bodyPr wrap="square" rtlCol="0" anchor="ctr"/>
          <a:lstStyle/>
          <a:p>
            <a:pPr algn="r" indent="0" marL="0">
              <a:buNone/>
            </a:pPr>
            <a:r>
              <a:rPr lang="en-US" sz="900" dirty="0">
                <a:solidFill>
                  <a:srgbClr val="7C8B96"/>
                </a:solidFill>
                <a:latin typeface="Calibri" pitchFamily="34" charset="0"/>
                <a:ea typeface="Calibri" pitchFamily="34" charset="-122"/>
                <a:cs typeface="Calibri" pitchFamily="34" charset="-120"/>
              </a:rPr>
              <a:t>51</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2026-07-19T18:03:09Z</dcterms:created>
  <dcterms:modified xsi:type="dcterms:W3CDTF">2026-07-19T18:03:09Z</dcterms:modified>
</cp:coreProperties>
</file>