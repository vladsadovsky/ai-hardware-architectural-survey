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E8C9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GPU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34747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factors, architectures, and economics of AI hardware acceleration — a systems lecture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61996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lecture  ·  ~2 hours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578608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8C9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offload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377440"/>
            <a:ext cx="2139696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driving factors.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1600200"/>
            <a:ext cx="2578608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7016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E9E"/>
          </a:solidFill>
          <a:ln/>
        </p:spPr>
      </p:sp>
      <p:sp>
        <p:nvSpPr>
          <p:cNvPr id="11" name="Text 9"/>
          <p:cNvSpPr/>
          <p:nvPr/>
        </p:nvSpPr>
        <p:spPr>
          <a:xfrm>
            <a:off x="3557016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33088" y="178308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pressures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75304" y="2377440"/>
            <a:ext cx="2139696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measured bounds.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578608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8A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31736" y="178308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73952" y="2377440"/>
            <a:ext cx="2139696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+ necessity test.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53144" y="1600200"/>
            <a:ext cx="2578608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54312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F9E6A"/>
          </a:solidFill>
          <a:ln/>
        </p:spPr>
      </p:sp>
      <p:sp>
        <p:nvSpPr>
          <p:cNvPr id="21" name="Text 19"/>
          <p:cNvSpPr/>
          <p:nvPr/>
        </p:nvSpPr>
        <p:spPr>
          <a:xfrm>
            <a:off x="935431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30384" y="178308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families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72600" y="2377440"/>
            <a:ext cx="2139696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contract changes.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46220"/>
            <a:ext cx="2578608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2473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6232E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2473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422910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76656" y="4823460"/>
            <a:ext cx="2139696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Grouped, not cataloged.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55848" y="4046220"/>
            <a:ext cx="2578608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57016" y="42473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63947"/>
          </a:solidFill>
          <a:ln/>
        </p:spPr>
      </p:sp>
      <p:sp>
        <p:nvSpPr>
          <p:cNvPr id="31" name="Text 29"/>
          <p:cNvSpPr/>
          <p:nvPr/>
        </p:nvSpPr>
        <p:spPr>
          <a:xfrm>
            <a:off x="3557016" y="42473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133088" y="422910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575304" y="4823460"/>
            <a:ext cx="2139696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packaging, cost.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54496" y="4046220"/>
            <a:ext cx="2578608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55664" y="42473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0503C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42473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31736" y="422910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473952" y="4823460"/>
            <a:ext cx="2139696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by evidence.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53144" y="4046220"/>
            <a:ext cx="2578608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54312" y="42473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8C9B"/>
          </a:solidFill>
          <a:ln/>
        </p:spPr>
      </p:sp>
      <p:sp>
        <p:nvSpPr>
          <p:cNvPr id="41" name="Text 39"/>
          <p:cNvSpPr/>
          <p:nvPr/>
        </p:nvSpPr>
        <p:spPr>
          <a:xfrm>
            <a:off x="9354312" y="42473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930384" y="422910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372600" y="4823460"/>
            <a:ext cx="2139696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holds everywhere.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PRIMER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hardware vocabulary, in software terms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44824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8C9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76656" y="2377440"/>
            <a:ext cx="3105912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parallel lanes; fast on regular, batched, streamed work.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2064" y="1600200"/>
            <a:ext cx="3544824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3232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8C9B"/>
          </a:solidFill>
          <a:ln/>
        </p:spPr>
      </p:sp>
      <p:sp>
        <p:nvSpPr>
          <p:cNvPr id="10" name="Text 8"/>
          <p:cNvSpPr/>
          <p:nvPr/>
        </p:nvSpPr>
        <p:spPr>
          <a:xfrm>
            <a:off x="5099304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/ tensor engine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1520" y="2377440"/>
            <a:ext cx="3105912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matrix tile per instruction; control cost amortized over many multiply-adds.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6928" y="1600200"/>
            <a:ext cx="3544824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8096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E9E"/>
          </a:solidFill>
          <a:ln/>
        </p:spPr>
      </p:sp>
      <p:sp>
        <p:nvSpPr>
          <p:cNvPr id="14" name="Text 12"/>
          <p:cNvSpPr/>
          <p:nvPr/>
        </p:nvSpPr>
        <p:spPr>
          <a:xfrm>
            <a:off x="8964168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array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06384" y="2377440"/>
            <a:ext cx="3105912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where operands flow to neighbors — a value fetched once is reused many times.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46220"/>
            <a:ext cx="3544824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42473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E9E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22910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&amp; scratchpad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6656" y="4823460"/>
            <a:ext cx="3105912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DRAM for bandwidth; software-managed SRAM for reuse under compiler control.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22064" y="4046220"/>
            <a:ext cx="3544824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3232" y="42473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8A2B"/>
          </a:solidFill>
          <a:ln/>
        </p:spPr>
      </p:sp>
      <p:sp>
        <p:nvSpPr>
          <p:cNvPr id="22" name="Text 20"/>
          <p:cNvSpPr/>
          <p:nvPr/>
        </p:nvSpPr>
        <p:spPr>
          <a:xfrm>
            <a:off x="5099304" y="422910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/ dataflow / PIM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1520" y="4823460"/>
            <a:ext cx="3105912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that change a contract: wake-scope energy, static schedule, or compute in memory.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86928" y="4046220"/>
            <a:ext cx="3544824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88096" y="42473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8A2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4168" y="422910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 vs contract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06384" y="4823460"/>
            <a:ext cx="3105912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 is a peak rating (marketing). A contract is what hardware promises software.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834640" y="25146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work leaves the GPU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880360" y="37033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pressures behind offload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transitions, across the whole continuum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two_transitions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succeeds until it hits a limit; each transition adds specialization rather than replacing what came before.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AS CONSTRAINTS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general-purpose scaling stalled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77256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8C9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83080"/>
            <a:ext cx="4517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wall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76656" y="2377440"/>
            <a:ext cx="5038344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outran memory; the question became which data is resident and reused, not raw latency.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54496" y="1600200"/>
            <a:ext cx="5477256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55664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7031736" y="1783080"/>
            <a:ext cx="4517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wall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73952" y="2377440"/>
            <a:ext cx="5038344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scaling ended; more transistors help only when software exposes parallelism.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046220"/>
            <a:ext cx="5477256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42473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8A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229100"/>
            <a:ext cx="4517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silicon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6656" y="4823460"/>
            <a:ext cx="5038344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transistors can switch at once in a fixed power budget — specialization does more per joule.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4496" y="4046220"/>
            <a:ext cx="5477256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5664" y="42473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F9E6A"/>
          </a:solidFill>
          <a:ln/>
        </p:spPr>
      </p:sp>
      <p:sp>
        <p:nvSpPr>
          <p:cNvPr id="18" name="Text 16"/>
          <p:cNvSpPr/>
          <p:nvPr/>
        </p:nvSpPr>
        <p:spPr>
          <a:xfrm>
            <a:off x="7031736" y="4229100"/>
            <a:ext cx="4517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movement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73952" y="4823460"/>
            <a:ext cx="5038344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is dominated by moving operands, not computing on them — the recurring lever.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FACTOR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movement dominates energy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data_energy.png">    </p:cNvPr>
          <p:cNvPicPr>
            <a:picLocks noChangeAspect="1"/>
          </p:cNvPicPr>
          <p:nvPr/>
        </p:nvPicPr>
        <p:blipFill>
          <a:blip r:embed="rId1"/>
          <a:srcRect l="-45238" r="-45238" t="0" b="0"/>
          <a:stretch/>
        </p:blipFill>
        <p:spPr>
          <a:xfrm>
            <a:off x="457200" y="1554480"/>
            <a:ext cx="73152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847088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67335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is nearly free.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138160" y="2633472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2459736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operands is not.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138160" y="3419856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3246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sets efficiency, not FLOPS.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family that follows is a different way to move less data, or move it a shorter distance.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FACTOR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is a distance hierarchy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mem_hierarchy.png">    </p:cNvPr>
          <p:cNvPicPr>
            <a:picLocks noChangeAspect="1"/>
          </p:cNvPicPr>
          <p:nvPr/>
        </p:nvPicPr>
        <p:blipFill>
          <a:blip r:embed="rId1"/>
          <a:srcRect l="-45238" r="-45238" t="0" b="0"/>
          <a:stretch/>
        </p:blipFill>
        <p:spPr>
          <a:xfrm>
            <a:off x="457200" y="1554480"/>
            <a:ext cx="73152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847088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67335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Farther = more capacity.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138160" y="2633472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2459736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more latency and energy.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138160" y="3419856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3246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help only with reuse.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'Memory-bound' is many distinct problems — each a lever a specialized design can pull.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and GPU spend silicon differently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cpu_gpu.png">    </p:cNvPr>
          <p:cNvPicPr>
            <a:picLocks noChangeAspect="1"/>
          </p:cNvPicPr>
          <p:nvPr/>
        </p:nvPicPr>
        <p:blipFill>
          <a:blip r:embed="rId1"/>
          <a:srcRect l="-45238" r="-45238" t="0" b="0"/>
          <a:stretch/>
        </p:blipFill>
        <p:spPr>
          <a:xfrm>
            <a:off x="457200" y="1554480"/>
            <a:ext cx="73152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847088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67335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latency across diverse code.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138160" y="2633472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2459736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throughput across regular work.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138160" y="3419856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3246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wins every phase.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narrows the job in exchange for more useful work per area and per joule.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GPU efficiency envelope is real and bounded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gpu_envelope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are unbeatable inside the envelope and leak outside it — that boundary is where specialists live.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834640" y="25146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workload pressures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880360" y="37033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measured bounds that reshape silicon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Signatures, not labels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signatures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each phase by its behavior — the same model is compute-, bandwidth-, and capacity-bound in one request.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Prefill and decode want different machines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prefill_decode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pooled device compromises; phase-specialized silicon is now reaching hyperscale roadmaps.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BOUND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Batch-one decode is a bandwidth wall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roofline_decode.png">    </p:cNvPr>
          <p:cNvPicPr>
            <a:picLocks noChangeAspect="1"/>
          </p:cNvPicPr>
          <p:nvPr/>
        </p:nvPicPr>
        <p:blipFill>
          <a:blip r:embed="rId1"/>
          <a:srcRect l="-45238" r="-45238" t="0" b="0"/>
          <a:stretch/>
        </p:blipFill>
        <p:spPr>
          <a:xfrm>
            <a:off x="457200" y="1554480"/>
            <a:ext cx="73152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847088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67335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model, 8-bit, one sequence.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138160" y="2633472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2459736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≈48 tokens/s ceiling on an H100.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138160" y="3419856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3246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~0.3% of matrix throughput used.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batching or a changed memory contract moves this — the pressure behind inference-first silicon.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FACTOR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spans four orders of magnitude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wake_scope.png">    </p:cNvPr>
          <p:cNvPicPr>
            <a:picLocks noChangeAspect="1"/>
          </p:cNvPicPr>
          <p:nvPr/>
        </p:nvPicPr>
        <p:blipFill>
          <a:blip r:embed="rId1"/>
          <a:srcRect l="-45238" r="-45238" t="0" b="0"/>
          <a:stretch/>
        </p:blipFill>
        <p:spPr>
          <a:xfrm>
            <a:off x="457200" y="1554480"/>
            <a:ext cx="73152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847088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67335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Always-on: microwatts.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138160" y="2633472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2459736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round-trip: watts.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138160" y="3419856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3246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scope sets the cost.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features are impossible on a GPU contract — a structural bound, not an efficiency gap.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FACTOR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MoE turns compute into communication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moe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All-to-all routing can be ~1/3 of a training step — a bound in the fabric, not the arithmetic.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FACTOR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Irregular access defeats the cache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irregular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gather, and graph traversal are the bound no family yet owns cleanly.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BASELINE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succeeds — until it meets physics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544318" cy="2651760"/>
          </a:xfrm>
          <a:prstGeom prst="roundRect">
            <a:avLst>
              <a:gd name="adj" fmla="val 2875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31720"/>
            <a:ext cx="254431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8C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3566160"/>
            <a:ext cx="226999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IO-aware attention throughput (FlashAttention)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7278" y="2011680"/>
            <a:ext cx="2544318" cy="2651760"/>
          </a:xfrm>
          <a:prstGeom prst="roundRect">
            <a:avLst>
              <a:gd name="adj" fmla="val 2875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278" y="2331720"/>
            <a:ext cx="254431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6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2–4×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04438" y="3566160"/>
            <a:ext cx="226999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paging / continuous batching (vLLM)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7356" y="2011680"/>
            <a:ext cx="2544318" cy="2651760"/>
          </a:xfrm>
          <a:prstGeom prst="roundRect">
            <a:avLst>
              <a:gd name="adj" fmla="val 2875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7356" y="2331720"/>
            <a:ext cx="254431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~34%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14516" y="3566160"/>
            <a:ext cx="226999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training step in MoE all-to-all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87434" y="2011680"/>
            <a:ext cx="2544318" cy="2651760"/>
          </a:xfrm>
          <a:prstGeom prst="roundRect">
            <a:avLst>
              <a:gd name="adj" fmla="val 2875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7434" y="2331720"/>
            <a:ext cx="254431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F9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&lt;300 µW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324594" y="3566160"/>
            <a:ext cx="226999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keyword spotting budget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16232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gain is real and each exposes a residual bound software cannot move — that residue is the case for hardware.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834640" y="25146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framework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880360" y="37033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and a test for when to specialize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defines six contracts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six_contracts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signature stresses some contracts, not others — that mismatch is where a new architecture earns its place.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NECESSITY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conditions — all must hold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578608" cy="4343400"/>
          </a:xfrm>
          <a:prstGeom prst="roundRect">
            <a:avLst>
              <a:gd name="adj" fmla="val 2482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8C9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bound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377440"/>
            <a:ext cx="213969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 remains after software has done its best.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1600200"/>
            <a:ext cx="2578608" cy="4343400"/>
          </a:xfrm>
          <a:prstGeom prst="roundRect">
            <a:avLst>
              <a:gd name="adj" fmla="val 2482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7016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E9E"/>
          </a:solidFill>
          <a:ln/>
        </p:spPr>
      </p:sp>
      <p:sp>
        <p:nvSpPr>
          <p:cNvPr id="11" name="Text 9"/>
          <p:cNvSpPr/>
          <p:nvPr/>
        </p:nvSpPr>
        <p:spPr>
          <a:xfrm>
            <a:off x="3557016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33088" y="178308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consequence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75304" y="2377440"/>
            <a:ext cx="213969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 actually hurts under the deployment's objective.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578608" cy="4343400"/>
          </a:xfrm>
          <a:prstGeom prst="roundRect">
            <a:avLst>
              <a:gd name="adj" fmla="val 2482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8A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31736" y="178308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lever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73952" y="2377440"/>
            <a:ext cx="213969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changes the bound rather than relocating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53144" y="1600200"/>
            <a:ext cx="2578608" cy="4343400"/>
          </a:xfrm>
          <a:prstGeom prst="roundRect">
            <a:avLst>
              <a:gd name="adj" fmla="val 2482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54312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F9E6A"/>
          </a:solidFill>
          <a:ln/>
        </p:spPr>
      </p:sp>
      <p:sp>
        <p:nvSpPr>
          <p:cNvPr id="21" name="Text 19"/>
          <p:cNvSpPr/>
          <p:nvPr/>
        </p:nvSpPr>
        <p:spPr>
          <a:xfrm>
            <a:off x="935431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30384" y="178308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economics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72600" y="2377440"/>
            <a:ext cx="213969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benefit repays fixed cost, software, and lost flexibility.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10819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3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1–3 are the architect's analysis; condition 4 is the business case — and it decides most outcomes.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TEST, EXECUTED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architecture, opposite verdicts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necessity_cases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 v1 specialized; Nervana/Graphcore were right on architecture but failed condition 4; enterprise stays on GPU.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VS SPECIALIZATION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GPU absorbs — and what it cannot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fig05-05-absorption-partition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Absorbable bounds join the platform; structural bounds (wake scope, determinism, near-sensor, cost floors) do not.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834640" y="25146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accelerator families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880360" y="37033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contract changes, two organizing axes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uncertainty resolves × where state lives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fig06-01-family-landscape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family is a displacement from the CPU/GPU baseline on these two axes — no point dominates.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·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Systolic arrays: reuse from geometry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fig06-02-systolic-walkthrough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fetched once is reused across the array — memory traffic only at the edges. Absorbed by everyone, including the GPU.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· DEVICE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 processors: one compiler-owned schedule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tensor_block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engine + software-managed SRAM. Wins dense portfolios at owner scale (TPU, Trainium, MTIA).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dataflow / tile processors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dataflow_timeline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fixed at compile time → zero variance. Bids for latency-bounded decode and reproducible execution (Groq).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NPUs and near-sensor engines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npu_domains.png">    </p:cNvPr>
          <p:cNvPicPr>
            <a:picLocks noChangeAspect="1"/>
          </p:cNvPicPr>
          <p:nvPr/>
        </p:nvPicPr>
        <p:blipFill>
          <a:blip r:embed="rId1"/>
          <a:srcRect l="-45238" r="-45238" t="0" b="0"/>
          <a:stretch/>
        </p:blipFill>
        <p:spPr>
          <a:xfrm>
            <a:off x="457200" y="1554480"/>
            <a:ext cx="73152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847088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67335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Power-domain-first design.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138160" y="2633472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2459736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wake-scope energy.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138160" y="3419856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3246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not TOPS, decides.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secure beyond-GPU territory: wake scope and cost floors are structurally outside the GPU contract.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FPGAs: flexibility after manufacturing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fpga_speeds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compilation speeds. Wins where post-manufacture structure is the requirement; elsewhere a staging tier to ASIC.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Wafer-scale: state at SRAM distance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wafer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Inter-chip communication becomes on-wafer routing; model-scale state stays close. Survives on anchor tenants.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Memory-centric / processing-in-memory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pim_flavors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condition-3 case in the survey — gated only by the lack of a portable programming model.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· FORWARD-LOOKING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Neuromorphic: energy proportional to activity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44824" cy="4343400"/>
          </a:xfrm>
          <a:prstGeom prst="roundRect">
            <a:avLst>
              <a:gd name="adj" fmla="val 1806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8C9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76656" y="2377440"/>
            <a:ext cx="3105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spikes; synaptic state beside the neurons; nothing switches when nothing changes.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2064" y="1600200"/>
            <a:ext cx="3544824" cy="4343400"/>
          </a:xfrm>
          <a:prstGeom prst="roundRect">
            <a:avLst>
              <a:gd name="adj" fmla="val 1806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3232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5099304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1520" y="2377440"/>
            <a:ext cx="3105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Research-class (TrueNorth, Loihi). Validates the energy model, not yet a mainstream workload.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6928" y="1600200"/>
            <a:ext cx="3544824" cy="4343400"/>
          </a:xfrm>
          <a:prstGeom prst="roundRect">
            <a:avLst>
              <a:gd name="adj" fmla="val 1806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8096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8A2B"/>
          </a:solidFill>
          <a:ln/>
        </p:spPr>
      </p:sp>
      <p:sp>
        <p:nvSpPr>
          <p:cNvPr id="14" name="Text 12"/>
          <p:cNvSpPr/>
          <p:nvPr/>
        </p:nvSpPr>
        <p:spPr>
          <a:xfrm>
            <a:off x="8964168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06384" y="2377440"/>
            <a:ext cx="3105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edge: always-on sensory, reflex loops, event cameras — sparse-in-time signals.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10819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3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theoretical endpoint of wake-scope logic — a direction of development, not yet a destination.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families, different binding constraints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fig06-10-continuum-fit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migrate both ways; implementations diverge because each deployment prices the stressors differently.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834640" y="25146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landscape, grouped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880360" y="37033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through the framework — not a product catalog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groups, one deciding variable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grouped_landscape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challengers failed on architecture — every trajectory was decided by condition 4.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· HYPERSCALER SILICON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TPU verdict, replicated four times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578608" cy="4343400"/>
          </a:xfrm>
          <a:prstGeom prst="roundRect">
            <a:avLst>
              <a:gd name="adj" fmla="val 2482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8C9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8308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TPU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76656" y="2377440"/>
            <a:ext cx="213969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Seventh generation; inference-emphasized; pods of thousands.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1600200"/>
            <a:ext cx="2578608" cy="4343400"/>
          </a:xfrm>
          <a:prstGeom prst="roundRect">
            <a:avLst>
              <a:gd name="adj" fmla="val 2482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57016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4133088" y="178308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Trainium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75304" y="2377440"/>
            <a:ext cx="213969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available; proprietary switch fabric; 'token economics.'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4496" y="1600200"/>
            <a:ext cx="2578608" cy="4343400"/>
          </a:xfrm>
          <a:prstGeom prst="roundRect">
            <a:avLst>
              <a:gd name="adj" fmla="val 2482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55664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8A2B"/>
          </a:solidFill>
          <a:ln/>
        </p:spPr>
      </p:sp>
      <p:sp>
        <p:nvSpPr>
          <p:cNvPr id="14" name="Text 12"/>
          <p:cNvSpPr/>
          <p:nvPr/>
        </p:nvSpPr>
        <p:spPr>
          <a:xfrm>
            <a:off x="7031736" y="178308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Maia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73952" y="2377440"/>
            <a:ext cx="213969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Inference-first; large on-chip SRAM; standard Ethernet.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53144" y="1600200"/>
            <a:ext cx="2578608" cy="4343400"/>
          </a:xfrm>
          <a:prstGeom prst="roundRect">
            <a:avLst>
              <a:gd name="adj" fmla="val 2482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54312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F9E6A"/>
          </a:solidFill>
          <a:ln/>
        </p:spPr>
      </p:sp>
      <p:sp>
        <p:nvSpPr>
          <p:cNvPr id="18" name="Text 16"/>
          <p:cNvSpPr/>
          <p:nvPr/>
        </p:nvSpPr>
        <p:spPr>
          <a:xfrm>
            <a:off x="9930384" y="1783080"/>
            <a:ext cx="161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MTIA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372600" y="2377440"/>
            <a:ext cx="213969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Recommendation-first; peer-reviewed first generation.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10819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3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cloud fields internal tensor processors at generation depth — the second transition as industrial fact.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· GPU INCUMBENTS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competition is a memory race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fig07-01-flagship-memory-2026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Flagships cluster on capacity and bandwidth, not FLOPS — the absorption thesis operating in public.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· CHALLENGERS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contested middle consolidates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44824" cy="4343400"/>
          </a:xfrm>
          <a:prstGeom prst="roundRect">
            <a:avLst>
              <a:gd name="adj" fmla="val 1806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8C9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in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76656" y="2377440"/>
            <a:ext cx="3105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deterministic-dataflow architecture licensed into the incumbent platform.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2064" y="1600200"/>
            <a:ext cx="3544824" cy="4343400"/>
          </a:xfrm>
          <a:prstGeom prst="roundRect">
            <a:avLst>
              <a:gd name="adj" fmla="val 1806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3232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5099304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tenancy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1520" y="2377440"/>
            <a:ext cx="3105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Wafer-scale survives on a few enormous compute agreements, then IPO.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6928" y="1600200"/>
            <a:ext cx="3544824" cy="4343400"/>
          </a:xfrm>
          <a:prstGeom prst="roundRect">
            <a:avLst>
              <a:gd name="adj" fmla="val 1806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8096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8A2B"/>
          </a:solidFill>
          <a:ln/>
        </p:spPr>
      </p:sp>
      <p:sp>
        <p:nvSpPr>
          <p:cNvPr id="14" name="Text 12"/>
          <p:cNvSpPr/>
          <p:nvPr/>
        </p:nvSpPr>
        <p:spPr>
          <a:xfrm>
            <a:off x="8964168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06384" y="2377440"/>
            <a:ext cx="3105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tile processors absorbed by a larger incumbent.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10819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3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4 — software capital, volume, distribution — decided each, not architectural merit.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· CLIENT &amp; 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continuum's other half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44824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8C9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PC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76656" y="2377440"/>
            <a:ext cx="3105912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+ GPU under shared memory; bandwidth and coverage, not TOPS, decide.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2064" y="1600200"/>
            <a:ext cx="3544824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3232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5099304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SoC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1520" y="2377440"/>
            <a:ext cx="3105912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wake tiers; on-device foundation models; thermal equilibrium separates the field.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6928" y="1600200"/>
            <a:ext cx="3544824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8096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8A2B"/>
          </a:solidFill>
          <a:ln/>
        </p:spPr>
      </p:sp>
      <p:sp>
        <p:nvSpPr>
          <p:cNvPr id="14" name="Text 12"/>
          <p:cNvSpPr/>
          <p:nvPr/>
        </p:nvSpPr>
        <p:spPr>
          <a:xfrm>
            <a:off x="8964168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/ µNPU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06384" y="2377440"/>
            <a:ext cx="3105912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IP-licensed; cost floor and decade lifecycle dominate.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46220"/>
            <a:ext cx="3544824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42473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F9E6A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22910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6656" y="4823460"/>
            <a:ext cx="3105912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GPU-class perception above a deterministic control floor — flexibility wins when algorithms churn.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22064" y="4046220"/>
            <a:ext cx="3544824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3232" y="42473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6232E"/>
          </a:solidFill>
          <a:ln/>
        </p:spPr>
      </p:sp>
      <p:sp>
        <p:nvSpPr>
          <p:cNvPr id="22" name="Text 20"/>
          <p:cNvSpPr/>
          <p:nvPr/>
        </p:nvSpPr>
        <p:spPr>
          <a:xfrm>
            <a:off x="5099304" y="422910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1520" y="4823460"/>
            <a:ext cx="3105912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and lifecycle become certification objects; supply sovereignty joins economics.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86928" y="4046220"/>
            <a:ext cx="3544824" cy="2171700"/>
          </a:xfrm>
          <a:prstGeom prst="roundRect">
            <a:avLst>
              <a:gd name="adj" fmla="val 294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88096" y="42473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63947"/>
          </a:solidFill>
          <a:ln/>
        </p:spPr>
      </p:sp>
      <p:sp>
        <p:nvSpPr>
          <p:cNvPr id="26" name="Text 24"/>
          <p:cNvSpPr/>
          <p:nvPr/>
        </p:nvSpPr>
        <p:spPr>
          <a:xfrm>
            <a:off x="8964168" y="422910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taxonomy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06384" y="4823460"/>
            <a:ext cx="3105912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families as the datacenter — different binding constraints.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834640" y="25146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Substrate &amp; economics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880360" y="37033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capital, packaging, and cost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moat is not the kernel language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narrow_waist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efforts aimed at the kernel layer solve the cheapest part; the moat sits above and below the waist.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 IS THE NEW NODE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is the frontier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44824" cy="4343400"/>
          </a:xfrm>
          <a:prstGeom prst="roundRect">
            <a:avLst>
              <a:gd name="adj" fmla="val 1806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8C9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76656" y="2377440"/>
            <a:ext cx="3105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every bandwidth bound; three-vendor supply; rivals the logic die in cost share.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2064" y="1600200"/>
            <a:ext cx="3544824" cy="4343400"/>
          </a:xfrm>
          <a:prstGeom prst="roundRect">
            <a:avLst>
              <a:gd name="adj" fmla="val 1806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3232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5099304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1520" y="2377440"/>
            <a:ext cx="3105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Reticle limit drives 2.5D, chiplets, hybrid bonding; capacity itself gates supply.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6928" y="1600200"/>
            <a:ext cx="3544824" cy="4343400"/>
          </a:xfrm>
          <a:prstGeom prst="roundRect">
            <a:avLst>
              <a:gd name="adj" fmla="val 1806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8096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8A2B"/>
          </a:solidFill>
          <a:ln/>
        </p:spPr>
      </p:sp>
      <p:sp>
        <p:nvSpPr>
          <p:cNvPr id="14" name="Text 12"/>
          <p:cNvSpPr/>
          <p:nvPr/>
        </p:nvSpPr>
        <p:spPr>
          <a:xfrm>
            <a:off x="8964168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&amp; optics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06384" y="2377440"/>
            <a:ext cx="3105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vs Ethernet; co-packaged optics attacks network power, not latency.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10819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3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competitive frontier moved from logic to integration — the package, the rack, the facility.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cost stack of useful work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cost_stack.png">    </p:cNvPr>
          <p:cNvPicPr>
            <a:picLocks noChangeAspect="1"/>
          </p:cNvPicPr>
          <p:nvPr/>
        </p:nvPicPr>
        <p:blipFill>
          <a:blip r:embed="rId1"/>
          <a:srcRect l="-45238" r="-45238" t="0" b="0"/>
          <a:stretch/>
        </p:blipFill>
        <p:spPr>
          <a:xfrm>
            <a:off x="457200" y="1554480"/>
            <a:ext cx="73152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847088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67335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family redistributes weight.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138160" y="2633472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2459736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shrinks the stack uniformly.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138160" y="3419856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3246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now gates deployments.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necessity test, in cost terms: does a redistribution lower the total for this workload at this volume?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decides — architecture held constant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break_even.png">    </p:cNvPr>
          <p:cNvPicPr>
            <a:picLocks noChangeAspect="1"/>
          </p:cNvPicPr>
          <p:nvPr/>
        </p:nvPicPr>
        <p:blipFill>
          <a:blip r:embed="rId1"/>
          <a:srcRect l="-45238" r="-45238" t="0" b="0"/>
          <a:stretch/>
        </p:blipFill>
        <p:spPr>
          <a:xfrm>
            <a:off x="457200" y="1554480"/>
            <a:ext cx="73152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847088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67335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 ≈ software enablement.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138160" y="2633472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2459736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scale with volume.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138160" y="3419856"/>
            <a:ext cx="109728" cy="1097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3246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has option value.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volume threshold no efficiency percentage rescues the case; above it, small percentages justify large programs.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834640" y="25146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Futures &amp; conclusions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880360" y="37033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by evidence; what holds everywhere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Graded by evidence class</a:t>
            </a:r>
            <a:endParaRPr lang="en-US" sz="3000" dirty="0"/>
          </a:p>
        </p:txBody>
      </p:sp>
      <p:pic>
        <p:nvPicPr>
          <p:cNvPr id="4" name="Image 0" descr="/sessions/compassionate-blissful-planck/mnt/outputs/deck_assets/future_grades.png">    </p:cNvPr>
          <p:cNvPicPr>
            <a:picLocks noChangeAspect="1"/>
          </p:cNvPicPr>
          <p:nvPr/>
        </p:nvPicPr>
        <p:blipFill>
          <a:blip r:embed="rId1"/>
          <a:srcRect l="-78049" r="-78049" t="0" b="0"/>
          <a:stretch/>
        </p:blipFill>
        <p:spPr>
          <a:xfrm>
            <a:off x="1280160" y="1554480"/>
            <a:ext cx="9601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71500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40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memories arrive before new logic; the nearest contract changes enter inside incumbent platforms, via packaging.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DEMAND-SIDE WILDCARDS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move the bounds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44824" cy="4343400"/>
          </a:xfrm>
          <a:prstGeom prst="roundRect">
            <a:avLst>
              <a:gd name="adj" fmla="val 1806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8C9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compute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76656" y="2377440"/>
            <a:ext cx="3105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longer, not larger — deepens the decode bound, strengthens inference silicon.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2064" y="1600200"/>
            <a:ext cx="3544824" cy="4343400"/>
          </a:xfrm>
          <a:prstGeom prst="roundRect">
            <a:avLst>
              <a:gd name="adj" fmla="val 1806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3232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5099304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Persistent-state agents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1520" y="2377440"/>
            <a:ext cx="3105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state residency and freshness to first-class bounds — a possible new family.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6928" y="1600200"/>
            <a:ext cx="3544824" cy="4343400"/>
          </a:xfrm>
          <a:prstGeom prst="roundRect">
            <a:avLst>
              <a:gd name="adj" fmla="val 1806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8096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8A2B"/>
          </a:solidFill>
          <a:ln/>
        </p:spPr>
      </p:sp>
      <p:sp>
        <p:nvSpPr>
          <p:cNvPr id="14" name="Text 12"/>
          <p:cNvSpPr/>
          <p:nvPr/>
        </p:nvSpPr>
        <p:spPr>
          <a:xfrm>
            <a:off x="8964168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sparsity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06384" y="2377440"/>
            <a:ext cx="3105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and retrieval push routing and gather up the priority list.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10819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3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signatures move, the family taxonomy should be re-derived — the method predicts its own revision.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holds across the whole picture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77256" cy="1356360"/>
          </a:xfrm>
          <a:prstGeom prst="roundRect">
            <a:avLst>
              <a:gd name="adj" fmla="val 4719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8C9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4517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converges on physics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2377440"/>
            <a:ext cx="5038344" cy="44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transitions are software succeeding until it exposes a hard, measurable bound.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4496" y="1600200"/>
            <a:ext cx="5477256" cy="1356360"/>
          </a:xfrm>
          <a:prstGeom prst="roundRect">
            <a:avLst>
              <a:gd name="adj" fmla="val 4719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55664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E9E"/>
          </a:solidFill>
          <a:ln/>
        </p:spPr>
      </p:sp>
      <p:sp>
        <p:nvSpPr>
          <p:cNvPr id="11" name="Text 9"/>
          <p:cNvSpPr/>
          <p:nvPr/>
        </p:nvSpPr>
        <p:spPr>
          <a:xfrm>
            <a:off x="6455664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31736" y="1783080"/>
            <a:ext cx="4517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 is decidable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73952" y="2377440"/>
            <a:ext cx="5038344" cy="44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four-condition test returns specialize / market-no / stay-on-GPU from measurable inputs.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30880"/>
            <a:ext cx="5477256" cy="1356360"/>
          </a:xfrm>
          <a:prstGeom prst="roundRect">
            <a:avLst>
              <a:gd name="adj" fmla="val 4719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4320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8A2B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432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413760"/>
            <a:ext cx="4517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4 dominates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76656" y="4008120"/>
            <a:ext cx="5038344" cy="44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capital, volume, and distribution decide outcomes more than silicon merit.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4496" y="3230880"/>
            <a:ext cx="5477256" cy="1356360"/>
          </a:xfrm>
          <a:prstGeom prst="roundRect">
            <a:avLst>
              <a:gd name="adj" fmla="val 4719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5664" y="34320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F9E6A"/>
          </a:solidFill>
          <a:ln/>
        </p:spPr>
      </p:sp>
      <p:sp>
        <p:nvSpPr>
          <p:cNvPr id="21" name="Text 19"/>
          <p:cNvSpPr/>
          <p:nvPr/>
        </p:nvSpPr>
        <p:spPr>
          <a:xfrm>
            <a:off x="6455664" y="3432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31736" y="3413760"/>
            <a:ext cx="4517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Families, not a successor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73952" y="4008120"/>
            <a:ext cx="5038344" cy="44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changes a contract the GPU cannot adopt without ceasing to be a GPU.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861560"/>
            <a:ext cx="5477256" cy="1356360"/>
          </a:xfrm>
          <a:prstGeom prst="roundRect">
            <a:avLst>
              <a:gd name="adj" fmla="val 4719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50627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6232E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506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5044440"/>
            <a:ext cx="4517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moved to memory &amp; power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76656" y="5638800"/>
            <a:ext cx="5038344" cy="44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bandwidth, fabric, and facility power separate contenders — not FLOPS.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54496" y="4861560"/>
            <a:ext cx="5477256" cy="1356360"/>
          </a:xfrm>
          <a:prstGeom prst="roundRect">
            <a:avLst>
              <a:gd name="adj" fmla="val 4719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55664" y="50627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63947"/>
          </a:solidFill>
          <a:ln/>
        </p:spPr>
      </p:sp>
      <p:sp>
        <p:nvSpPr>
          <p:cNvPr id="31" name="Text 29"/>
          <p:cNvSpPr/>
          <p:nvPr/>
        </p:nvSpPr>
        <p:spPr>
          <a:xfrm>
            <a:off x="6455664" y="506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31736" y="5044440"/>
            <a:ext cx="4517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continuum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473952" y="5638800"/>
            <a:ext cx="5038344" cy="44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taxonomy reads microwatt silicon and megawatt pods.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the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44824" cy="4617720"/>
          </a:xfrm>
          <a:prstGeom prst="roundRect">
            <a:avLst>
              <a:gd name="adj" fmla="val 1806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8C9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76656" y="2377440"/>
            <a:ext cx="3105912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against signatures; respect batch-one; measure at the useful-result boundary; the test, not the catalog.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2064" y="1600200"/>
            <a:ext cx="3544824" cy="4617720"/>
          </a:xfrm>
          <a:prstGeom prst="roundRect">
            <a:avLst>
              <a:gd name="adj" fmla="val 1806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3232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5099304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1520" y="2377440"/>
            <a:ext cx="3105912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at pod and facility; prefer consumption to ownership until volume proves otherwise; protect software seams.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6928" y="1600200"/>
            <a:ext cx="3544824" cy="4617720"/>
          </a:xfrm>
          <a:prstGeom prst="roundRect">
            <a:avLst>
              <a:gd name="adj" fmla="val 1806"/>
            </a:avLst>
          </a:prstGeom>
          <a:solidFill>
            <a:srgbClr val="F4F7F8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8096" y="18013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8A2B"/>
          </a:solidFill>
          <a:ln/>
        </p:spPr>
      </p:sp>
      <p:sp>
        <p:nvSpPr>
          <p:cNvPr id="14" name="Text 12"/>
          <p:cNvSpPr/>
          <p:nvPr/>
        </p:nvSpPr>
        <p:spPr>
          <a:xfrm>
            <a:off x="8964168" y="1783080"/>
            <a:ext cx="2584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selection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06384" y="2377440"/>
            <a:ext cx="3105912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→ software ceiling → locate the bound in the partition → weight the stack → run the test.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 IN ONE SENTENCE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optimization succeeds until it exposes a bound; the bound is absorbed by the GPU platform, escaped by changing a contract, or lived with — and the deployment class decides which.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5852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signatures, contracts, families, economics — is the machinery that makes that choice decidable.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GPU — 2-hour lecture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2026-07-19T02:40:12Z</dcterms:created>
  <dcterms:modified xsi:type="dcterms:W3CDTF">2026-07-19T02:40:12Z</dcterms:modified>
</cp:coreProperties>
</file>