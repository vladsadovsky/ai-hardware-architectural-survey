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E8C9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the GPU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77240" y="356616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7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AI is driving a second hardware transition — a systems view for software engineers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619963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Condensed walkthrough  ·  ~1 hour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are going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544824" cy="2080260"/>
          </a:xfrm>
          <a:prstGeom prst="roundRect">
            <a:avLst>
              <a:gd name="adj" fmla="val 30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80136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E8C9B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783080"/>
            <a:ext cx="2584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driving factors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76656" y="2377440"/>
            <a:ext cx="3105912" cy="1165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physical pressures that push work off the GPU: data movement, memory bandwidth, energy, determinism.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2064" y="1600200"/>
            <a:ext cx="3544824" cy="2080260"/>
          </a:xfrm>
          <a:prstGeom prst="roundRect">
            <a:avLst>
              <a:gd name="adj" fmla="val 30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3232" y="180136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6E9E"/>
          </a:solidFill>
          <a:ln/>
        </p:spPr>
      </p:sp>
      <p:sp>
        <p:nvSpPr>
          <p:cNvPr id="11" name="Text 9"/>
          <p:cNvSpPr/>
          <p:nvPr/>
        </p:nvSpPr>
        <p:spPr>
          <a:xfrm>
            <a:off x="452323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99304" y="1783080"/>
            <a:ext cx="2584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framework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41520" y="2377440"/>
            <a:ext cx="3105912" cy="1165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architectural contracts and a four-condition test for when specialization is actually justified.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86928" y="1600200"/>
            <a:ext cx="3544824" cy="2080260"/>
          </a:xfrm>
          <a:prstGeom prst="roundRect">
            <a:avLst>
              <a:gd name="adj" fmla="val 30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88096" y="180136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8A2B"/>
          </a:solidFill>
          <a:ln/>
        </p:spPr>
      </p:sp>
      <p:sp>
        <p:nvSpPr>
          <p:cNvPr id="16" name="Text 14"/>
          <p:cNvSpPr/>
          <p:nvPr/>
        </p:nvSpPr>
        <p:spPr>
          <a:xfrm>
            <a:off x="8388096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964168" y="1783080"/>
            <a:ext cx="2584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families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06384" y="2377440"/>
            <a:ext cx="3105912" cy="1165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beyond-GPU accelerators group by which contract they change — not by vendor.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3954780"/>
            <a:ext cx="3544824" cy="2080260"/>
          </a:xfrm>
          <a:prstGeom prst="roundRect">
            <a:avLst>
              <a:gd name="adj" fmla="val 30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415594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3F9E6A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41559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34440" y="4137660"/>
            <a:ext cx="2584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landscape, grouped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6656" y="4732020"/>
            <a:ext cx="3105912" cy="1165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Incumbents, hyperscaler silicon, and challengers — read through the framework, not as a catalog.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22064" y="3954780"/>
            <a:ext cx="3544824" cy="2080260"/>
          </a:xfrm>
          <a:prstGeom prst="roundRect">
            <a:avLst>
              <a:gd name="adj" fmla="val 30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23232" y="415594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6232E"/>
          </a:solidFill>
          <a:ln/>
        </p:spPr>
      </p:sp>
      <p:sp>
        <p:nvSpPr>
          <p:cNvPr id="26" name="Text 24"/>
          <p:cNvSpPr/>
          <p:nvPr/>
        </p:nvSpPr>
        <p:spPr>
          <a:xfrm>
            <a:off x="4523232" y="41559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099304" y="4137660"/>
            <a:ext cx="2584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41520" y="4732020"/>
            <a:ext cx="3105912" cy="1165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lifetime cost and software capital decide most outcomes.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86928" y="3954780"/>
            <a:ext cx="3544824" cy="2080260"/>
          </a:xfrm>
          <a:prstGeom prst="roundRect">
            <a:avLst>
              <a:gd name="adj" fmla="val 30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88096" y="415594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63947"/>
          </a:solidFill>
          <a:ln/>
        </p:spPr>
      </p:sp>
      <p:sp>
        <p:nvSpPr>
          <p:cNvPr id="31" name="Text 29"/>
          <p:cNvSpPr/>
          <p:nvPr/>
        </p:nvSpPr>
        <p:spPr>
          <a:xfrm>
            <a:off x="8388096" y="41559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964168" y="4137660"/>
            <a:ext cx="2584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406384" y="4732020"/>
            <a:ext cx="3105912" cy="1165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holds across the whole compute continuum.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57200" y="60807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</a:t>
            </a:r>
            <a:pPr indent="0" marL="0">
              <a:buNone/>
            </a:pPr>
            <a:r>
              <a:rPr lang="en-US" sz="135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time on products; more on the physics and economics that make the choice decidable.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PRIMER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hardware ideas, in software terms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544824" cy="2080260"/>
          </a:xfrm>
          <a:prstGeom prst="roundRect">
            <a:avLst>
              <a:gd name="adj" fmla="val 30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80136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E8C9B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1783080"/>
            <a:ext cx="2584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76656" y="2377440"/>
            <a:ext cx="3105912" cy="1165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parallel lanes. Fast when work is regular, batched, and streamed from high-bandwidth memory.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2064" y="1600200"/>
            <a:ext cx="3544824" cy="2080260"/>
          </a:xfrm>
          <a:prstGeom prst="roundRect">
            <a:avLst>
              <a:gd name="adj" fmla="val 30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3232" y="180136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E8C9B"/>
          </a:solidFill>
          <a:ln/>
        </p:spPr>
      </p:sp>
      <p:sp>
        <p:nvSpPr>
          <p:cNvPr id="10" name="Text 8"/>
          <p:cNvSpPr/>
          <p:nvPr/>
        </p:nvSpPr>
        <p:spPr>
          <a:xfrm>
            <a:off x="5099304" y="1783080"/>
            <a:ext cx="2584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/ tensor engine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41520" y="2377440"/>
            <a:ext cx="3105912" cy="1165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block that does a whole matrix tile per instruction — amortizes control over many multiply-adds.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86928" y="1600200"/>
            <a:ext cx="3544824" cy="2080260"/>
          </a:xfrm>
          <a:prstGeom prst="roundRect">
            <a:avLst>
              <a:gd name="adj" fmla="val 30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88096" y="180136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6E9E"/>
          </a:solidFill>
          <a:ln/>
        </p:spPr>
      </p:sp>
      <p:sp>
        <p:nvSpPr>
          <p:cNvPr id="14" name="Text 12"/>
          <p:cNvSpPr/>
          <p:nvPr/>
        </p:nvSpPr>
        <p:spPr>
          <a:xfrm>
            <a:off x="8964168" y="1783080"/>
            <a:ext cx="2584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06384" y="2377440"/>
            <a:ext cx="3105912" cy="1165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DRAM giving multi-TB/s. The scarce resource: capacity and bandwidth, not arithmetic.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954780"/>
            <a:ext cx="3544824" cy="2080260"/>
          </a:xfrm>
          <a:prstGeom prst="roundRect">
            <a:avLst>
              <a:gd name="adj" fmla="val 30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415594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6E9E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137660"/>
            <a:ext cx="2584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NPU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6656" y="4732020"/>
            <a:ext cx="3105912" cy="1165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SoC block plus a compiler that maps a whole model graph onto it at low energy.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22064" y="3954780"/>
            <a:ext cx="3544824" cy="2080260"/>
          </a:xfrm>
          <a:prstGeom prst="roundRect">
            <a:avLst>
              <a:gd name="adj" fmla="val 30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23232" y="415594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8A2B"/>
          </a:solidFill>
          <a:ln/>
        </p:spPr>
      </p:sp>
      <p:sp>
        <p:nvSpPr>
          <p:cNvPr id="22" name="Text 20"/>
          <p:cNvSpPr/>
          <p:nvPr/>
        </p:nvSpPr>
        <p:spPr>
          <a:xfrm>
            <a:off x="5099304" y="4137660"/>
            <a:ext cx="2584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41520" y="4732020"/>
            <a:ext cx="3105912" cy="1165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peak arithmetic rating. Rarely the bottleneck — treat as marketing, not a benchmark.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186928" y="3954780"/>
            <a:ext cx="3544824" cy="2080260"/>
          </a:xfrm>
          <a:prstGeom prst="roundRect">
            <a:avLst>
              <a:gd name="adj" fmla="val 30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88096" y="415594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8A2B"/>
          </a:solidFill>
          <a:ln/>
        </p:spPr>
      </p:sp>
      <p:sp>
        <p:nvSpPr>
          <p:cNvPr id="26" name="Text 24"/>
          <p:cNvSpPr/>
          <p:nvPr/>
        </p:nvSpPr>
        <p:spPr>
          <a:xfrm>
            <a:off x="8964168" y="4137660"/>
            <a:ext cx="2584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406384" y="4732020"/>
            <a:ext cx="3105912" cy="1165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hardware promises software about execution, memory, numbers, scheduling, comms, and tooling.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transitions, across the whole continuum</a:t>
            </a:r>
            <a:endParaRPr lang="en-US" sz="3000" dirty="0"/>
          </a:p>
        </p:txBody>
      </p:sp>
      <p:pic>
        <p:nvPicPr>
          <p:cNvPr id="4" name="Image 0" descr="/sessions/compassionate-blissful-planck/mnt/outputs/deck_assets/two_transitions.png">    </p:cNvPr>
          <p:cNvPicPr>
            <a:picLocks noChangeAspect="1"/>
          </p:cNvPicPr>
          <p:nvPr/>
        </p:nvPicPr>
        <p:blipFill>
          <a:blip r:embed="rId1"/>
          <a:srcRect l="-78049" r="-78049" t="0" b="0"/>
          <a:stretch/>
        </p:blipFill>
        <p:spPr>
          <a:xfrm>
            <a:off x="1280160" y="1554480"/>
            <a:ext cx="9601200" cy="3749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71500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</a:t>
            </a:r>
            <a:pPr indent="0" marL="0">
              <a:buNone/>
            </a:pPr>
            <a:r>
              <a:rPr lang="en-US" sz="14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optimization keeps hitting limits; each transition adds specialization, it does not replace what came before.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FACTOR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movement — not arithmetic — dominates energy</a:t>
            </a:r>
            <a:endParaRPr lang="en-US" sz="3000" dirty="0"/>
          </a:p>
        </p:txBody>
      </p:sp>
      <p:pic>
        <p:nvPicPr>
          <p:cNvPr id="4" name="Image 0" descr="/sessions/compassionate-blissful-planck/mnt/outputs/deck_assets/data_energy.png">    </p:cNvPr>
          <p:cNvPicPr>
            <a:picLocks noChangeAspect="1"/>
          </p:cNvPicPr>
          <p:nvPr/>
        </p:nvPicPr>
        <p:blipFill>
          <a:blip r:embed="rId1"/>
          <a:srcRect l="-45238" r="-45238" t="0" b="0"/>
          <a:stretch/>
        </p:blipFill>
        <p:spPr>
          <a:xfrm>
            <a:off x="457200" y="1554480"/>
            <a:ext cx="73152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138160" y="1801368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6" name="Text 3"/>
          <p:cNvSpPr/>
          <p:nvPr/>
        </p:nvSpPr>
        <p:spPr>
          <a:xfrm>
            <a:off x="8366760" y="1627632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is nearly free.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8138160" y="2551176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8" name="Text 5"/>
          <p:cNvSpPr/>
          <p:nvPr/>
        </p:nvSpPr>
        <p:spPr>
          <a:xfrm>
            <a:off x="8366760" y="23774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operands is not.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138160" y="3300984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0" name="Text 7"/>
          <p:cNvSpPr/>
          <p:nvPr/>
        </p:nvSpPr>
        <p:spPr>
          <a:xfrm>
            <a:off x="8366760" y="3127248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locality and reuse set efficiency, not FLOPS.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571500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</a:t>
            </a:r>
            <a:pPr indent="0" marL="0">
              <a:buNone/>
            </a:pPr>
            <a:r>
              <a:rPr lang="en-US" sz="14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architecture that follows is a different answer to 'move less data, or move it a shorter distance.'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FACTOR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is a distance hierarchy</a:t>
            </a:r>
            <a:endParaRPr lang="en-US" sz="3000" dirty="0"/>
          </a:p>
        </p:txBody>
      </p:sp>
      <p:pic>
        <p:nvPicPr>
          <p:cNvPr id="4" name="Image 0" descr="/sessions/compassionate-blissful-planck/mnt/outputs/deck_assets/mem_hierarchy.png">    </p:cNvPr>
          <p:cNvPicPr>
            <a:picLocks noChangeAspect="1"/>
          </p:cNvPicPr>
          <p:nvPr/>
        </p:nvPicPr>
        <p:blipFill>
          <a:blip r:embed="rId1"/>
          <a:srcRect l="-45238" r="-45238" t="0" b="0"/>
          <a:stretch/>
        </p:blipFill>
        <p:spPr>
          <a:xfrm>
            <a:off x="457200" y="1554480"/>
            <a:ext cx="73152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138160" y="1801368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6" name="Text 3"/>
          <p:cNvSpPr/>
          <p:nvPr/>
        </p:nvSpPr>
        <p:spPr>
          <a:xfrm>
            <a:off x="8366760" y="1627632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out: more capacity.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8138160" y="2551176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8" name="Text 5"/>
          <p:cNvSpPr/>
          <p:nvPr/>
        </p:nvSpPr>
        <p:spPr>
          <a:xfrm>
            <a:off x="8366760" y="23774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more latency and energy.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138160" y="3300984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0" name="Text 7"/>
          <p:cNvSpPr/>
          <p:nvPr/>
        </p:nvSpPr>
        <p:spPr>
          <a:xfrm>
            <a:off x="8366760" y="3127248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Caches help only if data is reused before eviction.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571500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</a:t>
            </a:r>
            <a:pPr indent="0" marL="0">
              <a:buNone/>
            </a:pPr>
            <a:r>
              <a:rPr lang="en-US" sz="14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'Memory-bound' is many different problems — each one a lever a specialized design can pull.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 and GPU spend silicon differently</a:t>
            </a:r>
            <a:endParaRPr lang="en-US" sz="3000" dirty="0"/>
          </a:p>
        </p:txBody>
      </p:sp>
      <p:pic>
        <p:nvPicPr>
          <p:cNvPr id="4" name="Image 0" descr="/sessions/compassionate-blissful-planck/mnt/outputs/deck_assets/cpu_gpu.png">    </p:cNvPr>
          <p:cNvPicPr>
            <a:picLocks noChangeAspect="1"/>
          </p:cNvPicPr>
          <p:nvPr/>
        </p:nvPicPr>
        <p:blipFill>
          <a:blip r:embed="rId1"/>
          <a:srcRect l="-45238" r="-45238" t="0" b="0"/>
          <a:stretch/>
        </p:blipFill>
        <p:spPr>
          <a:xfrm>
            <a:off x="457200" y="1554480"/>
            <a:ext cx="73152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138160" y="1801368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6" name="Text 3"/>
          <p:cNvSpPr/>
          <p:nvPr/>
        </p:nvSpPr>
        <p:spPr>
          <a:xfrm>
            <a:off x="8366760" y="1627632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CPU: low-latency across diverse code.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8138160" y="2551176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8" name="Text 5"/>
          <p:cNvSpPr/>
          <p:nvPr/>
        </p:nvSpPr>
        <p:spPr>
          <a:xfrm>
            <a:off x="8366760" y="23774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GPU: throughput across regular work.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138160" y="3300984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0" name="Text 7"/>
          <p:cNvSpPr/>
          <p:nvPr/>
        </p:nvSpPr>
        <p:spPr>
          <a:xfrm>
            <a:off x="8366760" y="3127248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is optimal for every phase.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571500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</a:t>
            </a:r>
            <a:pPr indent="0" marL="0">
              <a:buNone/>
            </a:pPr>
            <a:r>
              <a:rPr lang="en-US" sz="14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Specialization narrows what a design does in exchange for more useful work per unit area and energy.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BOUND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Batch-one decode is a bandwidth wall</a:t>
            </a:r>
            <a:endParaRPr lang="en-US" sz="3000" dirty="0"/>
          </a:p>
        </p:txBody>
      </p:sp>
      <p:pic>
        <p:nvPicPr>
          <p:cNvPr id="4" name="Image 0" descr="/sessions/compassionate-blissful-planck/mnt/outputs/deck_assets/roofline_decode.png">    </p:cNvPr>
          <p:cNvPicPr>
            <a:picLocks noChangeAspect="1"/>
          </p:cNvPicPr>
          <p:nvPr/>
        </p:nvPicPr>
        <p:blipFill>
          <a:blip r:embed="rId1"/>
          <a:srcRect l="-45238" r="-45238" t="0" b="0"/>
          <a:stretch/>
        </p:blipFill>
        <p:spPr>
          <a:xfrm>
            <a:off x="457200" y="1554480"/>
            <a:ext cx="73152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138160" y="1801368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6" name="Text 3"/>
          <p:cNvSpPr/>
          <p:nvPr/>
        </p:nvSpPr>
        <p:spPr>
          <a:xfrm>
            <a:off x="8366760" y="1627632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70B model, 8-bit, one sequence.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8138160" y="2551176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8" name="Text 5"/>
          <p:cNvSpPr/>
          <p:nvPr/>
        </p:nvSpPr>
        <p:spPr>
          <a:xfrm>
            <a:off x="8366760" y="23774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≈48 tokens/s ceiling on an H100.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138160" y="3300984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0" name="Text 7"/>
          <p:cNvSpPr/>
          <p:nvPr/>
        </p:nvSpPr>
        <p:spPr>
          <a:xfrm>
            <a:off x="8366760" y="3127248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~0.3% of the matrix throughput usable.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571500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</a:t>
            </a:r>
            <a:pPr indent="0" marL="0">
              <a:buNone/>
            </a:pPr>
            <a:r>
              <a:rPr lang="en-US" sz="14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amount of extra arithmetic moves this — it is set by memory bandwidth. This is the pressure that reshapes serving silicon.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FACTOR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per inference spans four orders of magnitude</a:t>
            </a:r>
            <a:endParaRPr lang="en-US" sz="3000" dirty="0"/>
          </a:p>
        </p:txBody>
      </p:sp>
      <p:pic>
        <p:nvPicPr>
          <p:cNvPr id="4" name="Image 0" descr="/sessions/compassionate-blissful-planck/mnt/outputs/deck_assets/wake_scope.png">    </p:cNvPr>
          <p:cNvPicPr>
            <a:picLocks noChangeAspect="1"/>
          </p:cNvPicPr>
          <p:nvPr/>
        </p:nvPicPr>
        <p:blipFill>
          <a:blip r:embed="rId1"/>
          <a:srcRect l="-45238" r="-45238" t="0" b="0"/>
          <a:stretch/>
        </p:blipFill>
        <p:spPr>
          <a:xfrm>
            <a:off x="457200" y="1554480"/>
            <a:ext cx="73152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138160" y="1801368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6" name="Text 3"/>
          <p:cNvSpPr/>
          <p:nvPr/>
        </p:nvSpPr>
        <p:spPr>
          <a:xfrm>
            <a:off x="8366760" y="1627632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tap: microwatts.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8138160" y="2551176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8" name="Text 5"/>
          <p:cNvSpPr/>
          <p:nvPr/>
        </p:nvSpPr>
        <p:spPr>
          <a:xfrm>
            <a:off x="8366760" y="23774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round-trip: ~watts.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138160" y="3300984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0" name="Text 7"/>
          <p:cNvSpPr/>
          <p:nvPr/>
        </p:nvSpPr>
        <p:spPr>
          <a:xfrm>
            <a:off x="8366760" y="3127248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domains wake sets the cost.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571500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</a:t>
            </a:r>
            <a:pPr indent="0" marL="0">
              <a:buNone/>
            </a:pPr>
            <a:r>
              <a:rPr lang="en-US" sz="14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always-on features are impossible on a GPU contract — the wake-scope bound is structural, not an efficiency gap.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FACTOR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Mixture-of-experts turns compute into communication</a:t>
            </a:r>
            <a:endParaRPr lang="en-US" sz="3000" dirty="0"/>
          </a:p>
        </p:txBody>
      </p:sp>
      <p:pic>
        <p:nvPicPr>
          <p:cNvPr id="4" name="Image 0" descr="/sessions/compassionate-blissful-planck/mnt/outputs/deck_assets/moe.png">    </p:cNvPr>
          <p:cNvPicPr>
            <a:picLocks noChangeAspect="1"/>
          </p:cNvPicPr>
          <p:nvPr/>
        </p:nvPicPr>
        <p:blipFill>
          <a:blip r:embed="rId1"/>
          <a:srcRect l="-78049" r="-78049" t="0" b="0"/>
          <a:stretch/>
        </p:blipFill>
        <p:spPr>
          <a:xfrm>
            <a:off x="1280160" y="1554480"/>
            <a:ext cx="9601200" cy="3749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71500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</a:t>
            </a:r>
            <a:pPr indent="0" marL="0">
              <a:buNone/>
            </a:pPr>
            <a:r>
              <a:rPr lang="en-US" sz="14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and all-to-all can be ~1/3 of step time — a bound in the fabric, not the math unit.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BASELINE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succeeds — until it meets physics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2544318" cy="2651760"/>
          </a:xfrm>
          <a:prstGeom prst="roundRect">
            <a:avLst>
              <a:gd name="adj" fmla="val 2875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254431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8C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3×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94360" y="3566160"/>
            <a:ext cx="22699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IO-aware attention (FlashAttention) throughput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67278" y="2011680"/>
            <a:ext cx="2544318" cy="2651760"/>
          </a:xfrm>
          <a:prstGeom prst="roundRect">
            <a:avLst>
              <a:gd name="adj" fmla="val 2875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67278" y="2331720"/>
            <a:ext cx="254431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6E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2–4×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504438" y="3566160"/>
            <a:ext cx="22699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paging / continuous batching (vLLM)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77356" y="2011680"/>
            <a:ext cx="2544318" cy="2651760"/>
          </a:xfrm>
          <a:prstGeom prst="roundRect">
            <a:avLst>
              <a:gd name="adj" fmla="val 2875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7356" y="2331720"/>
            <a:ext cx="254431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0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~34%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14516" y="3566160"/>
            <a:ext cx="22699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training step spent in MoE all-to-all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87434" y="2011680"/>
            <a:ext cx="2544318" cy="2651760"/>
          </a:xfrm>
          <a:prstGeom prst="roundRect">
            <a:avLst>
              <a:gd name="adj" fmla="val 2875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87434" y="2331720"/>
            <a:ext cx="254431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F9E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&lt;300 µW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324594" y="3566160"/>
            <a:ext cx="22699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keyword spotting budget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6232E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571500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gain is real; every gain eventually exposes a residual bound software cannot move. That residue is the case for hardware.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 defines six contracts</a:t>
            </a:r>
            <a:endParaRPr lang="en-US" sz="3000" dirty="0"/>
          </a:p>
        </p:txBody>
      </p:sp>
      <p:pic>
        <p:nvPicPr>
          <p:cNvPr id="4" name="Image 0" descr="/sessions/compassionate-blissful-planck/mnt/outputs/deck_assets/six_contracts.png">    </p:cNvPr>
          <p:cNvPicPr>
            <a:picLocks noChangeAspect="1"/>
          </p:cNvPicPr>
          <p:nvPr/>
        </p:nvPicPr>
        <p:blipFill>
          <a:blip r:embed="rId1"/>
          <a:srcRect l="-78049" r="-78049" t="0" b="0"/>
          <a:stretch/>
        </p:blipFill>
        <p:spPr>
          <a:xfrm>
            <a:off x="1280160" y="1554480"/>
            <a:ext cx="9601200" cy="3749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71500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</a:t>
            </a:r>
            <a:pPr indent="0" marL="0">
              <a:buNone/>
            </a:pPr>
            <a:r>
              <a:rPr lang="en-US" sz="14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signature stresses some contracts, not others — that mismatch is where a new architecture earns its place.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specialization justified? A four-condition test</a:t>
            </a:r>
            <a:endParaRPr lang="en-US" sz="3000" dirty="0"/>
          </a:p>
        </p:txBody>
      </p:sp>
      <p:pic>
        <p:nvPicPr>
          <p:cNvPr id="4" name="Image 0" descr="/sessions/compassionate-blissful-planck/mnt/outputs/deck_assets/necessity_cases.png">    </p:cNvPr>
          <p:cNvPicPr>
            <a:picLocks noChangeAspect="1"/>
          </p:cNvPicPr>
          <p:nvPr/>
        </p:nvPicPr>
        <p:blipFill>
          <a:blip r:embed="rId1"/>
          <a:srcRect l="-45238" r="-45238" t="0" b="0"/>
          <a:stretch/>
        </p:blipFill>
        <p:spPr>
          <a:xfrm>
            <a:off x="457200" y="1554480"/>
            <a:ext cx="73152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138160" y="1801368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6" name="Text 3"/>
          <p:cNvSpPr/>
          <p:nvPr/>
        </p:nvSpPr>
        <p:spPr>
          <a:xfrm>
            <a:off x="8366760" y="1627632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residual bound remains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8138160" y="2551176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8" name="Text 5"/>
          <p:cNvSpPr/>
          <p:nvPr/>
        </p:nvSpPr>
        <p:spPr>
          <a:xfrm>
            <a:off x="8366760" y="23774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it has a material consequence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138160" y="3300984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0" name="Text 7"/>
          <p:cNvSpPr/>
          <p:nvPr/>
        </p:nvSpPr>
        <p:spPr>
          <a:xfrm>
            <a:off x="8366760" y="3127248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hardware changes the bound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8138160" y="4050792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2" name="Text 9"/>
          <p:cNvSpPr/>
          <p:nvPr/>
        </p:nvSpPr>
        <p:spPr>
          <a:xfrm>
            <a:off x="8366760" y="3877056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lifetime economics repay it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571500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</a:t>
            </a:r>
            <a:pPr indent="0" marL="0">
              <a:buNone/>
            </a:pPr>
            <a:r>
              <a:rPr lang="en-US" sz="14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architecture, opposite verdicts. Condition 4 — volume and software cost — decides most cases.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VS SPECIALIZATION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GPU absorbs — and what it cannot</a:t>
            </a:r>
            <a:endParaRPr lang="en-US" sz="3000" dirty="0"/>
          </a:p>
        </p:txBody>
      </p:sp>
      <p:pic>
        <p:nvPicPr>
          <p:cNvPr id="4" name="Image 0" descr="/sessions/compassionate-blissful-planck/mnt/outputs/deck_assets/fig05-05-absorption-partition.png">    </p:cNvPr>
          <p:cNvPicPr>
            <a:picLocks noChangeAspect="1"/>
          </p:cNvPicPr>
          <p:nvPr/>
        </p:nvPicPr>
        <p:blipFill>
          <a:blip r:embed="rId1"/>
          <a:srcRect l="-78049" r="-78049" t="0" b="0"/>
          <a:stretch/>
        </p:blipFill>
        <p:spPr>
          <a:xfrm>
            <a:off x="1280160" y="1554480"/>
            <a:ext cx="9601200" cy="3749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71500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</a:t>
            </a:r>
            <a:pPr indent="0" marL="0">
              <a:buNone/>
            </a:pPr>
            <a:r>
              <a:rPr lang="en-US" sz="14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Absorbable bounds go to the platform; structural bounds (wake scope, determinism, near-sensor, cost floors) belong to specialists.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map: when uncertainty resolves × where state lives</a:t>
            </a:r>
            <a:endParaRPr lang="en-US" sz="3000" dirty="0"/>
          </a:p>
        </p:txBody>
      </p:sp>
      <p:pic>
        <p:nvPicPr>
          <p:cNvPr id="4" name="Image 0" descr="/sessions/compassionate-blissful-planck/mnt/outputs/deck_assets/fig06-01-family-landscape.png">    </p:cNvPr>
          <p:cNvPicPr>
            <a:picLocks noChangeAspect="1"/>
          </p:cNvPicPr>
          <p:nvPr/>
        </p:nvPicPr>
        <p:blipFill>
          <a:blip r:embed="rId1"/>
          <a:srcRect l="-78049" r="-78049" t="0" b="0"/>
          <a:stretch/>
        </p:blipFill>
        <p:spPr>
          <a:xfrm>
            <a:off x="1280160" y="1554480"/>
            <a:ext cx="9601200" cy="3749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71500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</a:t>
            </a:r>
            <a:pPr indent="0" marL="0">
              <a:buNone/>
            </a:pPr>
            <a:r>
              <a:rPr lang="en-US" sz="14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family is a displacement from the CPU/GPU baseline on these two axes — no point dominates.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FAMILIES, GROUPED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families = eight contract changes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578608" cy="2080260"/>
          </a:xfrm>
          <a:prstGeom prst="roundRect">
            <a:avLst>
              <a:gd name="adj" fmla="val 30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80136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E8C9B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1783080"/>
            <a:ext cx="1618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Systolic array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76656" y="2377440"/>
            <a:ext cx="2139696" cy="1165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from geometry; data flows through a grid.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55848" y="1600200"/>
            <a:ext cx="2578608" cy="2080260"/>
          </a:xfrm>
          <a:prstGeom prst="roundRect">
            <a:avLst>
              <a:gd name="adj" fmla="val 30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57016" y="180136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E8C9B"/>
          </a:solidFill>
          <a:ln/>
        </p:spPr>
      </p:sp>
      <p:sp>
        <p:nvSpPr>
          <p:cNvPr id="10" name="Text 8"/>
          <p:cNvSpPr/>
          <p:nvPr/>
        </p:nvSpPr>
        <p:spPr>
          <a:xfrm>
            <a:off x="4133088" y="1783080"/>
            <a:ext cx="1618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 processor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75304" y="2377440"/>
            <a:ext cx="2139696" cy="1165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Compiler-owned; matrix engine + managed SRAM (TPU).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54496" y="1600200"/>
            <a:ext cx="2578608" cy="2080260"/>
          </a:xfrm>
          <a:prstGeom prst="roundRect">
            <a:avLst>
              <a:gd name="adj" fmla="val 30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55664" y="180136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6E9E"/>
          </a:solidFill>
          <a:ln/>
        </p:spPr>
      </p:sp>
      <p:sp>
        <p:nvSpPr>
          <p:cNvPr id="14" name="Text 12"/>
          <p:cNvSpPr/>
          <p:nvPr/>
        </p:nvSpPr>
        <p:spPr>
          <a:xfrm>
            <a:off x="7031736" y="1783080"/>
            <a:ext cx="1618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Dataflow / tile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73952" y="2377440"/>
            <a:ext cx="2139696" cy="1165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schedule; deterministic, low-latency (Groq).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153144" y="1600200"/>
            <a:ext cx="2578608" cy="2080260"/>
          </a:xfrm>
          <a:prstGeom prst="roundRect">
            <a:avLst>
              <a:gd name="adj" fmla="val 30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54312" y="180136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6E9E"/>
          </a:solidFill>
          <a:ln/>
        </p:spPr>
      </p:sp>
      <p:sp>
        <p:nvSpPr>
          <p:cNvPr id="18" name="Text 16"/>
          <p:cNvSpPr/>
          <p:nvPr/>
        </p:nvSpPr>
        <p:spPr>
          <a:xfrm>
            <a:off x="9930384" y="1783080"/>
            <a:ext cx="1618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NPU / near-sensor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372600" y="2377440"/>
            <a:ext cx="2139696" cy="1165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Power-domain-first; wake-scope energy (mobile, µNPU).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3954780"/>
            <a:ext cx="2578608" cy="2080260"/>
          </a:xfrm>
          <a:prstGeom prst="roundRect">
            <a:avLst>
              <a:gd name="adj" fmla="val 30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415594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8A2B"/>
          </a:solidFill>
          <a:ln/>
        </p:spPr>
      </p:sp>
      <p:sp>
        <p:nvSpPr>
          <p:cNvPr id="22" name="Text 20"/>
          <p:cNvSpPr/>
          <p:nvPr/>
        </p:nvSpPr>
        <p:spPr>
          <a:xfrm>
            <a:off x="1234440" y="4137660"/>
            <a:ext cx="1618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/ reconfigurable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6656" y="4732020"/>
            <a:ext cx="2139696" cy="1165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set after manufacturing; flexibility.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355848" y="3954780"/>
            <a:ext cx="2578608" cy="2080260"/>
          </a:xfrm>
          <a:prstGeom prst="roundRect">
            <a:avLst>
              <a:gd name="adj" fmla="val 30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57016" y="415594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8A2B"/>
          </a:solidFill>
          <a:ln/>
        </p:spPr>
      </p:sp>
      <p:sp>
        <p:nvSpPr>
          <p:cNvPr id="26" name="Text 24"/>
          <p:cNvSpPr/>
          <p:nvPr/>
        </p:nvSpPr>
        <p:spPr>
          <a:xfrm>
            <a:off x="4133088" y="4137660"/>
            <a:ext cx="1618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Wafer-scale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575304" y="4732020"/>
            <a:ext cx="2139696" cy="1165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wafer; inter-chip comms become on-wafer.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254496" y="3954780"/>
            <a:ext cx="2578608" cy="2080260"/>
          </a:xfrm>
          <a:prstGeom prst="roundRect">
            <a:avLst>
              <a:gd name="adj" fmla="val 30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55664" y="415594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3F9E6A"/>
          </a:solidFill>
          <a:ln/>
        </p:spPr>
      </p:sp>
      <p:sp>
        <p:nvSpPr>
          <p:cNvPr id="30" name="Text 28"/>
          <p:cNvSpPr/>
          <p:nvPr/>
        </p:nvSpPr>
        <p:spPr>
          <a:xfrm>
            <a:off x="7031736" y="4137660"/>
            <a:ext cx="1618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Memory-centric / PIM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473952" y="4732020"/>
            <a:ext cx="2139696" cy="1165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moves to the data; interface carries results.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9153144" y="3954780"/>
            <a:ext cx="2578608" cy="2080260"/>
          </a:xfrm>
          <a:prstGeom prst="roundRect">
            <a:avLst>
              <a:gd name="adj" fmla="val 30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354312" y="415594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6232E"/>
          </a:solidFill>
          <a:ln/>
        </p:spPr>
      </p:sp>
      <p:sp>
        <p:nvSpPr>
          <p:cNvPr id="34" name="Text 32"/>
          <p:cNvSpPr/>
          <p:nvPr/>
        </p:nvSpPr>
        <p:spPr>
          <a:xfrm>
            <a:off x="9930384" y="4137660"/>
            <a:ext cx="1618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Neuromorphic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372600" y="4732020"/>
            <a:ext cx="2139696" cy="11658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Event-driven; energy ∝ activity (forward-looking).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57200" y="60807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</a:t>
            </a:r>
            <a:pPr indent="0" marL="0">
              <a:buNone/>
            </a:pPr>
            <a:r>
              <a:rPr lang="en-US" sz="135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by contract changed, not by company — the taxonomy outlives the products.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SECURE TERRITORY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NPUs own the client and edge</a:t>
            </a:r>
            <a:endParaRPr lang="en-US" sz="3000" dirty="0"/>
          </a:p>
        </p:txBody>
      </p:sp>
      <p:pic>
        <p:nvPicPr>
          <p:cNvPr id="4" name="Image 0" descr="/sessions/compassionate-blissful-planck/mnt/outputs/deck_assets/npu_domains.png">    </p:cNvPr>
          <p:cNvPicPr>
            <a:picLocks noChangeAspect="1"/>
          </p:cNvPicPr>
          <p:nvPr/>
        </p:nvPicPr>
        <p:blipFill>
          <a:blip r:embed="rId1"/>
          <a:srcRect l="-45238" r="-45238" t="0" b="0"/>
          <a:stretch/>
        </p:blipFill>
        <p:spPr>
          <a:xfrm>
            <a:off x="457200" y="1554480"/>
            <a:ext cx="73152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138160" y="1801368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6" name="Text 3"/>
          <p:cNvSpPr/>
          <p:nvPr/>
        </p:nvSpPr>
        <p:spPr>
          <a:xfrm>
            <a:off x="8366760" y="1627632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= energy + wake scope.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8138160" y="2551176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8" name="Text 5"/>
          <p:cNvSpPr/>
          <p:nvPr/>
        </p:nvSpPr>
        <p:spPr>
          <a:xfrm>
            <a:off x="8366760" y="23774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Coverage, not TOPS, decides.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138160" y="3300984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0" name="Text 7"/>
          <p:cNvSpPr/>
          <p:nvPr/>
        </p:nvSpPr>
        <p:spPr>
          <a:xfrm>
            <a:off x="8366760" y="3127248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behavior is everything.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571500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</a:t>
            </a:r>
            <a:pPr indent="0" marL="0">
              <a:buNone/>
            </a:pPr>
            <a:r>
              <a:rPr lang="en-US" sz="14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Wake-scope energy and per-unit cost floors are structurally outside the GPU contract.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LEVER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Memory-centric designs attack the measured bounds</a:t>
            </a:r>
            <a:endParaRPr lang="en-US" sz="3000" dirty="0"/>
          </a:p>
        </p:txBody>
      </p:sp>
      <p:pic>
        <p:nvPicPr>
          <p:cNvPr id="4" name="Image 0" descr="/sessions/compassionate-blissful-planck/mnt/outputs/deck_assets/pim_flavors.png">    </p:cNvPr>
          <p:cNvPicPr>
            <a:picLocks noChangeAspect="1"/>
          </p:cNvPicPr>
          <p:nvPr/>
        </p:nvPicPr>
        <p:blipFill>
          <a:blip r:embed="rId1"/>
          <a:srcRect l="-78049" r="-78049" t="0" b="0"/>
          <a:stretch/>
        </p:blipFill>
        <p:spPr>
          <a:xfrm>
            <a:off x="1280160" y="1554480"/>
            <a:ext cx="9601200" cy="3749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71500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</a:t>
            </a:r>
            <a:pPr indent="0" marL="0">
              <a:buNone/>
            </a:pPr>
            <a:r>
              <a:rPr lang="en-US" sz="14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condition-3 case in the survey — gated only by the lack of a portable programming model.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CONTINUUM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families, different binding constraints</a:t>
            </a:r>
            <a:endParaRPr lang="en-US" sz="3000" dirty="0"/>
          </a:p>
        </p:txBody>
      </p:sp>
      <p:pic>
        <p:nvPicPr>
          <p:cNvPr id="4" name="Image 0" descr="/sessions/compassionate-blissful-planck/mnt/outputs/deck_assets/fig06-10-continuum-fit.png">    </p:cNvPr>
          <p:cNvPicPr>
            <a:picLocks noChangeAspect="1"/>
          </p:cNvPicPr>
          <p:nvPr/>
        </p:nvPicPr>
        <p:blipFill>
          <a:blip r:embed="rId1"/>
          <a:srcRect l="-78049" r="-78049" t="0" b="0"/>
          <a:stretch/>
        </p:blipFill>
        <p:spPr>
          <a:xfrm>
            <a:off x="1280160" y="1554480"/>
            <a:ext cx="9601200" cy="3749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71500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</a:t>
            </a:r>
            <a:pPr indent="0" marL="0">
              <a:buNone/>
            </a:pPr>
            <a:r>
              <a:rPr lang="en-US" sz="14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migrate both ways; implementations diverge because each deployment prices the stressors differently.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LANDSCAPE, GROUPED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groups, one deciding variable</a:t>
            </a:r>
            <a:endParaRPr lang="en-US" sz="3000" dirty="0"/>
          </a:p>
        </p:txBody>
      </p:sp>
      <p:pic>
        <p:nvPicPr>
          <p:cNvPr id="4" name="Image 0" descr="/sessions/compassionate-blissful-planck/mnt/outputs/deck_assets/grouped_landscape.png">    </p:cNvPr>
          <p:cNvPicPr>
            <a:picLocks noChangeAspect="1"/>
          </p:cNvPicPr>
          <p:nvPr/>
        </p:nvPicPr>
        <p:blipFill>
          <a:blip r:embed="rId1"/>
          <a:srcRect l="-78049" r="-78049" t="0" b="0"/>
          <a:stretch/>
        </p:blipFill>
        <p:spPr>
          <a:xfrm>
            <a:off x="1280160" y="1554480"/>
            <a:ext cx="9601200" cy="3749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71500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</a:t>
            </a:r>
            <a:pPr indent="0" marL="0">
              <a:buNone/>
            </a:pPr>
            <a:r>
              <a:rPr lang="en-US" sz="14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challengers failed on architecture — every trajectory was decided by condition 4.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decides — architecture held constant</a:t>
            </a:r>
            <a:endParaRPr lang="en-US" sz="3000" dirty="0"/>
          </a:p>
        </p:txBody>
      </p:sp>
      <p:pic>
        <p:nvPicPr>
          <p:cNvPr id="4" name="Image 0" descr="/sessions/compassionate-blissful-planck/mnt/outputs/deck_assets/break_even.png">    </p:cNvPr>
          <p:cNvPicPr>
            <a:picLocks noChangeAspect="1"/>
          </p:cNvPicPr>
          <p:nvPr/>
        </p:nvPicPr>
        <p:blipFill>
          <a:blip r:embed="rId1"/>
          <a:srcRect l="-45238" r="-45238" t="0" b="0"/>
          <a:stretch/>
        </p:blipFill>
        <p:spPr>
          <a:xfrm>
            <a:off x="457200" y="1554480"/>
            <a:ext cx="73152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138160" y="1801368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6" name="Text 3"/>
          <p:cNvSpPr/>
          <p:nvPr/>
        </p:nvSpPr>
        <p:spPr>
          <a:xfrm>
            <a:off x="8366760" y="1627632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 ≈ software enablement.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8138160" y="2551176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8" name="Text 5"/>
          <p:cNvSpPr/>
          <p:nvPr/>
        </p:nvSpPr>
        <p:spPr>
          <a:xfrm>
            <a:off x="8366760" y="23774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savings scale with volume.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138160" y="3300984"/>
            <a:ext cx="109728" cy="1097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0" name="Text 7"/>
          <p:cNvSpPr/>
          <p:nvPr/>
        </p:nvSpPr>
        <p:spPr>
          <a:xfrm>
            <a:off x="8366760" y="3127248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Flexibility has option value.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5715000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</a:t>
            </a:r>
            <a:pPr indent="0" marL="0">
              <a:buNone/>
            </a:pPr>
            <a:r>
              <a:rPr lang="en-US" sz="14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a volume threshold, no efficiency percentage rescues the case; above it, small percentages justify large programs.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9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holds across the whole picture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477256" cy="1295400"/>
          </a:xfrm>
          <a:prstGeom prst="roundRect">
            <a:avLst>
              <a:gd name="adj" fmla="val 4941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80136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E8C9B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783080"/>
            <a:ext cx="45171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converges on physics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76656" y="2377440"/>
            <a:ext cx="5038344" cy="381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transitions are software succeeding until it exposes a hard, measurable bound.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4496" y="1600200"/>
            <a:ext cx="5477256" cy="1295400"/>
          </a:xfrm>
          <a:prstGeom prst="roundRect">
            <a:avLst>
              <a:gd name="adj" fmla="val 4941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55664" y="180136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E6E9E"/>
          </a:solidFill>
          <a:ln/>
        </p:spPr>
      </p:sp>
      <p:sp>
        <p:nvSpPr>
          <p:cNvPr id="11" name="Text 9"/>
          <p:cNvSpPr/>
          <p:nvPr/>
        </p:nvSpPr>
        <p:spPr>
          <a:xfrm>
            <a:off x="6455664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31736" y="1783080"/>
            <a:ext cx="45171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 is decidable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2377440"/>
            <a:ext cx="5038344" cy="381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four-condition test returns specialize / market-no / stay-on-GPU — from measurable inputs.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169920"/>
            <a:ext cx="5477256" cy="1295400"/>
          </a:xfrm>
          <a:prstGeom prst="roundRect">
            <a:avLst>
              <a:gd name="adj" fmla="val 4941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337108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8A2B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3371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3352800"/>
            <a:ext cx="45171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4 dominates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76656" y="3947160"/>
            <a:ext cx="5038344" cy="381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capital, volume, and distribution decide outcomes more than silicon merit.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4496" y="3169920"/>
            <a:ext cx="5477256" cy="1295400"/>
          </a:xfrm>
          <a:prstGeom prst="roundRect">
            <a:avLst>
              <a:gd name="adj" fmla="val 4941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55664" y="337108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3F9E6A"/>
          </a:solidFill>
          <a:ln/>
        </p:spPr>
      </p:sp>
      <p:sp>
        <p:nvSpPr>
          <p:cNvPr id="21" name="Text 19"/>
          <p:cNvSpPr/>
          <p:nvPr/>
        </p:nvSpPr>
        <p:spPr>
          <a:xfrm>
            <a:off x="6455664" y="3371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31736" y="3352800"/>
            <a:ext cx="45171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Families, not a successor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73952" y="3947160"/>
            <a:ext cx="5038344" cy="381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changes a contract the GPU cannot adopt without ceasing to be a GPU.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4739640"/>
            <a:ext cx="5477256" cy="1295400"/>
          </a:xfrm>
          <a:prstGeom prst="roundRect">
            <a:avLst>
              <a:gd name="adj" fmla="val 4941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494080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6232E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" y="49408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234440" y="4922520"/>
            <a:ext cx="45171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Bounds moved to memory &amp; power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76656" y="5516880"/>
            <a:ext cx="5038344" cy="381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Capacity, bandwidth, fabric, and facility power now separate contenders — not FLOPS.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254496" y="4739640"/>
            <a:ext cx="5477256" cy="1295400"/>
          </a:xfrm>
          <a:prstGeom prst="roundRect">
            <a:avLst>
              <a:gd name="adj" fmla="val 4941"/>
            </a:avLst>
          </a:prstGeom>
          <a:solidFill>
            <a:srgbClr val="F4F7F8"/>
          </a:solidFill>
          <a:ln w="12700">
            <a:solidFill>
              <a:srgbClr val="E7ECE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55664" y="494080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63947"/>
          </a:solidFill>
          <a:ln/>
        </p:spPr>
      </p:sp>
      <p:sp>
        <p:nvSpPr>
          <p:cNvPr id="31" name="Text 29"/>
          <p:cNvSpPr/>
          <p:nvPr/>
        </p:nvSpPr>
        <p:spPr>
          <a:xfrm>
            <a:off x="6455664" y="49408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031736" y="4922520"/>
            <a:ext cx="45171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continuum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473952" y="5516880"/>
            <a:ext cx="5038344" cy="381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9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taxonomy reads microwatt silicon and megawatt pods.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ARGUMENT IN ONE SENTENCE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2103120"/>
            <a:ext cx="10698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optimization succeeds until it exposes a bound; the bound is absorbed by the GPU platform, escaped by changing a contract, or lived with — and the deployment class decides which.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77240" y="5852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7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— signatures, contracts, families, economics — is the machinery that makes that choice decidable.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GPU — 1-hour walkthrough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2026-07-19T02:36:51Z</dcterms:created>
  <dcterms:modified xsi:type="dcterms:W3CDTF">2026-07-19T02:36:51Z</dcterms:modified>
</cp:coreProperties>
</file>