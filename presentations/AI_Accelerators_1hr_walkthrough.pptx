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Two hardware transitions: CPU→GPU, and now GPU→specialized accelerators. Audience is software/systems, so I introduce each hardware concept conceptually. Core thesis: software optimization keeps hitting PHYSICAL limits — the limits, not software failure, drive specialization. Set expectation: light on products, heavy on the physics and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Deliberately NOT a product tour — the products change every quarter; the framework doesn't. Six movements. Tell them the payoff up front: by the end they'll have a repeatable test for "is a specialized accelerator justified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for a software audience — spend ~2 min. The two ideas to plant: (1) HBM bandwidth, not FLOPS, is usually the scarce resource; (2) "contract" — hardware makes promises to software, and specialization means CHANGING one of those promises. TOPS is marketing; return to this when we hit the client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organizing thesis. Both transitions occurred because software optimization exposed limits it could no longer move economically — not because software failed. Stress: each transition ADDS an execution domain; CPUs and GPUs don't go away. The three lanes (datacenter / mobile / embedded) hit the SAME pattern under DIFFERENT dominant constraints — we'll follow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hardware fact for software people. Horowitz 45nm numbers: an FP add ~0.9 pJ; a DRAM word read ~640 pJ — roughly 700×. So the bottleneck and the energy bill are set by data movement, not by the math unit. This one slide justifies almost every family later: they all move less data or move it a shorter distance. (Numbers are process-node specific but the ratio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not one thing — it's a ladder trading capacity for latency and energy. "Memory-bound" hides many distinct problems: bandwidth, capacity, cache-line overfetch, irregular access, too little reuse. Caches only pay off when the working set is reused before eviction. Each rung is a different lever a specialized design can pull — remember this at the families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transistors go. CPU spends area on making diverse, branchy code fast at low latency (caches, prediction, out-of-order). GPU spends it on many throughput lanes. Specialization is just the next step on the same axis: narrow the job further, get more useful work per mm² and per joule — but only for work that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keystone worked example. Generating one token for one sequence means streaming ALL ~70 GB of weights through HBM. At ~3.35 TB/s that's ~48 tokens/s — and you use ~0.3% of the matrix throughput. Author-computed from published datasheets; idealized upper bound. Punchline: adding FLOPS does nothing; only batching (amortize weight reads across sequences) or a changed memory contract helps. This is WHY 2025-26 silicon is going "inference-first" and memory-first.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"Wake scope" = which power domains must be awake to answer. It spans ~4 orders of magnitude, microwatts (always-on keyword spotting) to watts (cloud round-trip). Key: an always-on feature isn't just cheaper on a tiny engine — it's IMPOSSIBLE within a phone's battery budget on a GPU's submission/memory contract. This is a structural bound, and it's the strongest beyond-GPU territory (comes back at the NPU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Mixture-of-experts routes each token to a few experts, which may live on different devices. The all-to-all exchange can be ~1/3 of a training step. So as models get sparser, the bottleneck moves into the NETWORK FABRIC, not the arithmetic — which is why interconnect (NVLink, UALink, Ethernet) becomes a competitive axis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software first — this earns credibility. FlashAttention ~3× from IO-awareness, vLLM 2-4× from paged KV + continuous batching. These are huge and real. BUT each success reveals a residual bound it can't cross (MoE all-to-all still ~34%; always-on still &lt;300µW). The hardware case is exactly that RESIDUE — never "software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part 1. Any processor makes six promises to software: execution, data placement, numerical, scheduling, communication, software/tooling. A workload's "signature" stresses only SOME of them. A new architecture is justified only where it changes a contract the workload actually stresses — otherwise you've built a faster answer to a question nobody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part 2 — the test that makes the whole talk decidable. Four conditions, ALL must hold. Three real outcomes from identical reasoning: TPU v1 → specialize (all four held, published 15-30× throughput, 30-80× perf/W under latency SLOs); Nervana/Graphcore → good silicon, condition 4 failed (no volume, CUDA switching cost); enterprise private serving → stay on GPU (conditions 2 &amp; 4 fail). Condition 4 = volume + software enablement cost — it decides the majority of real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GPU keeps winning the middle — and where it can't. ABSORBED into the GPU platform: matrix density, narrow precision (FP8/FP4), movement overhead, scale-up comms — these just become GPU features (tensor cores, NVLink). STRUCTURALLY NOT absorbable: wake-scope energy, provable worst-case timing, near-sensor locality, embedded cost floors — absorbing them would mean abandoning what makes a GPU a GPU. The CONTESTED middle (low-batch decode, MoE routing, near-memory lookup) is exactly where the commercial fights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organize every family. Horizontal: WHEN execution uncertainty is resolved — runtime (GPU) → compile time (tensor/dataflow) → design time (fixed-function) → input-driven (neuromorphic). Vertical: WHERE state lives relative to arithmetic — DRAM → on-chip SRAM → inside memory. Every family is a displacement from the CPU/GPU baseline. No point dominates — each purchase of efficiency narrows a envelope — which is why the landscape stays permanently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families — each is ONE contract change, not "a faster chip." Read them as answers to "which promise did you renegotiate?": systolic = reuse geometry; tensor processor = compiler owns the schedule; dataflow = static, deterministic timing; NPU = design around power domains; FPGA = set structure after manufacturing; wafer-scale = make inter-chip comms on-wafer; PIM = move compute into memory; neuromorphic = let the input schedule the machine. Grouped by contract, not vendor — that's why the taxonomy outlives the product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this is an OBSERVATION about ubiquity + structural fit, NOT a claim that NPUs do most client AI compute. Hard facts (class A): every mainstream client SoC ships an NPU; Microsoft Copilot+ mandates ≥40 TOPS (Intel ~48, AMD ~50, Qualcomm 45-85, Apple Neural Engine in every chip since 2017). They're positioned for sustained/ambient low-power work. COUNTER-FACT: heavy local generative inference still runs mostly on the client GPU (CUDA/DirectML) — PCWorld's "the great NPU failure" — because NPU software/operator coverage lags; measured NPU utilization is low. So TOPS ≠ usage. The defensible claim is the takeaway: wake-scope energy and per-unit cost floors are structurally OUTSIDE the GPU contract, so the edge is where specialization is safest. If asked "observation or prediction?": mostly observation (ubiquity + structural niche) plus a conditional forward claim; the word "own" overstates and I've softened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Processing-in-memory attacks exactly the bounds we measured (decode streaming, embedding gather, mobile wake energy). Three flavors: in-DRAM SIMD (Samsung Aquabolt-XL, UPMEM), all-SRAM inference (IBM NorthPole), tiered capacity (SambaNova SN40L). It has the STRONGEST condition-3 case in the survey — the lever genuinely changes the bound, doesn't just relocate it. Gated by ONE thing: no portable programming model. Watch for the first mainstream part whose datasheet advertises in-memory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families appear from microwatt silicon to megawatt pods — resized against different binding constraints. Ideas migrate BOTH ways: unified memory and power discipline go up from phones into the datacenter; quantization and compilation come down. Implementations diverge because each deployment class prices the stressors differently (rack power vs battery, tenancy vs wake scope). Argues for ONE shared taxonomy, not two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landscape in three buckets, read through condition 4 — NOT a product catalog. (1) GPU incumbents (NVIDIA, AMD): absorb bounds, sell rack-scale. (2) Hyperscaler tensor processors (TPU, Trainium, Maia, MTIA): condition 4 met at owner scale — every major cloud now builds one. (3) Independent challengers: Groq licensed into NVIDIA, Cerebras survives on anchor tenancy + IPO, Tenstorrent in acquisition talks, SambaNova an appliance vendor. Punchline: NONE failed on architecture — every outcome was decided by software capital, volume, and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Economics in one chart (numbers illustrative). The fixed cost of specialization is dominated by SOFTWARE enablement (compiler, validation, migration), not silicon. Recurring savings scale with volume; the fixed cost doesn't. So there's a volume threshold: below it, no efficiency percentage rescues the case; above it, even small percentages justify huge programs. This is the arithmetic behind "same architecture, opposite verdicts" — hyperscale vs enterprise differ mainly in the denominator. Also price flexibility as option value: a 20% win today assumes the workload holds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findings, each traceable to evidence shown earlier. The two to leave ringing: (C) condition 4 — software capital — decides most outcomes, so audit the software stack before comparing silicon; and (E) the bounds have moved to memory, fabric, and facility power — arithmetic peak no longer separates serious contenders. If they remember one test, it's the four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one-sentence summary and stop. Software succeeds until it exposes a bound; that bound is absorbed / escaped by changing a contract / lived with — and the DEPLOYMENT CLASS decides which. Invite the necessity test as the takeaway tool. Q&amp;A prompts likely: NPU-vs-GPU on client, whether hyperscaler silicon kills NVIDIA (no — absorption + condition 4), and PIM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rgbClr val="0E8C9B"/>
          </a:solidFill>
          <a:ln/>
        </p:spPr>
      </p:sp>
      <p:sp>
        <p:nvSpPr>
          <p:cNvPr id="3" name="Text 1"/>
          <p:cNvSpPr/>
          <p:nvPr/>
        </p:nvSpPr>
        <p:spPr>
          <a:xfrm>
            <a:off x="731520" y="2011680"/>
            <a:ext cx="10698480" cy="16459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Beyond the GPU</a:t>
            </a:r>
            <a:endParaRPr lang="en-US" sz="4800" dirty="0"/>
          </a:p>
        </p:txBody>
      </p:sp>
      <p:sp>
        <p:nvSpPr>
          <p:cNvPr id="4" name="Text 2"/>
          <p:cNvSpPr/>
          <p:nvPr/>
        </p:nvSpPr>
        <p:spPr>
          <a:xfrm>
            <a:off x="777240" y="3566160"/>
            <a:ext cx="10424160" cy="914400"/>
          </a:xfrm>
          <a:prstGeom prst="rect">
            <a:avLst/>
          </a:prstGeom>
          <a:noFill/>
          <a:ln/>
        </p:spPr>
        <p:txBody>
          <a:bodyPr wrap="square" rtlCol="0" anchor="ctr"/>
          <a:lstStyle/>
          <a:p>
            <a:pPr indent="0" marL="0">
              <a:buNone/>
            </a:pPr>
            <a:r>
              <a:rPr lang="en-US" sz="2000" dirty="0">
                <a:solidFill>
                  <a:srgbClr val="E7ECEF"/>
                </a:solidFill>
                <a:latin typeface="Calibri" pitchFamily="34" charset="0"/>
                <a:ea typeface="Calibri" pitchFamily="34" charset="-122"/>
                <a:cs typeface="Calibri" pitchFamily="34" charset="-120"/>
              </a:rPr>
              <a:t>Why AI is driving a second hardware transition — a systems view for software engineers</a:t>
            </a:r>
            <a:endParaRPr lang="en-US" sz="2000" dirty="0"/>
          </a:p>
        </p:txBody>
      </p:sp>
      <p:sp>
        <p:nvSpPr>
          <p:cNvPr id="5" name="Text 3"/>
          <p:cNvSpPr/>
          <p:nvPr/>
        </p:nvSpPr>
        <p:spPr>
          <a:xfrm>
            <a:off x="777240" y="6199632"/>
            <a:ext cx="100584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Condensed walkthrough  ·  ~1 hour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Where we are going</a:t>
            </a:r>
            <a:endParaRPr lang="en-US" sz="3000" dirty="0"/>
          </a:p>
        </p:txBody>
      </p:sp>
      <p:sp>
        <p:nvSpPr>
          <p:cNvPr id="4" name="Shape 2"/>
          <p:cNvSpPr/>
          <p:nvPr/>
        </p:nvSpPr>
        <p:spPr>
          <a:xfrm>
            <a:off x="457200" y="1600200"/>
            <a:ext cx="3544824" cy="2034540"/>
          </a:xfrm>
          <a:prstGeom prst="roundRect">
            <a:avLst>
              <a:gd name="adj" fmla="val 3146"/>
            </a:avLst>
          </a:prstGeom>
          <a:solidFill>
            <a:srgbClr val="F4F7F8"/>
          </a:solidFill>
          <a:ln w="12700">
            <a:solidFill>
              <a:srgbClr val="E7ECEF"/>
            </a:solidFill>
            <a:prstDash val="solid"/>
          </a:ln>
        </p:spPr>
      </p:sp>
      <p:sp>
        <p:nvSpPr>
          <p:cNvPr id="5" name="Shape 3"/>
          <p:cNvSpPr/>
          <p:nvPr/>
        </p:nvSpPr>
        <p:spPr>
          <a:xfrm>
            <a:off x="658368" y="1801368"/>
            <a:ext cx="457200" cy="457200"/>
          </a:xfrm>
          <a:prstGeom prst="roundRect">
            <a:avLst>
              <a:gd name="adj" fmla="val 12000"/>
            </a:avLst>
          </a:prstGeom>
          <a:solidFill>
            <a:srgbClr val="0E8C9B"/>
          </a:solidFill>
          <a:ln/>
        </p:spPr>
      </p:sp>
      <p:sp>
        <p:nvSpPr>
          <p:cNvPr id="6" name="Text 4"/>
          <p:cNvSpPr/>
          <p:nvPr/>
        </p:nvSpPr>
        <p:spPr>
          <a:xfrm>
            <a:off x="658368" y="18013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234440" y="178308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The driving factors</a:t>
            </a:r>
            <a:endParaRPr lang="en-US" sz="1450" dirty="0"/>
          </a:p>
        </p:txBody>
      </p:sp>
      <p:sp>
        <p:nvSpPr>
          <p:cNvPr id="8" name="Text 6"/>
          <p:cNvSpPr/>
          <p:nvPr/>
        </p:nvSpPr>
        <p:spPr>
          <a:xfrm>
            <a:off x="676656" y="2377440"/>
            <a:ext cx="3105912"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The physical pressures that push work off the GPU: data movement, memory bandwidth, energy, determinism.</a:t>
            </a:r>
            <a:endParaRPr lang="en-US" sz="1200" dirty="0"/>
          </a:p>
        </p:txBody>
      </p:sp>
      <p:sp>
        <p:nvSpPr>
          <p:cNvPr id="9" name="Shape 7"/>
          <p:cNvSpPr/>
          <p:nvPr/>
        </p:nvSpPr>
        <p:spPr>
          <a:xfrm>
            <a:off x="4322064" y="1600200"/>
            <a:ext cx="3544824" cy="2034540"/>
          </a:xfrm>
          <a:prstGeom prst="roundRect">
            <a:avLst>
              <a:gd name="adj" fmla="val 3146"/>
            </a:avLst>
          </a:prstGeom>
          <a:solidFill>
            <a:srgbClr val="F4F7F8"/>
          </a:solidFill>
          <a:ln w="12700">
            <a:solidFill>
              <a:srgbClr val="E7ECEF"/>
            </a:solidFill>
            <a:prstDash val="solid"/>
          </a:ln>
        </p:spPr>
      </p:sp>
      <p:sp>
        <p:nvSpPr>
          <p:cNvPr id="10" name="Shape 8"/>
          <p:cNvSpPr/>
          <p:nvPr/>
        </p:nvSpPr>
        <p:spPr>
          <a:xfrm>
            <a:off x="4523232" y="1801368"/>
            <a:ext cx="457200" cy="457200"/>
          </a:xfrm>
          <a:prstGeom prst="roundRect">
            <a:avLst>
              <a:gd name="adj" fmla="val 12000"/>
            </a:avLst>
          </a:prstGeom>
          <a:solidFill>
            <a:srgbClr val="2E6E9E"/>
          </a:solidFill>
          <a:ln/>
        </p:spPr>
      </p:sp>
      <p:sp>
        <p:nvSpPr>
          <p:cNvPr id="11" name="Text 9"/>
          <p:cNvSpPr/>
          <p:nvPr/>
        </p:nvSpPr>
        <p:spPr>
          <a:xfrm>
            <a:off x="4523232" y="18013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5099304" y="178308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The decision framework</a:t>
            </a:r>
            <a:endParaRPr lang="en-US" sz="1450" dirty="0"/>
          </a:p>
        </p:txBody>
      </p:sp>
      <p:sp>
        <p:nvSpPr>
          <p:cNvPr id="13" name="Text 11"/>
          <p:cNvSpPr/>
          <p:nvPr/>
        </p:nvSpPr>
        <p:spPr>
          <a:xfrm>
            <a:off x="4541520" y="2377440"/>
            <a:ext cx="3105912"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Six architectural contracts and a four-condition test for when specialization is actually justified.</a:t>
            </a:r>
            <a:endParaRPr lang="en-US" sz="1200" dirty="0"/>
          </a:p>
        </p:txBody>
      </p:sp>
      <p:sp>
        <p:nvSpPr>
          <p:cNvPr id="14" name="Shape 12"/>
          <p:cNvSpPr/>
          <p:nvPr/>
        </p:nvSpPr>
        <p:spPr>
          <a:xfrm>
            <a:off x="8186928" y="1600200"/>
            <a:ext cx="3544824" cy="2034540"/>
          </a:xfrm>
          <a:prstGeom prst="roundRect">
            <a:avLst>
              <a:gd name="adj" fmla="val 3146"/>
            </a:avLst>
          </a:prstGeom>
          <a:solidFill>
            <a:srgbClr val="F4F7F8"/>
          </a:solidFill>
          <a:ln w="12700">
            <a:solidFill>
              <a:srgbClr val="E7ECEF"/>
            </a:solidFill>
            <a:prstDash val="solid"/>
          </a:ln>
        </p:spPr>
      </p:sp>
      <p:sp>
        <p:nvSpPr>
          <p:cNvPr id="15" name="Shape 13"/>
          <p:cNvSpPr/>
          <p:nvPr/>
        </p:nvSpPr>
        <p:spPr>
          <a:xfrm>
            <a:off x="8388096" y="1801368"/>
            <a:ext cx="457200" cy="457200"/>
          </a:xfrm>
          <a:prstGeom prst="roundRect">
            <a:avLst>
              <a:gd name="adj" fmla="val 12000"/>
            </a:avLst>
          </a:prstGeom>
          <a:solidFill>
            <a:srgbClr val="E08A2B"/>
          </a:solidFill>
          <a:ln/>
        </p:spPr>
      </p:sp>
      <p:sp>
        <p:nvSpPr>
          <p:cNvPr id="16" name="Text 14"/>
          <p:cNvSpPr/>
          <p:nvPr/>
        </p:nvSpPr>
        <p:spPr>
          <a:xfrm>
            <a:off x="8388096" y="18013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964168" y="178308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The families</a:t>
            </a:r>
            <a:endParaRPr lang="en-US" sz="1450" dirty="0"/>
          </a:p>
        </p:txBody>
      </p:sp>
      <p:sp>
        <p:nvSpPr>
          <p:cNvPr id="18" name="Text 16"/>
          <p:cNvSpPr/>
          <p:nvPr/>
        </p:nvSpPr>
        <p:spPr>
          <a:xfrm>
            <a:off x="8406384" y="2377440"/>
            <a:ext cx="3105912"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How beyond-GPU accelerators group by which contract they change — not by vendor.</a:t>
            </a:r>
            <a:endParaRPr lang="en-US" sz="1200" dirty="0"/>
          </a:p>
        </p:txBody>
      </p:sp>
      <p:sp>
        <p:nvSpPr>
          <p:cNvPr id="19" name="Shape 17"/>
          <p:cNvSpPr/>
          <p:nvPr/>
        </p:nvSpPr>
        <p:spPr>
          <a:xfrm>
            <a:off x="457200" y="3909060"/>
            <a:ext cx="3544824" cy="2034540"/>
          </a:xfrm>
          <a:prstGeom prst="roundRect">
            <a:avLst>
              <a:gd name="adj" fmla="val 3146"/>
            </a:avLst>
          </a:prstGeom>
          <a:solidFill>
            <a:srgbClr val="F4F7F8"/>
          </a:solidFill>
          <a:ln w="12700">
            <a:solidFill>
              <a:srgbClr val="E7ECEF"/>
            </a:solidFill>
            <a:prstDash val="solid"/>
          </a:ln>
        </p:spPr>
      </p:sp>
      <p:sp>
        <p:nvSpPr>
          <p:cNvPr id="20" name="Shape 18"/>
          <p:cNvSpPr/>
          <p:nvPr/>
        </p:nvSpPr>
        <p:spPr>
          <a:xfrm>
            <a:off x="658368" y="4110228"/>
            <a:ext cx="457200" cy="457200"/>
          </a:xfrm>
          <a:prstGeom prst="roundRect">
            <a:avLst>
              <a:gd name="adj" fmla="val 12000"/>
            </a:avLst>
          </a:prstGeom>
          <a:solidFill>
            <a:srgbClr val="3F9E6A"/>
          </a:solidFill>
          <a:ln/>
        </p:spPr>
      </p:sp>
      <p:sp>
        <p:nvSpPr>
          <p:cNvPr id="21" name="Text 19"/>
          <p:cNvSpPr/>
          <p:nvPr/>
        </p:nvSpPr>
        <p:spPr>
          <a:xfrm>
            <a:off x="658368" y="41102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234440" y="409194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The landscape, grouped</a:t>
            </a:r>
            <a:endParaRPr lang="en-US" sz="1450" dirty="0"/>
          </a:p>
        </p:txBody>
      </p:sp>
      <p:sp>
        <p:nvSpPr>
          <p:cNvPr id="23" name="Text 21"/>
          <p:cNvSpPr/>
          <p:nvPr/>
        </p:nvSpPr>
        <p:spPr>
          <a:xfrm>
            <a:off x="676656" y="4686300"/>
            <a:ext cx="3105912"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Incumbents, hyperscaler silicon, and challengers — read through the framework, not as a catalog.</a:t>
            </a:r>
            <a:endParaRPr lang="en-US" sz="1200" dirty="0"/>
          </a:p>
        </p:txBody>
      </p:sp>
      <p:sp>
        <p:nvSpPr>
          <p:cNvPr id="24" name="Shape 22"/>
          <p:cNvSpPr/>
          <p:nvPr/>
        </p:nvSpPr>
        <p:spPr>
          <a:xfrm>
            <a:off x="4322064" y="3909060"/>
            <a:ext cx="3544824" cy="2034540"/>
          </a:xfrm>
          <a:prstGeom prst="roundRect">
            <a:avLst>
              <a:gd name="adj" fmla="val 3146"/>
            </a:avLst>
          </a:prstGeom>
          <a:solidFill>
            <a:srgbClr val="F4F7F8"/>
          </a:solidFill>
          <a:ln w="12700">
            <a:solidFill>
              <a:srgbClr val="E7ECEF"/>
            </a:solidFill>
            <a:prstDash val="solid"/>
          </a:ln>
        </p:spPr>
      </p:sp>
      <p:sp>
        <p:nvSpPr>
          <p:cNvPr id="25" name="Shape 23"/>
          <p:cNvSpPr/>
          <p:nvPr/>
        </p:nvSpPr>
        <p:spPr>
          <a:xfrm>
            <a:off x="4523232" y="4110228"/>
            <a:ext cx="457200" cy="457200"/>
          </a:xfrm>
          <a:prstGeom prst="roundRect">
            <a:avLst>
              <a:gd name="adj" fmla="val 12000"/>
            </a:avLst>
          </a:prstGeom>
          <a:solidFill>
            <a:srgbClr val="16232E"/>
          </a:solidFill>
          <a:ln/>
        </p:spPr>
      </p:sp>
      <p:sp>
        <p:nvSpPr>
          <p:cNvPr id="26" name="Text 24"/>
          <p:cNvSpPr/>
          <p:nvPr/>
        </p:nvSpPr>
        <p:spPr>
          <a:xfrm>
            <a:off x="4523232" y="41102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5099304" y="409194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Economics</a:t>
            </a:r>
            <a:endParaRPr lang="en-US" sz="1450" dirty="0"/>
          </a:p>
        </p:txBody>
      </p:sp>
      <p:sp>
        <p:nvSpPr>
          <p:cNvPr id="28" name="Text 26"/>
          <p:cNvSpPr/>
          <p:nvPr/>
        </p:nvSpPr>
        <p:spPr>
          <a:xfrm>
            <a:off x="4541520" y="4686300"/>
            <a:ext cx="3105912"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Why lifetime cost and software capital decide most outcomes.</a:t>
            </a:r>
            <a:endParaRPr lang="en-US" sz="1200" dirty="0"/>
          </a:p>
        </p:txBody>
      </p:sp>
      <p:sp>
        <p:nvSpPr>
          <p:cNvPr id="29" name="Shape 27"/>
          <p:cNvSpPr/>
          <p:nvPr/>
        </p:nvSpPr>
        <p:spPr>
          <a:xfrm>
            <a:off x="8186928" y="3909060"/>
            <a:ext cx="3544824" cy="2034540"/>
          </a:xfrm>
          <a:prstGeom prst="roundRect">
            <a:avLst>
              <a:gd name="adj" fmla="val 3146"/>
            </a:avLst>
          </a:prstGeom>
          <a:solidFill>
            <a:srgbClr val="F4F7F8"/>
          </a:solidFill>
          <a:ln w="12700">
            <a:solidFill>
              <a:srgbClr val="E7ECEF"/>
            </a:solidFill>
            <a:prstDash val="solid"/>
          </a:ln>
        </p:spPr>
      </p:sp>
      <p:sp>
        <p:nvSpPr>
          <p:cNvPr id="30" name="Shape 28"/>
          <p:cNvSpPr/>
          <p:nvPr/>
        </p:nvSpPr>
        <p:spPr>
          <a:xfrm>
            <a:off x="8388096" y="4110228"/>
            <a:ext cx="457200" cy="457200"/>
          </a:xfrm>
          <a:prstGeom prst="roundRect">
            <a:avLst>
              <a:gd name="adj" fmla="val 12000"/>
            </a:avLst>
          </a:prstGeom>
          <a:solidFill>
            <a:srgbClr val="263947"/>
          </a:solidFill>
          <a:ln/>
        </p:spPr>
      </p:sp>
      <p:sp>
        <p:nvSpPr>
          <p:cNvPr id="31" name="Text 29"/>
          <p:cNvSpPr/>
          <p:nvPr/>
        </p:nvSpPr>
        <p:spPr>
          <a:xfrm>
            <a:off x="8388096" y="41102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8964168" y="409194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Conclusions</a:t>
            </a:r>
            <a:endParaRPr lang="en-US" sz="1450" dirty="0"/>
          </a:p>
        </p:txBody>
      </p:sp>
      <p:sp>
        <p:nvSpPr>
          <p:cNvPr id="33" name="Text 31"/>
          <p:cNvSpPr/>
          <p:nvPr/>
        </p:nvSpPr>
        <p:spPr>
          <a:xfrm>
            <a:off x="8406384" y="4686300"/>
            <a:ext cx="3105912"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What holds across the whole compute continuum.</a:t>
            </a:r>
            <a:endParaRPr lang="en-US" sz="1200" dirty="0"/>
          </a:p>
        </p:txBody>
      </p:sp>
      <p:sp>
        <p:nvSpPr>
          <p:cNvPr id="34" name="Text 32"/>
          <p:cNvSpPr/>
          <p:nvPr/>
        </p:nvSpPr>
        <p:spPr>
          <a:xfrm>
            <a:off x="457200" y="6108192"/>
            <a:ext cx="11274552" cy="365760"/>
          </a:xfrm>
          <a:prstGeom prst="rect">
            <a:avLst/>
          </a:prstGeom>
          <a:noFill/>
          <a:ln/>
        </p:spPr>
        <p:txBody>
          <a:bodyPr wrap="square" rtlCol="0" anchor="ctr"/>
          <a:lstStyle/>
          <a:p>
            <a:pPr indent="0" marL="0">
              <a:buNone/>
            </a:pPr>
            <a:r>
              <a:rPr lang="en-US" sz="1350" b="1" dirty="0">
                <a:solidFill>
                  <a:srgbClr val="E08A2B"/>
                </a:solidFill>
                <a:latin typeface="Calibri" pitchFamily="34" charset="0"/>
                <a:ea typeface="Calibri" pitchFamily="34" charset="-122"/>
                <a:cs typeface="Calibri" pitchFamily="34" charset="-120"/>
              </a:rPr>
              <a:t>⇒  </a:t>
            </a:r>
            <a:pPr indent="0" marL="0">
              <a:buNone/>
            </a:pPr>
            <a:r>
              <a:rPr lang="en-US" sz="1350" b="1" dirty="0">
                <a:solidFill>
                  <a:srgbClr val="263947"/>
                </a:solidFill>
                <a:latin typeface="Calibri" pitchFamily="34" charset="0"/>
                <a:ea typeface="Calibri" pitchFamily="34" charset="-122"/>
                <a:cs typeface="Calibri" pitchFamily="34" charset="-120"/>
              </a:rPr>
              <a:t>Less time on products; more on the physics and economics that make the choice decidable.</a:t>
            </a:r>
            <a:endParaRPr lang="en-US" sz="1350" dirty="0"/>
          </a:p>
        </p:txBody>
      </p:sp>
      <p:sp>
        <p:nvSpPr>
          <p:cNvPr id="35" name="Text 3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36" name="Text 3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CONCEPTS PRIMER</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Six hardware ideas, in software terms</a:t>
            </a:r>
            <a:endParaRPr lang="en-US" sz="3000" dirty="0"/>
          </a:p>
        </p:txBody>
      </p:sp>
      <p:sp>
        <p:nvSpPr>
          <p:cNvPr id="4" name="Shape 2"/>
          <p:cNvSpPr/>
          <p:nvPr/>
        </p:nvSpPr>
        <p:spPr>
          <a:xfrm>
            <a:off x="457200" y="1600200"/>
            <a:ext cx="3544824" cy="2171700"/>
          </a:xfrm>
          <a:prstGeom prst="roundRect">
            <a:avLst>
              <a:gd name="adj" fmla="val 2947"/>
            </a:avLst>
          </a:prstGeom>
          <a:solidFill>
            <a:srgbClr val="F4F7F8"/>
          </a:solidFill>
          <a:ln w="12700">
            <a:solidFill>
              <a:srgbClr val="E7ECEF"/>
            </a:solidFill>
            <a:prstDash val="solid"/>
          </a:ln>
        </p:spPr>
      </p:sp>
      <p:sp>
        <p:nvSpPr>
          <p:cNvPr id="5" name="Shape 3"/>
          <p:cNvSpPr/>
          <p:nvPr/>
        </p:nvSpPr>
        <p:spPr>
          <a:xfrm>
            <a:off x="658368" y="1801368"/>
            <a:ext cx="457200" cy="457200"/>
          </a:xfrm>
          <a:prstGeom prst="roundRect">
            <a:avLst>
              <a:gd name="adj" fmla="val 12000"/>
            </a:avLst>
          </a:prstGeom>
          <a:solidFill>
            <a:srgbClr val="0E8C9B"/>
          </a:solidFill>
          <a:ln/>
        </p:spPr>
      </p:sp>
      <p:sp>
        <p:nvSpPr>
          <p:cNvPr id="6" name="Text 4"/>
          <p:cNvSpPr/>
          <p:nvPr/>
        </p:nvSpPr>
        <p:spPr>
          <a:xfrm>
            <a:off x="1234440" y="178308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GPU</a:t>
            </a:r>
            <a:endParaRPr lang="en-US" sz="1450" dirty="0"/>
          </a:p>
        </p:txBody>
      </p:sp>
      <p:sp>
        <p:nvSpPr>
          <p:cNvPr id="7" name="Text 5"/>
          <p:cNvSpPr/>
          <p:nvPr/>
        </p:nvSpPr>
        <p:spPr>
          <a:xfrm>
            <a:off x="676656" y="2377440"/>
            <a:ext cx="3105912" cy="125730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Thousands of parallel lanes. Fast when work is regular, batched, and streamed from high-bandwidth memory.</a:t>
            </a:r>
            <a:endParaRPr lang="en-US" sz="1200" dirty="0"/>
          </a:p>
        </p:txBody>
      </p:sp>
      <p:sp>
        <p:nvSpPr>
          <p:cNvPr id="8" name="Shape 6"/>
          <p:cNvSpPr/>
          <p:nvPr/>
        </p:nvSpPr>
        <p:spPr>
          <a:xfrm>
            <a:off x="4322064" y="1600200"/>
            <a:ext cx="3544824" cy="2171700"/>
          </a:xfrm>
          <a:prstGeom prst="roundRect">
            <a:avLst>
              <a:gd name="adj" fmla="val 2947"/>
            </a:avLst>
          </a:prstGeom>
          <a:solidFill>
            <a:srgbClr val="F4F7F8"/>
          </a:solidFill>
          <a:ln w="12700">
            <a:solidFill>
              <a:srgbClr val="E7ECEF"/>
            </a:solidFill>
            <a:prstDash val="solid"/>
          </a:ln>
        </p:spPr>
      </p:sp>
      <p:sp>
        <p:nvSpPr>
          <p:cNvPr id="9" name="Shape 7"/>
          <p:cNvSpPr/>
          <p:nvPr/>
        </p:nvSpPr>
        <p:spPr>
          <a:xfrm>
            <a:off x="4523232" y="1801368"/>
            <a:ext cx="457200" cy="457200"/>
          </a:xfrm>
          <a:prstGeom prst="roundRect">
            <a:avLst>
              <a:gd name="adj" fmla="val 12000"/>
            </a:avLst>
          </a:prstGeom>
          <a:solidFill>
            <a:srgbClr val="0E8C9B"/>
          </a:solidFill>
          <a:ln/>
        </p:spPr>
      </p:sp>
      <p:sp>
        <p:nvSpPr>
          <p:cNvPr id="10" name="Text 8"/>
          <p:cNvSpPr/>
          <p:nvPr/>
        </p:nvSpPr>
        <p:spPr>
          <a:xfrm>
            <a:off x="5099304" y="178308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Matrix / tensor engine</a:t>
            </a:r>
            <a:endParaRPr lang="en-US" sz="1450" dirty="0"/>
          </a:p>
        </p:txBody>
      </p:sp>
      <p:sp>
        <p:nvSpPr>
          <p:cNvPr id="11" name="Text 9"/>
          <p:cNvSpPr/>
          <p:nvPr/>
        </p:nvSpPr>
        <p:spPr>
          <a:xfrm>
            <a:off x="4541520" y="2377440"/>
            <a:ext cx="3105912" cy="125730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A block that does a whole matrix tile per instruction — amortizes control over many multiply-adds.</a:t>
            </a:r>
            <a:endParaRPr lang="en-US" sz="1200" dirty="0"/>
          </a:p>
        </p:txBody>
      </p:sp>
      <p:sp>
        <p:nvSpPr>
          <p:cNvPr id="12" name="Shape 10"/>
          <p:cNvSpPr/>
          <p:nvPr/>
        </p:nvSpPr>
        <p:spPr>
          <a:xfrm>
            <a:off x="8186928" y="1600200"/>
            <a:ext cx="3544824" cy="2171700"/>
          </a:xfrm>
          <a:prstGeom prst="roundRect">
            <a:avLst>
              <a:gd name="adj" fmla="val 2947"/>
            </a:avLst>
          </a:prstGeom>
          <a:solidFill>
            <a:srgbClr val="F4F7F8"/>
          </a:solidFill>
          <a:ln w="12700">
            <a:solidFill>
              <a:srgbClr val="E7ECEF"/>
            </a:solidFill>
            <a:prstDash val="solid"/>
          </a:ln>
        </p:spPr>
      </p:sp>
      <p:sp>
        <p:nvSpPr>
          <p:cNvPr id="13" name="Shape 11"/>
          <p:cNvSpPr/>
          <p:nvPr/>
        </p:nvSpPr>
        <p:spPr>
          <a:xfrm>
            <a:off x="8388096" y="1801368"/>
            <a:ext cx="457200" cy="457200"/>
          </a:xfrm>
          <a:prstGeom prst="roundRect">
            <a:avLst>
              <a:gd name="adj" fmla="val 12000"/>
            </a:avLst>
          </a:prstGeom>
          <a:solidFill>
            <a:srgbClr val="2E6E9E"/>
          </a:solidFill>
          <a:ln/>
        </p:spPr>
      </p:sp>
      <p:sp>
        <p:nvSpPr>
          <p:cNvPr id="14" name="Text 12"/>
          <p:cNvSpPr/>
          <p:nvPr/>
        </p:nvSpPr>
        <p:spPr>
          <a:xfrm>
            <a:off x="8964168" y="178308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HBM</a:t>
            </a:r>
            <a:endParaRPr lang="en-US" sz="1450" dirty="0"/>
          </a:p>
        </p:txBody>
      </p:sp>
      <p:sp>
        <p:nvSpPr>
          <p:cNvPr id="15" name="Text 13"/>
          <p:cNvSpPr/>
          <p:nvPr/>
        </p:nvSpPr>
        <p:spPr>
          <a:xfrm>
            <a:off x="8406384" y="2377440"/>
            <a:ext cx="3105912" cy="125730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Stacked DRAM giving multi-TB/s. The scarce resource: capacity and bandwidth, not arithmetic.</a:t>
            </a:r>
            <a:endParaRPr lang="en-US" sz="1200" dirty="0"/>
          </a:p>
        </p:txBody>
      </p:sp>
      <p:sp>
        <p:nvSpPr>
          <p:cNvPr id="16" name="Shape 14"/>
          <p:cNvSpPr/>
          <p:nvPr/>
        </p:nvSpPr>
        <p:spPr>
          <a:xfrm>
            <a:off x="457200" y="4046220"/>
            <a:ext cx="3544824" cy="2171700"/>
          </a:xfrm>
          <a:prstGeom prst="roundRect">
            <a:avLst>
              <a:gd name="adj" fmla="val 2947"/>
            </a:avLst>
          </a:prstGeom>
          <a:solidFill>
            <a:srgbClr val="F4F7F8"/>
          </a:solidFill>
          <a:ln w="12700">
            <a:solidFill>
              <a:srgbClr val="E7ECEF"/>
            </a:solidFill>
            <a:prstDash val="solid"/>
          </a:ln>
        </p:spPr>
      </p:sp>
      <p:sp>
        <p:nvSpPr>
          <p:cNvPr id="17" name="Shape 15"/>
          <p:cNvSpPr/>
          <p:nvPr/>
        </p:nvSpPr>
        <p:spPr>
          <a:xfrm>
            <a:off x="658368" y="4247388"/>
            <a:ext cx="457200" cy="457200"/>
          </a:xfrm>
          <a:prstGeom prst="roundRect">
            <a:avLst>
              <a:gd name="adj" fmla="val 12000"/>
            </a:avLst>
          </a:prstGeom>
          <a:solidFill>
            <a:srgbClr val="2E6E9E"/>
          </a:solidFill>
          <a:ln/>
        </p:spPr>
      </p:sp>
      <p:sp>
        <p:nvSpPr>
          <p:cNvPr id="18" name="Text 16"/>
          <p:cNvSpPr/>
          <p:nvPr/>
        </p:nvSpPr>
        <p:spPr>
          <a:xfrm>
            <a:off x="1234440" y="422910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NPU</a:t>
            </a:r>
            <a:endParaRPr lang="en-US" sz="1450" dirty="0"/>
          </a:p>
        </p:txBody>
      </p:sp>
      <p:sp>
        <p:nvSpPr>
          <p:cNvPr id="19" name="Text 17"/>
          <p:cNvSpPr/>
          <p:nvPr/>
        </p:nvSpPr>
        <p:spPr>
          <a:xfrm>
            <a:off x="676656" y="4823460"/>
            <a:ext cx="3105912" cy="125730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An SoC block plus a compiler that maps a whole model graph onto it at low energy.</a:t>
            </a:r>
            <a:endParaRPr lang="en-US" sz="1200" dirty="0"/>
          </a:p>
        </p:txBody>
      </p:sp>
      <p:sp>
        <p:nvSpPr>
          <p:cNvPr id="20" name="Shape 18"/>
          <p:cNvSpPr/>
          <p:nvPr/>
        </p:nvSpPr>
        <p:spPr>
          <a:xfrm>
            <a:off x="4322064" y="4046220"/>
            <a:ext cx="3544824" cy="2171700"/>
          </a:xfrm>
          <a:prstGeom prst="roundRect">
            <a:avLst>
              <a:gd name="adj" fmla="val 2947"/>
            </a:avLst>
          </a:prstGeom>
          <a:solidFill>
            <a:srgbClr val="F4F7F8"/>
          </a:solidFill>
          <a:ln w="12700">
            <a:solidFill>
              <a:srgbClr val="E7ECEF"/>
            </a:solidFill>
            <a:prstDash val="solid"/>
          </a:ln>
        </p:spPr>
      </p:sp>
      <p:sp>
        <p:nvSpPr>
          <p:cNvPr id="21" name="Shape 19"/>
          <p:cNvSpPr/>
          <p:nvPr/>
        </p:nvSpPr>
        <p:spPr>
          <a:xfrm>
            <a:off x="4523232" y="4247388"/>
            <a:ext cx="457200" cy="457200"/>
          </a:xfrm>
          <a:prstGeom prst="roundRect">
            <a:avLst>
              <a:gd name="adj" fmla="val 12000"/>
            </a:avLst>
          </a:prstGeom>
          <a:solidFill>
            <a:srgbClr val="E08A2B"/>
          </a:solidFill>
          <a:ln/>
        </p:spPr>
      </p:sp>
      <p:sp>
        <p:nvSpPr>
          <p:cNvPr id="22" name="Text 20"/>
          <p:cNvSpPr/>
          <p:nvPr/>
        </p:nvSpPr>
        <p:spPr>
          <a:xfrm>
            <a:off x="5099304" y="422910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TOPS</a:t>
            </a:r>
            <a:endParaRPr lang="en-US" sz="1450" dirty="0"/>
          </a:p>
        </p:txBody>
      </p:sp>
      <p:sp>
        <p:nvSpPr>
          <p:cNvPr id="23" name="Text 21"/>
          <p:cNvSpPr/>
          <p:nvPr/>
        </p:nvSpPr>
        <p:spPr>
          <a:xfrm>
            <a:off x="4541520" y="4823460"/>
            <a:ext cx="3105912" cy="125730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A peak arithmetic rating. Rarely the bottleneck — treat as marketing, not a benchmark.</a:t>
            </a:r>
            <a:endParaRPr lang="en-US" sz="1200" dirty="0"/>
          </a:p>
        </p:txBody>
      </p:sp>
      <p:sp>
        <p:nvSpPr>
          <p:cNvPr id="24" name="Shape 22"/>
          <p:cNvSpPr/>
          <p:nvPr/>
        </p:nvSpPr>
        <p:spPr>
          <a:xfrm>
            <a:off x="8186928" y="4046220"/>
            <a:ext cx="3544824" cy="2171700"/>
          </a:xfrm>
          <a:prstGeom prst="roundRect">
            <a:avLst>
              <a:gd name="adj" fmla="val 2947"/>
            </a:avLst>
          </a:prstGeom>
          <a:solidFill>
            <a:srgbClr val="F4F7F8"/>
          </a:solidFill>
          <a:ln w="12700">
            <a:solidFill>
              <a:srgbClr val="E7ECEF"/>
            </a:solidFill>
            <a:prstDash val="solid"/>
          </a:ln>
        </p:spPr>
      </p:sp>
      <p:sp>
        <p:nvSpPr>
          <p:cNvPr id="25" name="Shape 23"/>
          <p:cNvSpPr/>
          <p:nvPr/>
        </p:nvSpPr>
        <p:spPr>
          <a:xfrm>
            <a:off x="8388096" y="4247388"/>
            <a:ext cx="457200" cy="457200"/>
          </a:xfrm>
          <a:prstGeom prst="roundRect">
            <a:avLst>
              <a:gd name="adj" fmla="val 12000"/>
            </a:avLst>
          </a:prstGeom>
          <a:solidFill>
            <a:srgbClr val="E08A2B"/>
          </a:solidFill>
          <a:ln/>
        </p:spPr>
      </p:sp>
      <p:sp>
        <p:nvSpPr>
          <p:cNvPr id="26" name="Text 24"/>
          <p:cNvSpPr/>
          <p:nvPr/>
        </p:nvSpPr>
        <p:spPr>
          <a:xfrm>
            <a:off x="8964168" y="4229100"/>
            <a:ext cx="2584704"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Contract</a:t>
            </a:r>
            <a:endParaRPr lang="en-US" sz="1450" dirty="0"/>
          </a:p>
        </p:txBody>
      </p:sp>
      <p:sp>
        <p:nvSpPr>
          <p:cNvPr id="27" name="Text 25"/>
          <p:cNvSpPr/>
          <p:nvPr/>
        </p:nvSpPr>
        <p:spPr>
          <a:xfrm>
            <a:off x="8406384" y="4823460"/>
            <a:ext cx="3105912" cy="125730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What hardware promises software about execution, memory, numbers, scheduling, comms, and tooling.</a:t>
            </a:r>
            <a:endParaRPr lang="en-US" sz="1200" dirty="0"/>
          </a:p>
        </p:txBody>
      </p:sp>
      <p:sp>
        <p:nvSpPr>
          <p:cNvPr id="28" name="Text 2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29" name="Text 2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THESIS</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Two transitions, across the whole continuum</a:t>
            </a:r>
            <a:endParaRPr lang="en-US" sz="3000" dirty="0"/>
          </a:p>
        </p:txBody>
      </p:sp>
      <p:pic>
        <p:nvPicPr>
          <p:cNvPr id="4" name="Image 0" descr="/sessions/compassionate-blissful-planck/mnt/outputs/deck_assets/two_transitions.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Software optimization keeps hitting limits; each transition adds specialization, it does not replace what came before.</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DRIVING FACTOR</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Data movement — not arithmetic — dominates energy</a:t>
            </a:r>
            <a:endParaRPr lang="en-US" sz="3000" dirty="0"/>
          </a:p>
        </p:txBody>
      </p:sp>
      <p:pic>
        <p:nvPicPr>
          <p:cNvPr id="4" name="Image 0" descr="/sessions/compassionate-blissful-planck/mnt/outputs/deck_assets/data_energy.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Compute is nearly free.</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Moving operands is not.</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So locality and reuse set efficiency, not FLOPS.</a:t>
            </a:r>
            <a:endParaRPr lang="en-US" sz="1300" dirty="0"/>
          </a:p>
        </p:txBody>
      </p:sp>
      <p:sp>
        <p:nvSpPr>
          <p:cNvPr id="11" name="Shape 8"/>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2" name="Text 9"/>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Every architecture that follows is a different answer to 'move less data, or move it a shorter distance.'</a:t>
            </a:r>
            <a:endParaRPr lang="en-US" sz="1400" dirty="0"/>
          </a:p>
        </p:txBody>
      </p:sp>
      <p:sp>
        <p:nvSpPr>
          <p:cNvPr id="13" name="Text 1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DRIVING FACTOR</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Memory is a distance hierarchy</a:t>
            </a:r>
            <a:endParaRPr lang="en-US" sz="3000" dirty="0"/>
          </a:p>
        </p:txBody>
      </p:sp>
      <p:pic>
        <p:nvPicPr>
          <p:cNvPr id="4" name="Image 0" descr="/sessions/compassionate-blissful-planck/mnt/outputs/deck_assets/mem_hierarchy.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Each step out: more capacity.</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Also more latency and energy.</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Caches help only if data is reused before eviction.</a:t>
            </a:r>
            <a:endParaRPr lang="en-US" sz="1300" dirty="0"/>
          </a:p>
        </p:txBody>
      </p:sp>
      <p:sp>
        <p:nvSpPr>
          <p:cNvPr id="11" name="Shape 8"/>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2" name="Text 9"/>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'Memory-bound' is many different problems — each one a lever a specialized design can pull.</a:t>
            </a:r>
            <a:endParaRPr lang="en-US" sz="1400" dirty="0"/>
          </a:p>
        </p:txBody>
      </p:sp>
      <p:sp>
        <p:nvSpPr>
          <p:cNvPr id="13" name="Text 1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CONCEPT</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CPU and GPU spend silicon differently</a:t>
            </a:r>
            <a:endParaRPr lang="en-US" sz="3000" dirty="0"/>
          </a:p>
        </p:txBody>
      </p:sp>
      <p:pic>
        <p:nvPicPr>
          <p:cNvPr id="4" name="Image 0" descr="/sessions/compassionate-blissful-planck/mnt/outputs/deck_assets/cpu_gpu.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CPU: low-latency across diverse code.</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GPU: throughput across regular work.</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Neither is optimal for every phase.</a:t>
            </a:r>
            <a:endParaRPr lang="en-US" sz="1300" dirty="0"/>
          </a:p>
        </p:txBody>
      </p:sp>
      <p:sp>
        <p:nvSpPr>
          <p:cNvPr id="11" name="Shape 8"/>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2" name="Text 9"/>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Specialization narrows what a design does in exchange for more useful work per unit area and energy.</a:t>
            </a:r>
            <a:endParaRPr lang="en-US" sz="1400" dirty="0"/>
          </a:p>
        </p:txBody>
      </p:sp>
      <p:sp>
        <p:nvSpPr>
          <p:cNvPr id="13" name="Text 1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WORKED BOUND</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Batch-one decode is a bandwidth wall</a:t>
            </a:r>
            <a:endParaRPr lang="en-US" sz="3000" dirty="0"/>
          </a:p>
        </p:txBody>
      </p:sp>
      <p:pic>
        <p:nvPicPr>
          <p:cNvPr id="4" name="Image 0" descr="/sessions/compassionate-blissful-planck/mnt/outputs/deck_assets/roofline_decode.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70B model, 8-bit, one sequence.</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≈48 tokens/s ceiling on an H100.</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~0.3% of the matrix throughput usable.</a:t>
            </a:r>
            <a:endParaRPr lang="en-US" sz="1300" dirty="0"/>
          </a:p>
        </p:txBody>
      </p:sp>
      <p:sp>
        <p:nvSpPr>
          <p:cNvPr id="11" name="Shape 8"/>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2" name="Text 9"/>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No amount of extra arithmetic moves this — it is set by memory bandwidth. This is the pressure that reshapes serving silicon.</a:t>
            </a:r>
            <a:endParaRPr lang="en-US" sz="1400" dirty="0"/>
          </a:p>
        </p:txBody>
      </p:sp>
      <p:sp>
        <p:nvSpPr>
          <p:cNvPr id="13" name="Text 1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DRIVING FACTOR</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Energy per inference spans four orders of magnitude</a:t>
            </a:r>
            <a:endParaRPr lang="en-US" sz="3000" dirty="0"/>
          </a:p>
        </p:txBody>
      </p:sp>
      <p:pic>
        <p:nvPicPr>
          <p:cNvPr id="4" name="Image 0" descr="/sessions/compassionate-blissful-planck/mnt/outputs/deck_assets/wake_scope.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Always-on tap: microwatts.</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Cloud round-trip: ~watts.</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Which domains wake sets the cost.</a:t>
            </a:r>
            <a:endParaRPr lang="en-US" sz="1300" dirty="0"/>
          </a:p>
        </p:txBody>
      </p:sp>
      <p:sp>
        <p:nvSpPr>
          <p:cNvPr id="11" name="Shape 8"/>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2" name="Text 9"/>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On-device always-on features are impossible on a GPU contract — the wake-scope bound is structural, not an efficiency gap.</a:t>
            </a:r>
            <a:endParaRPr lang="en-US" sz="1400" dirty="0"/>
          </a:p>
        </p:txBody>
      </p:sp>
      <p:sp>
        <p:nvSpPr>
          <p:cNvPr id="13" name="Text 1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DRIVING FACTOR</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Mixture-of-experts turns compute into communication</a:t>
            </a:r>
            <a:endParaRPr lang="en-US" sz="3000" dirty="0"/>
          </a:p>
        </p:txBody>
      </p:sp>
      <p:pic>
        <p:nvPicPr>
          <p:cNvPr id="4" name="Image 0" descr="/sessions/compassionate-blissful-planck/mnt/outputs/deck_assets/moe.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Routing and all-to-all can be ~1/3 of step time — a bound in the fabric, not the math unit.</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HONEST BASELINE</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Software succeeds — until it meets physics</a:t>
            </a:r>
            <a:endParaRPr lang="en-US" sz="3000" dirty="0"/>
          </a:p>
        </p:txBody>
      </p:sp>
      <p:sp>
        <p:nvSpPr>
          <p:cNvPr id="4" name="Shape 2"/>
          <p:cNvSpPr/>
          <p:nvPr/>
        </p:nvSpPr>
        <p:spPr>
          <a:xfrm>
            <a:off x="457200" y="2011680"/>
            <a:ext cx="2544318" cy="2651760"/>
          </a:xfrm>
          <a:prstGeom prst="roundRect">
            <a:avLst>
              <a:gd name="adj" fmla="val 2875"/>
            </a:avLst>
          </a:prstGeom>
          <a:solidFill>
            <a:srgbClr val="F4F7F8"/>
          </a:solidFill>
          <a:ln w="12700">
            <a:solidFill>
              <a:srgbClr val="E7ECEF"/>
            </a:solidFill>
            <a:prstDash val="solid"/>
          </a:ln>
        </p:spPr>
      </p:sp>
      <p:sp>
        <p:nvSpPr>
          <p:cNvPr id="5" name="Text 3"/>
          <p:cNvSpPr/>
          <p:nvPr/>
        </p:nvSpPr>
        <p:spPr>
          <a:xfrm>
            <a:off x="457200" y="2331720"/>
            <a:ext cx="2544318" cy="1097280"/>
          </a:xfrm>
          <a:prstGeom prst="rect">
            <a:avLst/>
          </a:prstGeom>
          <a:noFill/>
          <a:ln/>
        </p:spPr>
        <p:txBody>
          <a:bodyPr wrap="square" rtlCol="0" anchor="ctr"/>
          <a:lstStyle/>
          <a:p>
            <a:pPr algn="ctr" indent="0" marL="0">
              <a:buNone/>
            </a:pPr>
            <a:r>
              <a:rPr lang="en-US" sz="4000" b="1" dirty="0">
                <a:solidFill>
                  <a:srgbClr val="0E8C9B"/>
                </a:solidFill>
                <a:latin typeface="Cambria" pitchFamily="34" charset="0"/>
                <a:ea typeface="Cambria" pitchFamily="34" charset="-122"/>
                <a:cs typeface="Cambria" pitchFamily="34" charset="-120"/>
              </a:rPr>
              <a:t>3×</a:t>
            </a:r>
            <a:endParaRPr lang="en-US" sz="4000" dirty="0"/>
          </a:p>
        </p:txBody>
      </p:sp>
      <p:sp>
        <p:nvSpPr>
          <p:cNvPr id="6" name="Text 4"/>
          <p:cNvSpPr/>
          <p:nvPr/>
        </p:nvSpPr>
        <p:spPr>
          <a:xfrm>
            <a:off x="594360" y="3566160"/>
            <a:ext cx="2269998" cy="914400"/>
          </a:xfrm>
          <a:prstGeom prst="rect">
            <a:avLst/>
          </a:prstGeom>
          <a:noFill/>
          <a:ln/>
        </p:spPr>
        <p:txBody>
          <a:bodyPr wrap="square" rtlCol="0" anchor="t"/>
          <a:lstStyle/>
          <a:p>
            <a:pPr algn="ctr" indent="0" marL="0">
              <a:buNone/>
            </a:pPr>
            <a:r>
              <a:rPr lang="en-US" sz="1300" dirty="0">
                <a:solidFill>
                  <a:srgbClr val="263947"/>
                </a:solidFill>
                <a:latin typeface="Calibri" pitchFamily="34" charset="0"/>
                <a:ea typeface="Calibri" pitchFamily="34" charset="-122"/>
                <a:cs typeface="Calibri" pitchFamily="34" charset="-120"/>
              </a:rPr>
              <a:t>IO-aware attention (FlashAttention) throughput</a:t>
            </a:r>
            <a:endParaRPr lang="en-US" sz="1300" dirty="0"/>
          </a:p>
        </p:txBody>
      </p:sp>
      <p:sp>
        <p:nvSpPr>
          <p:cNvPr id="7" name="Shape 5"/>
          <p:cNvSpPr/>
          <p:nvPr/>
        </p:nvSpPr>
        <p:spPr>
          <a:xfrm>
            <a:off x="3367278" y="2011680"/>
            <a:ext cx="2544318" cy="2651760"/>
          </a:xfrm>
          <a:prstGeom prst="roundRect">
            <a:avLst>
              <a:gd name="adj" fmla="val 2875"/>
            </a:avLst>
          </a:prstGeom>
          <a:solidFill>
            <a:srgbClr val="F4F7F8"/>
          </a:solidFill>
          <a:ln w="12700">
            <a:solidFill>
              <a:srgbClr val="E7ECEF"/>
            </a:solidFill>
            <a:prstDash val="solid"/>
          </a:ln>
        </p:spPr>
      </p:sp>
      <p:sp>
        <p:nvSpPr>
          <p:cNvPr id="8" name="Text 6"/>
          <p:cNvSpPr/>
          <p:nvPr/>
        </p:nvSpPr>
        <p:spPr>
          <a:xfrm>
            <a:off x="3367278" y="2331720"/>
            <a:ext cx="2544318" cy="1097280"/>
          </a:xfrm>
          <a:prstGeom prst="rect">
            <a:avLst/>
          </a:prstGeom>
          <a:noFill/>
          <a:ln/>
        </p:spPr>
        <p:txBody>
          <a:bodyPr wrap="square" rtlCol="0" anchor="ctr"/>
          <a:lstStyle/>
          <a:p>
            <a:pPr algn="ctr" indent="0" marL="0">
              <a:buNone/>
            </a:pPr>
            <a:r>
              <a:rPr lang="en-US" sz="4000" b="1" dirty="0">
                <a:solidFill>
                  <a:srgbClr val="2E6E9E"/>
                </a:solidFill>
                <a:latin typeface="Cambria" pitchFamily="34" charset="0"/>
                <a:ea typeface="Cambria" pitchFamily="34" charset="-122"/>
                <a:cs typeface="Cambria" pitchFamily="34" charset="-120"/>
              </a:rPr>
              <a:t>2–4×</a:t>
            </a:r>
            <a:endParaRPr lang="en-US" sz="4000" dirty="0"/>
          </a:p>
        </p:txBody>
      </p:sp>
      <p:sp>
        <p:nvSpPr>
          <p:cNvPr id="9" name="Text 7"/>
          <p:cNvSpPr/>
          <p:nvPr/>
        </p:nvSpPr>
        <p:spPr>
          <a:xfrm>
            <a:off x="3504438" y="3566160"/>
            <a:ext cx="2269998" cy="914400"/>
          </a:xfrm>
          <a:prstGeom prst="rect">
            <a:avLst/>
          </a:prstGeom>
          <a:noFill/>
          <a:ln/>
        </p:spPr>
        <p:txBody>
          <a:bodyPr wrap="square" rtlCol="0" anchor="t"/>
          <a:lstStyle/>
          <a:p>
            <a:pPr algn="ctr" indent="0" marL="0">
              <a:buNone/>
            </a:pPr>
            <a:r>
              <a:rPr lang="en-US" sz="1300" dirty="0">
                <a:solidFill>
                  <a:srgbClr val="263947"/>
                </a:solidFill>
                <a:latin typeface="Calibri" pitchFamily="34" charset="0"/>
                <a:ea typeface="Calibri" pitchFamily="34" charset="-122"/>
                <a:cs typeface="Calibri" pitchFamily="34" charset="-120"/>
              </a:rPr>
              <a:t>KV paging / continuous batching (vLLM)</a:t>
            </a:r>
            <a:endParaRPr lang="en-US" sz="1300" dirty="0"/>
          </a:p>
        </p:txBody>
      </p:sp>
      <p:sp>
        <p:nvSpPr>
          <p:cNvPr id="10" name="Shape 8"/>
          <p:cNvSpPr/>
          <p:nvPr/>
        </p:nvSpPr>
        <p:spPr>
          <a:xfrm>
            <a:off x="6277356" y="2011680"/>
            <a:ext cx="2544318" cy="2651760"/>
          </a:xfrm>
          <a:prstGeom prst="roundRect">
            <a:avLst>
              <a:gd name="adj" fmla="val 2875"/>
            </a:avLst>
          </a:prstGeom>
          <a:solidFill>
            <a:srgbClr val="F4F7F8"/>
          </a:solidFill>
          <a:ln w="12700">
            <a:solidFill>
              <a:srgbClr val="E7ECEF"/>
            </a:solidFill>
            <a:prstDash val="solid"/>
          </a:ln>
        </p:spPr>
      </p:sp>
      <p:sp>
        <p:nvSpPr>
          <p:cNvPr id="11" name="Text 9"/>
          <p:cNvSpPr/>
          <p:nvPr/>
        </p:nvSpPr>
        <p:spPr>
          <a:xfrm>
            <a:off x="6277356" y="2331720"/>
            <a:ext cx="2544318" cy="1097280"/>
          </a:xfrm>
          <a:prstGeom prst="rect">
            <a:avLst/>
          </a:prstGeom>
          <a:noFill/>
          <a:ln/>
        </p:spPr>
        <p:txBody>
          <a:bodyPr wrap="square" rtlCol="0" anchor="ctr"/>
          <a:lstStyle/>
          <a:p>
            <a:pPr algn="ctr" indent="0" marL="0">
              <a:buNone/>
            </a:pPr>
            <a:r>
              <a:rPr lang="en-US" sz="4000" b="1" dirty="0">
                <a:solidFill>
                  <a:srgbClr val="E08A2B"/>
                </a:solidFill>
                <a:latin typeface="Cambria" pitchFamily="34" charset="0"/>
                <a:ea typeface="Cambria" pitchFamily="34" charset="-122"/>
                <a:cs typeface="Cambria" pitchFamily="34" charset="-120"/>
              </a:rPr>
              <a:t>~34%</a:t>
            </a:r>
            <a:endParaRPr lang="en-US" sz="4000" dirty="0"/>
          </a:p>
        </p:txBody>
      </p:sp>
      <p:sp>
        <p:nvSpPr>
          <p:cNvPr id="12" name="Text 10"/>
          <p:cNvSpPr/>
          <p:nvPr/>
        </p:nvSpPr>
        <p:spPr>
          <a:xfrm>
            <a:off x="6414516" y="3566160"/>
            <a:ext cx="2269998" cy="914400"/>
          </a:xfrm>
          <a:prstGeom prst="rect">
            <a:avLst/>
          </a:prstGeom>
          <a:noFill/>
          <a:ln/>
        </p:spPr>
        <p:txBody>
          <a:bodyPr wrap="square" rtlCol="0" anchor="t"/>
          <a:lstStyle/>
          <a:p>
            <a:pPr algn="ctr" indent="0" marL="0">
              <a:buNone/>
            </a:pPr>
            <a:r>
              <a:rPr lang="en-US" sz="1300" dirty="0">
                <a:solidFill>
                  <a:srgbClr val="263947"/>
                </a:solidFill>
                <a:latin typeface="Calibri" pitchFamily="34" charset="0"/>
                <a:ea typeface="Calibri" pitchFamily="34" charset="-122"/>
                <a:cs typeface="Calibri" pitchFamily="34" charset="-120"/>
              </a:rPr>
              <a:t>of a training step spent in MoE all-to-all</a:t>
            </a:r>
            <a:endParaRPr lang="en-US" sz="1300" dirty="0"/>
          </a:p>
        </p:txBody>
      </p:sp>
      <p:sp>
        <p:nvSpPr>
          <p:cNvPr id="13" name="Shape 11"/>
          <p:cNvSpPr/>
          <p:nvPr/>
        </p:nvSpPr>
        <p:spPr>
          <a:xfrm>
            <a:off x="9187434" y="2011680"/>
            <a:ext cx="2544318" cy="2651760"/>
          </a:xfrm>
          <a:prstGeom prst="roundRect">
            <a:avLst>
              <a:gd name="adj" fmla="val 2875"/>
            </a:avLst>
          </a:prstGeom>
          <a:solidFill>
            <a:srgbClr val="F4F7F8"/>
          </a:solidFill>
          <a:ln w="12700">
            <a:solidFill>
              <a:srgbClr val="E7ECEF"/>
            </a:solidFill>
            <a:prstDash val="solid"/>
          </a:ln>
        </p:spPr>
      </p:sp>
      <p:sp>
        <p:nvSpPr>
          <p:cNvPr id="14" name="Text 12"/>
          <p:cNvSpPr/>
          <p:nvPr/>
        </p:nvSpPr>
        <p:spPr>
          <a:xfrm>
            <a:off x="9187434" y="2331720"/>
            <a:ext cx="2544318" cy="1097280"/>
          </a:xfrm>
          <a:prstGeom prst="rect">
            <a:avLst/>
          </a:prstGeom>
          <a:noFill/>
          <a:ln/>
        </p:spPr>
        <p:txBody>
          <a:bodyPr wrap="square" rtlCol="0" anchor="ctr"/>
          <a:lstStyle/>
          <a:p>
            <a:pPr algn="ctr" indent="0" marL="0">
              <a:buNone/>
            </a:pPr>
            <a:r>
              <a:rPr lang="en-US" sz="4000" b="1" dirty="0">
                <a:solidFill>
                  <a:srgbClr val="3F9E6A"/>
                </a:solidFill>
                <a:latin typeface="Cambria" pitchFamily="34" charset="0"/>
                <a:ea typeface="Cambria" pitchFamily="34" charset="-122"/>
                <a:cs typeface="Cambria" pitchFamily="34" charset="-120"/>
              </a:rPr>
              <a:t>&lt;300 µW</a:t>
            </a:r>
            <a:endParaRPr lang="en-US" sz="4000" dirty="0"/>
          </a:p>
        </p:txBody>
      </p:sp>
      <p:sp>
        <p:nvSpPr>
          <p:cNvPr id="15" name="Text 13"/>
          <p:cNvSpPr/>
          <p:nvPr/>
        </p:nvSpPr>
        <p:spPr>
          <a:xfrm>
            <a:off x="9324594" y="3566160"/>
            <a:ext cx="2269998" cy="914400"/>
          </a:xfrm>
          <a:prstGeom prst="rect">
            <a:avLst/>
          </a:prstGeom>
          <a:noFill/>
          <a:ln/>
        </p:spPr>
        <p:txBody>
          <a:bodyPr wrap="square" rtlCol="0" anchor="t"/>
          <a:lstStyle/>
          <a:p>
            <a:pPr algn="ctr" indent="0" marL="0">
              <a:buNone/>
            </a:pPr>
            <a:r>
              <a:rPr lang="en-US" sz="1300" dirty="0">
                <a:solidFill>
                  <a:srgbClr val="263947"/>
                </a:solidFill>
                <a:latin typeface="Calibri" pitchFamily="34" charset="0"/>
                <a:ea typeface="Calibri" pitchFamily="34" charset="-122"/>
                <a:cs typeface="Calibri" pitchFamily="34" charset="-120"/>
              </a:rPr>
              <a:t>always-on keyword spotting budget</a:t>
            </a:r>
            <a:endParaRPr lang="en-US" sz="1300" dirty="0"/>
          </a:p>
        </p:txBody>
      </p:sp>
      <p:sp>
        <p:nvSpPr>
          <p:cNvPr id="16" name="Shape 14"/>
          <p:cNvSpPr/>
          <p:nvPr/>
        </p:nvSpPr>
        <p:spPr>
          <a:xfrm>
            <a:off x="457200" y="5715000"/>
            <a:ext cx="11274552" cy="566928"/>
          </a:xfrm>
          <a:prstGeom prst="roundRect">
            <a:avLst>
              <a:gd name="adj" fmla="val 9677"/>
            </a:avLst>
          </a:prstGeom>
          <a:solidFill>
            <a:srgbClr val="16232E"/>
          </a:solidFill>
          <a:ln/>
        </p:spPr>
      </p:sp>
      <p:sp>
        <p:nvSpPr>
          <p:cNvPr id="17" name="Text 15"/>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FFFFFF"/>
                </a:solidFill>
                <a:latin typeface="Calibri" pitchFamily="34" charset="0"/>
                <a:ea typeface="Calibri" pitchFamily="34" charset="-122"/>
                <a:cs typeface="Calibri" pitchFamily="34" charset="-120"/>
              </a:rPr>
              <a:t>Every gain is real; every gain eventually exposes a residual bound software cannot move. That residue is the case for hardware.</a:t>
            </a:r>
            <a:endParaRPr lang="en-US" sz="1400" dirty="0"/>
          </a:p>
        </p:txBody>
      </p:sp>
      <p:sp>
        <p:nvSpPr>
          <p:cNvPr id="18" name="Text 16"/>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9" name="Text 1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FRAMEWORK</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Hardware defines six contracts</a:t>
            </a:r>
            <a:endParaRPr lang="en-US" sz="3000" dirty="0"/>
          </a:p>
        </p:txBody>
      </p:sp>
      <p:pic>
        <p:nvPicPr>
          <p:cNvPr id="4" name="Image 0" descr="/sessions/compassionate-blissful-planck/mnt/outputs/deck_assets/six_contracts.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A workload signature stresses some contracts, not others — that mismatch is where a new architecture earns its place.</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FRAMEWORK</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Is specialization justified? A four-condition test</a:t>
            </a:r>
            <a:endParaRPr lang="en-US" sz="3000" dirty="0"/>
          </a:p>
        </p:txBody>
      </p:sp>
      <p:pic>
        <p:nvPicPr>
          <p:cNvPr id="4" name="Image 0" descr="/sessions/compassionate-blissful-planck/mnt/outputs/deck_assets/necessity_cases.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1 · residual bound remains</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2 · it has a material consequence</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3 · hardware changes the bound</a:t>
            </a:r>
            <a:endParaRPr lang="en-US" sz="1300" dirty="0"/>
          </a:p>
        </p:txBody>
      </p:sp>
      <p:sp>
        <p:nvSpPr>
          <p:cNvPr id="11" name="Shape 8"/>
          <p:cNvSpPr/>
          <p:nvPr/>
        </p:nvSpPr>
        <p:spPr>
          <a:xfrm>
            <a:off x="8138160" y="4096512"/>
            <a:ext cx="109728" cy="109728"/>
          </a:xfrm>
          <a:prstGeom prst="rect">
            <a:avLst/>
          </a:prstGeom>
          <a:solidFill>
            <a:srgbClr val="E08A2B"/>
          </a:solidFill>
          <a:ln/>
        </p:spPr>
      </p:sp>
      <p:sp>
        <p:nvSpPr>
          <p:cNvPr id="12" name="Text 9"/>
          <p:cNvSpPr/>
          <p:nvPr/>
        </p:nvSpPr>
        <p:spPr>
          <a:xfrm>
            <a:off x="8366760" y="3922776"/>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4 · lifetime economics repay it</a:t>
            </a:r>
            <a:endParaRPr lang="en-US" sz="1300" dirty="0"/>
          </a:p>
        </p:txBody>
      </p:sp>
      <p:sp>
        <p:nvSpPr>
          <p:cNvPr id="13" name="Shape 10"/>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4" name="Text 11"/>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Same architecture, opposite verdicts. Condition 4 — volume and software cost — decides most cases.</a:t>
            </a:r>
            <a:endParaRPr lang="en-US" sz="1400" dirty="0"/>
          </a:p>
        </p:txBody>
      </p:sp>
      <p:sp>
        <p:nvSpPr>
          <p:cNvPr id="15" name="Text 1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6" name="Text 1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GPU VS SPECIALIZATION</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What the GPU absorbs — and what it cannot</a:t>
            </a:r>
            <a:endParaRPr lang="en-US" sz="3000" dirty="0"/>
          </a:p>
        </p:txBody>
      </p:sp>
      <p:pic>
        <p:nvPicPr>
          <p:cNvPr id="4" name="Image 0" descr="/sessions/compassionate-blissful-planck/mnt/outputs/deck_assets/fig05-05-absorption-partition.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Absorbable bounds go to the platform; structural bounds (wake scope, determinism, near-sensor, cost floors) belong to specialists.</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FAMILIES</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One map: when uncertainty resolves × where state lives</a:t>
            </a:r>
            <a:endParaRPr lang="en-US" sz="3000" dirty="0"/>
          </a:p>
        </p:txBody>
      </p:sp>
      <p:pic>
        <p:nvPicPr>
          <p:cNvPr id="4" name="Image 0" descr="/sessions/compassionate-blissful-planck/mnt/outputs/deck_assets/fig06-01-family-landscape.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Every family is a displacement from the CPU/GPU baseline on these two axes — no point dominates.</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FAMILIES, GROUPED</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Eight families = eight contract changes</a:t>
            </a:r>
            <a:endParaRPr lang="en-US" sz="3000" dirty="0"/>
          </a:p>
        </p:txBody>
      </p:sp>
      <p:sp>
        <p:nvSpPr>
          <p:cNvPr id="4" name="Shape 2"/>
          <p:cNvSpPr/>
          <p:nvPr/>
        </p:nvSpPr>
        <p:spPr>
          <a:xfrm>
            <a:off x="457200" y="1600200"/>
            <a:ext cx="2578608" cy="2034540"/>
          </a:xfrm>
          <a:prstGeom prst="roundRect">
            <a:avLst>
              <a:gd name="adj" fmla="val 3146"/>
            </a:avLst>
          </a:prstGeom>
          <a:solidFill>
            <a:srgbClr val="F4F7F8"/>
          </a:solidFill>
          <a:ln w="12700">
            <a:solidFill>
              <a:srgbClr val="E7ECEF"/>
            </a:solidFill>
            <a:prstDash val="solid"/>
          </a:ln>
        </p:spPr>
      </p:sp>
      <p:sp>
        <p:nvSpPr>
          <p:cNvPr id="5" name="Shape 3"/>
          <p:cNvSpPr/>
          <p:nvPr/>
        </p:nvSpPr>
        <p:spPr>
          <a:xfrm>
            <a:off x="658368" y="1801368"/>
            <a:ext cx="457200" cy="457200"/>
          </a:xfrm>
          <a:prstGeom prst="roundRect">
            <a:avLst>
              <a:gd name="adj" fmla="val 12000"/>
            </a:avLst>
          </a:prstGeom>
          <a:solidFill>
            <a:srgbClr val="0E8C9B"/>
          </a:solidFill>
          <a:ln/>
        </p:spPr>
      </p:sp>
      <p:sp>
        <p:nvSpPr>
          <p:cNvPr id="6" name="Text 4"/>
          <p:cNvSpPr/>
          <p:nvPr/>
        </p:nvSpPr>
        <p:spPr>
          <a:xfrm>
            <a:off x="1234440" y="178308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Systolic array</a:t>
            </a:r>
            <a:endParaRPr lang="en-US" sz="1450" dirty="0"/>
          </a:p>
        </p:txBody>
      </p:sp>
      <p:sp>
        <p:nvSpPr>
          <p:cNvPr id="7" name="Text 5"/>
          <p:cNvSpPr/>
          <p:nvPr/>
        </p:nvSpPr>
        <p:spPr>
          <a:xfrm>
            <a:off x="676656" y="237744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Reuse from geometry; data flows through a grid.</a:t>
            </a:r>
            <a:endParaRPr lang="en-US" sz="1200" dirty="0"/>
          </a:p>
        </p:txBody>
      </p:sp>
      <p:sp>
        <p:nvSpPr>
          <p:cNvPr id="8" name="Shape 6"/>
          <p:cNvSpPr/>
          <p:nvPr/>
        </p:nvSpPr>
        <p:spPr>
          <a:xfrm>
            <a:off x="3355848" y="1600200"/>
            <a:ext cx="2578608" cy="2034540"/>
          </a:xfrm>
          <a:prstGeom prst="roundRect">
            <a:avLst>
              <a:gd name="adj" fmla="val 3146"/>
            </a:avLst>
          </a:prstGeom>
          <a:solidFill>
            <a:srgbClr val="F4F7F8"/>
          </a:solidFill>
          <a:ln w="12700">
            <a:solidFill>
              <a:srgbClr val="E7ECEF"/>
            </a:solidFill>
            <a:prstDash val="solid"/>
          </a:ln>
        </p:spPr>
      </p:sp>
      <p:sp>
        <p:nvSpPr>
          <p:cNvPr id="9" name="Shape 7"/>
          <p:cNvSpPr/>
          <p:nvPr/>
        </p:nvSpPr>
        <p:spPr>
          <a:xfrm>
            <a:off x="3557016" y="1801368"/>
            <a:ext cx="457200" cy="457200"/>
          </a:xfrm>
          <a:prstGeom prst="roundRect">
            <a:avLst>
              <a:gd name="adj" fmla="val 12000"/>
            </a:avLst>
          </a:prstGeom>
          <a:solidFill>
            <a:srgbClr val="0E8C9B"/>
          </a:solidFill>
          <a:ln/>
        </p:spPr>
      </p:sp>
      <p:sp>
        <p:nvSpPr>
          <p:cNvPr id="10" name="Text 8"/>
          <p:cNvSpPr/>
          <p:nvPr/>
        </p:nvSpPr>
        <p:spPr>
          <a:xfrm>
            <a:off x="4133088" y="178308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Tensor processor</a:t>
            </a:r>
            <a:endParaRPr lang="en-US" sz="1450" dirty="0"/>
          </a:p>
        </p:txBody>
      </p:sp>
      <p:sp>
        <p:nvSpPr>
          <p:cNvPr id="11" name="Text 9"/>
          <p:cNvSpPr/>
          <p:nvPr/>
        </p:nvSpPr>
        <p:spPr>
          <a:xfrm>
            <a:off x="3575304" y="237744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Compiler-owned; matrix engine + managed SRAM (TPU).</a:t>
            </a:r>
            <a:endParaRPr lang="en-US" sz="1200" dirty="0"/>
          </a:p>
        </p:txBody>
      </p:sp>
      <p:sp>
        <p:nvSpPr>
          <p:cNvPr id="12" name="Shape 10"/>
          <p:cNvSpPr/>
          <p:nvPr/>
        </p:nvSpPr>
        <p:spPr>
          <a:xfrm>
            <a:off x="6254496" y="1600200"/>
            <a:ext cx="2578608" cy="2034540"/>
          </a:xfrm>
          <a:prstGeom prst="roundRect">
            <a:avLst>
              <a:gd name="adj" fmla="val 3146"/>
            </a:avLst>
          </a:prstGeom>
          <a:solidFill>
            <a:srgbClr val="F4F7F8"/>
          </a:solidFill>
          <a:ln w="12700">
            <a:solidFill>
              <a:srgbClr val="E7ECEF"/>
            </a:solidFill>
            <a:prstDash val="solid"/>
          </a:ln>
        </p:spPr>
      </p:sp>
      <p:sp>
        <p:nvSpPr>
          <p:cNvPr id="13" name="Shape 11"/>
          <p:cNvSpPr/>
          <p:nvPr/>
        </p:nvSpPr>
        <p:spPr>
          <a:xfrm>
            <a:off x="6455664" y="1801368"/>
            <a:ext cx="457200" cy="457200"/>
          </a:xfrm>
          <a:prstGeom prst="roundRect">
            <a:avLst>
              <a:gd name="adj" fmla="val 12000"/>
            </a:avLst>
          </a:prstGeom>
          <a:solidFill>
            <a:srgbClr val="2E6E9E"/>
          </a:solidFill>
          <a:ln/>
        </p:spPr>
      </p:sp>
      <p:sp>
        <p:nvSpPr>
          <p:cNvPr id="14" name="Text 12"/>
          <p:cNvSpPr/>
          <p:nvPr/>
        </p:nvSpPr>
        <p:spPr>
          <a:xfrm>
            <a:off x="7031736" y="178308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Dataflow / tile</a:t>
            </a:r>
            <a:endParaRPr lang="en-US" sz="1450" dirty="0"/>
          </a:p>
        </p:txBody>
      </p:sp>
      <p:sp>
        <p:nvSpPr>
          <p:cNvPr id="15" name="Text 13"/>
          <p:cNvSpPr/>
          <p:nvPr/>
        </p:nvSpPr>
        <p:spPr>
          <a:xfrm>
            <a:off x="6473952" y="237744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Static schedule; deterministic, low-latency (Groq).</a:t>
            </a:r>
            <a:endParaRPr lang="en-US" sz="1200" dirty="0"/>
          </a:p>
        </p:txBody>
      </p:sp>
      <p:sp>
        <p:nvSpPr>
          <p:cNvPr id="16" name="Shape 14"/>
          <p:cNvSpPr/>
          <p:nvPr/>
        </p:nvSpPr>
        <p:spPr>
          <a:xfrm>
            <a:off x="9153144" y="1600200"/>
            <a:ext cx="2578608" cy="2034540"/>
          </a:xfrm>
          <a:prstGeom prst="roundRect">
            <a:avLst>
              <a:gd name="adj" fmla="val 3146"/>
            </a:avLst>
          </a:prstGeom>
          <a:solidFill>
            <a:srgbClr val="F4F7F8"/>
          </a:solidFill>
          <a:ln w="12700">
            <a:solidFill>
              <a:srgbClr val="E7ECEF"/>
            </a:solidFill>
            <a:prstDash val="solid"/>
          </a:ln>
        </p:spPr>
      </p:sp>
      <p:sp>
        <p:nvSpPr>
          <p:cNvPr id="17" name="Shape 15"/>
          <p:cNvSpPr/>
          <p:nvPr/>
        </p:nvSpPr>
        <p:spPr>
          <a:xfrm>
            <a:off x="9354312" y="1801368"/>
            <a:ext cx="457200" cy="457200"/>
          </a:xfrm>
          <a:prstGeom prst="roundRect">
            <a:avLst>
              <a:gd name="adj" fmla="val 12000"/>
            </a:avLst>
          </a:prstGeom>
          <a:solidFill>
            <a:srgbClr val="2E6E9E"/>
          </a:solidFill>
          <a:ln/>
        </p:spPr>
      </p:sp>
      <p:sp>
        <p:nvSpPr>
          <p:cNvPr id="18" name="Text 16"/>
          <p:cNvSpPr/>
          <p:nvPr/>
        </p:nvSpPr>
        <p:spPr>
          <a:xfrm>
            <a:off x="9930384" y="178308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NPU / near-sensor</a:t>
            </a:r>
            <a:endParaRPr lang="en-US" sz="1450" dirty="0"/>
          </a:p>
        </p:txBody>
      </p:sp>
      <p:sp>
        <p:nvSpPr>
          <p:cNvPr id="19" name="Text 17"/>
          <p:cNvSpPr/>
          <p:nvPr/>
        </p:nvSpPr>
        <p:spPr>
          <a:xfrm>
            <a:off x="9372600" y="237744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Power-domain-first; wake-scope energy (mobile, µNPU).</a:t>
            </a:r>
            <a:endParaRPr lang="en-US" sz="1200" dirty="0"/>
          </a:p>
        </p:txBody>
      </p:sp>
      <p:sp>
        <p:nvSpPr>
          <p:cNvPr id="20" name="Shape 18"/>
          <p:cNvSpPr/>
          <p:nvPr/>
        </p:nvSpPr>
        <p:spPr>
          <a:xfrm>
            <a:off x="457200" y="3909060"/>
            <a:ext cx="2578608" cy="2034540"/>
          </a:xfrm>
          <a:prstGeom prst="roundRect">
            <a:avLst>
              <a:gd name="adj" fmla="val 3146"/>
            </a:avLst>
          </a:prstGeom>
          <a:solidFill>
            <a:srgbClr val="F4F7F8"/>
          </a:solidFill>
          <a:ln w="12700">
            <a:solidFill>
              <a:srgbClr val="E7ECEF"/>
            </a:solidFill>
            <a:prstDash val="solid"/>
          </a:ln>
        </p:spPr>
      </p:sp>
      <p:sp>
        <p:nvSpPr>
          <p:cNvPr id="21" name="Shape 19"/>
          <p:cNvSpPr/>
          <p:nvPr/>
        </p:nvSpPr>
        <p:spPr>
          <a:xfrm>
            <a:off x="658368" y="4110228"/>
            <a:ext cx="457200" cy="457200"/>
          </a:xfrm>
          <a:prstGeom prst="roundRect">
            <a:avLst>
              <a:gd name="adj" fmla="val 12000"/>
            </a:avLst>
          </a:prstGeom>
          <a:solidFill>
            <a:srgbClr val="E08A2B"/>
          </a:solidFill>
          <a:ln/>
        </p:spPr>
      </p:sp>
      <p:sp>
        <p:nvSpPr>
          <p:cNvPr id="22" name="Text 20"/>
          <p:cNvSpPr/>
          <p:nvPr/>
        </p:nvSpPr>
        <p:spPr>
          <a:xfrm>
            <a:off x="1234440" y="409194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FPGA / reconfigurable</a:t>
            </a:r>
            <a:endParaRPr lang="en-US" sz="1450" dirty="0"/>
          </a:p>
        </p:txBody>
      </p:sp>
      <p:sp>
        <p:nvSpPr>
          <p:cNvPr id="23" name="Text 21"/>
          <p:cNvSpPr/>
          <p:nvPr/>
        </p:nvSpPr>
        <p:spPr>
          <a:xfrm>
            <a:off x="676656" y="468630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Structure set after manufacturing; flexibility.</a:t>
            </a:r>
            <a:endParaRPr lang="en-US" sz="1200" dirty="0"/>
          </a:p>
        </p:txBody>
      </p:sp>
      <p:sp>
        <p:nvSpPr>
          <p:cNvPr id="24" name="Shape 22"/>
          <p:cNvSpPr/>
          <p:nvPr/>
        </p:nvSpPr>
        <p:spPr>
          <a:xfrm>
            <a:off x="3355848" y="3909060"/>
            <a:ext cx="2578608" cy="2034540"/>
          </a:xfrm>
          <a:prstGeom prst="roundRect">
            <a:avLst>
              <a:gd name="adj" fmla="val 3146"/>
            </a:avLst>
          </a:prstGeom>
          <a:solidFill>
            <a:srgbClr val="F4F7F8"/>
          </a:solidFill>
          <a:ln w="12700">
            <a:solidFill>
              <a:srgbClr val="E7ECEF"/>
            </a:solidFill>
            <a:prstDash val="solid"/>
          </a:ln>
        </p:spPr>
      </p:sp>
      <p:sp>
        <p:nvSpPr>
          <p:cNvPr id="25" name="Shape 23"/>
          <p:cNvSpPr/>
          <p:nvPr/>
        </p:nvSpPr>
        <p:spPr>
          <a:xfrm>
            <a:off x="3557016" y="4110228"/>
            <a:ext cx="457200" cy="457200"/>
          </a:xfrm>
          <a:prstGeom prst="roundRect">
            <a:avLst>
              <a:gd name="adj" fmla="val 12000"/>
            </a:avLst>
          </a:prstGeom>
          <a:solidFill>
            <a:srgbClr val="E08A2B"/>
          </a:solidFill>
          <a:ln/>
        </p:spPr>
      </p:sp>
      <p:sp>
        <p:nvSpPr>
          <p:cNvPr id="26" name="Text 24"/>
          <p:cNvSpPr/>
          <p:nvPr/>
        </p:nvSpPr>
        <p:spPr>
          <a:xfrm>
            <a:off x="4133088" y="409194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Wafer-scale</a:t>
            </a:r>
            <a:endParaRPr lang="en-US" sz="1450" dirty="0"/>
          </a:p>
        </p:txBody>
      </p:sp>
      <p:sp>
        <p:nvSpPr>
          <p:cNvPr id="27" name="Text 25"/>
          <p:cNvSpPr/>
          <p:nvPr/>
        </p:nvSpPr>
        <p:spPr>
          <a:xfrm>
            <a:off x="3575304" y="468630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Whole wafer; inter-chip comms become on-wafer.</a:t>
            </a:r>
            <a:endParaRPr lang="en-US" sz="1200" dirty="0"/>
          </a:p>
        </p:txBody>
      </p:sp>
      <p:sp>
        <p:nvSpPr>
          <p:cNvPr id="28" name="Shape 26"/>
          <p:cNvSpPr/>
          <p:nvPr/>
        </p:nvSpPr>
        <p:spPr>
          <a:xfrm>
            <a:off x="6254496" y="3909060"/>
            <a:ext cx="2578608" cy="2034540"/>
          </a:xfrm>
          <a:prstGeom prst="roundRect">
            <a:avLst>
              <a:gd name="adj" fmla="val 3146"/>
            </a:avLst>
          </a:prstGeom>
          <a:solidFill>
            <a:srgbClr val="F4F7F8"/>
          </a:solidFill>
          <a:ln w="12700">
            <a:solidFill>
              <a:srgbClr val="E7ECEF"/>
            </a:solidFill>
            <a:prstDash val="solid"/>
          </a:ln>
        </p:spPr>
      </p:sp>
      <p:sp>
        <p:nvSpPr>
          <p:cNvPr id="29" name="Shape 27"/>
          <p:cNvSpPr/>
          <p:nvPr/>
        </p:nvSpPr>
        <p:spPr>
          <a:xfrm>
            <a:off x="6455664" y="4110228"/>
            <a:ext cx="457200" cy="457200"/>
          </a:xfrm>
          <a:prstGeom prst="roundRect">
            <a:avLst>
              <a:gd name="adj" fmla="val 12000"/>
            </a:avLst>
          </a:prstGeom>
          <a:solidFill>
            <a:srgbClr val="3F9E6A"/>
          </a:solidFill>
          <a:ln/>
        </p:spPr>
      </p:sp>
      <p:sp>
        <p:nvSpPr>
          <p:cNvPr id="30" name="Text 28"/>
          <p:cNvSpPr/>
          <p:nvPr/>
        </p:nvSpPr>
        <p:spPr>
          <a:xfrm>
            <a:off x="7031736" y="409194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Memory-centric / PIM</a:t>
            </a:r>
            <a:endParaRPr lang="en-US" sz="1450" dirty="0"/>
          </a:p>
        </p:txBody>
      </p:sp>
      <p:sp>
        <p:nvSpPr>
          <p:cNvPr id="31" name="Text 29"/>
          <p:cNvSpPr/>
          <p:nvPr/>
        </p:nvSpPr>
        <p:spPr>
          <a:xfrm>
            <a:off x="6473952" y="468630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Compute moves to the data; interface carries results.</a:t>
            </a:r>
            <a:endParaRPr lang="en-US" sz="1200" dirty="0"/>
          </a:p>
        </p:txBody>
      </p:sp>
      <p:sp>
        <p:nvSpPr>
          <p:cNvPr id="32" name="Shape 30"/>
          <p:cNvSpPr/>
          <p:nvPr/>
        </p:nvSpPr>
        <p:spPr>
          <a:xfrm>
            <a:off x="9153144" y="3909060"/>
            <a:ext cx="2578608" cy="2034540"/>
          </a:xfrm>
          <a:prstGeom prst="roundRect">
            <a:avLst>
              <a:gd name="adj" fmla="val 3146"/>
            </a:avLst>
          </a:prstGeom>
          <a:solidFill>
            <a:srgbClr val="F4F7F8"/>
          </a:solidFill>
          <a:ln w="12700">
            <a:solidFill>
              <a:srgbClr val="E7ECEF"/>
            </a:solidFill>
            <a:prstDash val="solid"/>
          </a:ln>
        </p:spPr>
      </p:sp>
      <p:sp>
        <p:nvSpPr>
          <p:cNvPr id="33" name="Shape 31"/>
          <p:cNvSpPr/>
          <p:nvPr/>
        </p:nvSpPr>
        <p:spPr>
          <a:xfrm>
            <a:off x="9354312" y="4110228"/>
            <a:ext cx="457200" cy="457200"/>
          </a:xfrm>
          <a:prstGeom prst="roundRect">
            <a:avLst>
              <a:gd name="adj" fmla="val 12000"/>
            </a:avLst>
          </a:prstGeom>
          <a:solidFill>
            <a:srgbClr val="16232E"/>
          </a:solidFill>
          <a:ln/>
        </p:spPr>
      </p:sp>
      <p:sp>
        <p:nvSpPr>
          <p:cNvPr id="34" name="Text 32"/>
          <p:cNvSpPr/>
          <p:nvPr/>
        </p:nvSpPr>
        <p:spPr>
          <a:xfrm>
            <a:off x="9930384" y="4091940"/>
            <a:ext cx="1618488"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Neuromorphic</a:t>
            </a:r>
            <a:endParaRPr lang="en-US" sz="1450" dirty="0"/>
          </a:p>
        </p:txBody>
      </p:sp>
      <p:sp>
        <p:nvSpPr>
          <p:cNvPr id="35" name="Text 33"/>
          <p:cNvSpPr/>
          <p:nvPr/>
        </p:nvSpPr>
        <p:spPr>
          <a:xfrm>
            <a:off x="9372600" y="4686300"/>
            <a:ext cx="2139696" cy="112014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Event-driven; energy ∝ activity (forward-looking).</a:t>
            </a:r>
            <a:endParaRPr lang="en-US" sz="1200" dirty="0"/>
          </a:p>
        </p:txBody>
      </p:sp>
      <p:sp>
        <p:nvSpPr>
          <p:cNvPr id="36" name="Text 34"/>
          <p:cNvSpPr/>
          <p:nvPr/>
        </p:nvSpPr>
        <p:spPr>
          <a:xfrm>
            <a:off x="457200" y="6108192"/>
            <a:ext cx="11274552" cy="365760"/>
          </a:xfrm>
          <a:prstGeom prst="rect">
            <a:avLst/>
          </a:prstGeom>
          <a:noFill/>
          <a:ln/>
        </p:spPr>
        <p:txBody>
          <a:bodyPr wrap="square" rtlCol="0" anchor="ctr"/>
          <a:lstStyle/>
          <a:p>
            <a:pPr indent="0" marL="0">
              <a:buNone/>
            </a:pPr>
            <a:r>
              <a:rPr lang="en-US" sz="1350" b="1" dirty="0">
                <a:solidFill>
                  <a:srgbClr val="E08A2B"/>
                </a:solidFill>
                <a:latin typeface="Calibri" pitchFamily="34" charset="0"/>
                <a:ea typeface="Calibri" pitchFamily="34" charset="-122"/>
                <a:cs typeface="Calibri" pitchFamily="34" charset="-120"/>
              </a:rPr>
              <a:t>⇒  </a:t>
            </a:r>
            <a:pPr indent="0" marL="0">
              <a:buNone/>
            </a:pPr>
            <a:r>
              <a:rPr lang="en-US" sz="1350" b="1" dirty="0">
                <a:solidFill>
                  <a:srgbClr val="263947"/>
                </a:solidFill>
                <a:latin typeface="Calibri" pitchFamily="34" charset="0"/>
                <a:ea typeface="Calibri" pitchFamily="34" charset="-122"/>
                <a:cs typeface="Calibri" pitchFamily="34" charset="-120"/>
              </a:rPr>
              <a:t>Grouped by contract changed, not by company — the taxonomy outlives the products.</a:t>
            </a:r>
            <a:endParaRPr lang="en-US" sz="1350" dirty="0"/>
          </a:p>
        </p:txBody>
      </p:sp>
      <p:sp>
        <p:nvSpPr>
          <p:cNvPr id="37" name="Text 35"/>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38" name="Text 3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MOST SECURE TERRITORY</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NPUs are the client's standard low-power AI block</a:t>
            </a:r>
            <a:endParaRPr lang="en-US" sz="3000" dirty="0"/>
          </a:p>
        </p:txBody>
      </p:sp>
      <p:pic>
        <p:nvPicPr>
          <p:cNvPr id="4" name="Image 0" descr="/sessions/compassionate-blissful-planck/mnt/outputs/deck_assets/npu_domains.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Universal in client SoCs (≥40 TOPS floor).</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Built for sustained / ambient work — not peak.</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Heavy generative inference still runs on the GPU.</a:t>
            </a:r>
            <a:endParaRPr lang="en-US" sz="1300" dirty="0"/>
          </a:p>
        </p:txBody>
      </p:sp>
      <p:sp>
        <p:nvSpPr>
          <p:cNvPr id="11" name="Shape 8"/>
          <p:cNvSpPr/>
          <p:nvPr/>
        </p:nvSpPr>
        <p:spPr>
          <a:xfrm>
            <a:off x="8138160" y="4096512"/>
            <a:ext cx="109728" cy="109728"/>
          </a:xfrm>
          <a:prstGeom prst="rect">
            <a:avLst/>
          </a:prstGeom>
          <a:solidFill>
            <a:srgbClr val="E08A2B"/>
          </a:solidFill>
          <a:ln/>
        </p:spPr>
      </p:sp>
      <p:sp>
        <p:nvSpPr>
          <p:cNvPr id="12" name="Text 9"/>
          <p:cNvSpPr/>
          <p:nvPr/>
        </p:nvSpPr>
        <p:spPr>
          <a:xfrm>
            <a:off x="8366760" y="3922776"/>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Coverage, not TOPS, decides real value.</a:t>
            </a:r>
            <a:endParaRPr lang="en-US" sz="1300" dirty="0"/>
          </a:p>
        </p:txBody>
      </p:sp>
      <p:sp>
        <p:nvSpPr>
          <p:cNvPr id="13" name="Shape 10"/>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4" name="Text 11"/>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Structural claim: wake-scope energy + cost floors sit outside the GPU contract, so the edge is where specialization is safest — not that NPUs win the client outright.</a:t>
            </a:r>
            <a:endParaRPr lang="en-US" sz="1400" dirty="0"/>
          </a:p>
        </p:txBody>
      </p:sp>
      <p:sp>
        <p:nvSpPr>
          <p:cNvPr id="15" name="Text 1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6" name="Text 1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STRONGEST LEVER</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Memory-centric designs attack the measured bounds</a:t>
            </a:r>
            <a:endParaRPr lang="en-US" sz="3000" dirty="0"/>
          </a:p>
        </p:txBody>
      </p:sp>
      <p:pic>
        <p:nvPicPr>
          <p:cNvPr id="4" name="Image 0" descr="/sessions/compassionate-blissful-planck/mnt/outputs/deck_assets/pim_flavors.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Best condition-3 case in the survey — gated only by the lack of a portable programming model.</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CONTINUUM</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Same families, different binding constraints</a:t>
            </a:r>
            <a:endParaRPr lang="en-US" sz="3000" dirty="0"/>
          </a:p>
        </p:txBody>
      </p:sp>
      <p:pic>
        <p:nvPicPr>
          <p:cNvPr id="4" name="Image 0" descr="/sessions/compassionate-blissful-planck/mnt/outputs/deck_assets/fig06-10-continuum-fit.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Ideas migrate both ways; implementations diverge because each deployment prices the stressors differently.</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THE LANDSCAPE, GROUPED</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Three groups, one deciding variable</a:t>
            </a:r>
            <a:endParaRPr lang="en-US" sz="3000" dirty="0"/>
          </a:p>
        </p:txBody>
      </p:sp>
      <p:pic>
        <p:nvPicPr>
          <p:cNvPr id="4" name="Image 0" descr="/sessions/compassionate-blissful-planck/mnt/outputs/deck_assets/grouped_landscape.png">    </p:cNvPr>
          <p:cNvPicPr>
            <a:picLocks noChangeAspect="1"/>
          </p:cNvPicPr>
          <p:nvPr/>
        </p:nvPicPr>
        <p:blipFill>
          <a:blip r:embed="rId1"/>
          <a:srcRect l="-78049" r="-78049" t="0" b="0"/>
          <a:stretch/>
        </p:blipFill>
        <p:spPr>
          <a:xfrm>
            <a:off x="1280160" y="1554480"/>
            <a:ext cx="9601200" cy="3749040"/>
          </a:xfrm>
          <a:prstGeom prst="rect">
            <a:avLst/>
          </a:prstGeom>
        </p:spPr>
      </p:pic>
      <p:sp>
        <p:nvSpPr>
          <p:cNvPr id="5" name="Shape 2"/>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6" name="Text 3"/>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None of the challengers failed on architecture — every trajectory was decided by condition 4.</a:t>
            </a:r>
            <a:endParaRPr lang="en-US" sz="1400" dirty="0"/>
          </a:p>
        </p:txBody>
      </p:sp>
      <p:sp>
        <p:nvSpPr>
          <p:cNvPr id="7" name="Text 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ECONOMICS</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Volume decides — architecture held constant</a:t>
            </a:r>
            <a:endParaRPr lang="en-US" sz="3000" dirty="0"/>
          </a:p>
        </p:txBody>
      </p:sp>
      <p:pic>
        <p:nvPicPr>
          <p:cNvPr id="4" name="Image 0" descr="/sessions/compassionate-blissful-planck/mnt/outputs/deck_assets/break_even.png">    </p:cNvPr>
          <p:cNvPicPr>
            <a:picLocks noChangeAspect="1"/>
          </p:cNvPicPr>
          <p:nvPr/>
        </p:nvPicPr>
        <p:blipFill>
          <a:blip r:embed="rId1"/>
          <a:srcRect l="-45238" r="-45238" t="0" b="0"/>
          <a:stretch/>
        </p:blipFill>
        <p:spPr>
          <a:xfrm>
            <a:off x="457200" y="1554480"/>
            <a:ext cx="7315200" cy="3840480"/>
          </a:xfrm>
          <a:prstGeom prst="rect">
            <a:avLst/>
          </a:prstGeom>
        </p:spPr>
      </p:pic>
      <p:sp>
        <p:nvSpPr>
          <p:cNvPr id="5" name="Shape 2"/>
          <p:cNvSpPr/>
          <p:nvPr/>
        </p:nvSpPr>
        <p:spPr>
          <a:xfrm>
            <a:off x="8138160" y="1847088"/>
            <a:ext cx="109728" cy="109728"/>
          </a:xfrm>
          <a:prstGeom prst="rect">
            <a:avLst/>
          </a:prstGeom>
          <a:solidFill>
            <a:srgbClr val="E08A2B"/>
          </a:solidFill>
          <a:ln/>
        </p:spPr>
      </p:sp>
      <p:sp>
        <p:nvSpPr>
          <p:cNvPr id="6" name="Text 3"/>
          <p:cNvSpPr/>
          <p:nvPr/>
        </p:nvSpPr>
        <p:spPr>
          <a:xfrm>
            <a:off x="8366760" y="1673352"/>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Fixed cost ≈ software enablement.</a:t>
            </a:r>
            <a:endParaRPr lang="en-US" sz="1300" dirty="0"/>
          </a:p>
        </p:txBody>
      </p:sp>
      <p:sp>
        <p:nvSpPr>
          <p:cNvPr id="7" name="Shape 4"/>
          <p:cNvSpPr/>
          <p:nvPr/>
        </p:nvSpPr>
        <p:spPr>
          <a:xfrm>
            <a:off x="8138160" y="2596896"/>
            <a:ext cx="109728" cy="109728"/>
          </a:xfrm>
          <a:prstGeom prst="rect">
            <a:avLst/>
          </a:prstGeom>
          <a:solidFill>
            <a:srgbClr val="E08A2B"/>
          </a:solidFill>
          <a:ln/>
        </p:spPr>
      </p:sp>
      <p:sp>
        <p:nvSpPr>
          <p:cNvPr id="8" name="Text 5"/>
          <p:cNvSpPr/>
          <p:nvPr/>
        </p:nvSpPr>
        <p:spPr>
          <a:xfrm>
            <a:off x="8366760" y="2423160"/>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Recurring savings scale with volume.</a:t>
            </a:r>
            <a:endParaRPr lang="en-US" sz="1300" dirty="0"/>
          </a:p>
        </p:txBody>
      </p:sp>
      <p:sp>
        <p:nvSpPr>
          <p:cNvPr id="9" name="Shape 6"/>
          <p:cNvSpPr/>
          <p:nvPr/>
        </p:nvSpPr>
        <p:spPr>
          <a:xfrm>
            <a:off x="8138160" y="3346704"/>
            <a:ext cx="109728" cy="109728"/>
          </a:xfrm>
          <a:prstGeom prst="rect">
            <a:avLst/>
          </a:prstGeom>
          <a:solidFill>
            <a:srgbClr val="E08A2B"/>
          </a:solidFill>
          <a:ln/>
        </p:spPr>
      </p:sp>
      <p:sp>
        <p:nvSpPr>
          <p:cNvPr id="10" name="Text 7"/>
          <p:cNvSpPr/>
          <p:nvPr/>
        </p:nvSpPr>
        <p:spPr>
          <a:xfrm>
            <a:off x="8366760" y="3172968"/>
            <a:ext cx="3291840" cy="731520"/>
          </a:xfrm>
          <a:prstGeom prst="rect">
            <a:avLst/>
          </a:prstGeom>
          <a:noFill/>
          <a:ln/>
        </p:spPr>
        <p:txBody>
          <a:bodyPr wrap="square" rtlCol="0" anchor="t"/>
          <a:lstStyle/>
          <a:p>
            <a:pPr indent="0" marL="0">
              <a:buNone/>
            </a:pPr>
            <a:r>
              <a:rPr lang="en-US" sz="1300" dirty="0">
                <a:solidFill>
                  <a:srgbClr val="263947"/>
                </a:solidFill>
                <a:latin typeface="Calibri" pitchFamily="34" charset="0"/>
                <a:ea typeface="Calibri" pitchFamily="34" charset="-122"/>
                <a:cs typeface="Calibri" pitchFamily="34" charset="-120"/>
              </a:rPr>
              <a:t>Flexibility has option value.</a:t>
            </a:r>
            <a:endParaRPr lang="en-US" sz="1300" dirty="0"/>
          </a:p>
        </p:txBody>
      </p:sp>
      <p:sp>
        <p:nvSpPr>
          <p:cNvPr id="11" name="Shape 8"/>
          <p:cNvSpPr/>
          <p:nvPr/>
        </p:nvSpPr>
        <p:spPr>
          <a:xfrm>
            <a:off x="457200" y="5715000"/>
            <a:ext cx="11274552" cy="566928"/>
          </a:xfrm>
          <a:prstGeom prst="roundRect">
            <a:avLst>
              <a:gd name="adj" fmla="val 9677"/>
            </a:avLst>
          </a:prstGeom>
          <a:solidFill>
            <a:srgbClr val="F4F7F8"/>
          </a:solidFill>
          <a:ln w="12700">
            <a:solidFill>
              <a:srgbClr val="E7ECEF"/>
            </a:solidFill>
            <a:prstDash val="solid"/>
          </a:ln>
        </p:spPr>
      </p:sp>
      <p:sp>
        <p:nvSpPr>
          <p:cNvPr id="12" name="Text 9"/>
          <p:cNvSpPr/>
          <p:nvPr/>
        </p:nvSpPr>
        <p:spPr>
          <a:xfrm>
            <a:off x="731520" y="5715000"/>
            <a:ext cx="10789920" cy="566928"/>
          </a:xfrm>
          <a:prstGeom prst="rect">
            <a:avLst/>
          </a:prstGeom>
          <a:noFill/>
          <a:ln/>
        </p:spPr>
        <p:txBody>
          <a:bodyPr wrap="square" rtlCol="0" anchor="ctr"/>
          <a:lstStyle/>
          <a:p>
            <a:pPr indent="0" marL="0">
              <a:buNone/>
            </a:pPr>
            <a:r>
              <a:rPr lang="en-US" sz="1400" b="1" dirty="0">
                <a:solidFill>
                  <a:srgbClr val="E08A2B"/>
                </a:solidFill>
                <a:latin typeface="Calibri" pitchFamily="34" charset="0"/>
                <a:ea typeface="Calibri" pitchFamily="34" charset="-122"/>
                <a:cs typeface="Calibri" pitchFamily="34" charset="-120"/>
              </a:rPr>
              <a:t>⇒  </a:t>
            </a:r>
            <a:pPr indent="0" marL="0">
              <a:buNone/>
            </a:pPr>
            <a:r>
              <a:rPr lang="en-US" sz="1400" b="1" dirty="0">
                <a:solidFill>
                  <a:srgbClr val="263947"/>
                </a:solidFill>
                <a:latin typeface="Calibri" pitchFamily="34" charset="0"/>
                <a:ea typeface="Calibri" pitchFamily="34" charset="-122"/>
                <a:cs typeface="Calibri" pitchFamily="34" charset="-120"/>
              </a:rPr>
              <a:t>Below a volume threshold, no efficiency percentage rescues the case; above it, small percentages justify large programs.</a:t>
            </a:r>
            <a:endParaRPr lang="en-US" sz="1400" dirty="0"/>
          </a:p>
        </p:txBody>
      </p:sp>
      <p:sp>
        <p:nvSpPr>
          <p:cNvPr id="13" name="Text 1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058400" cy="274320"/>
          </a:xfrm>
          <a:prstGeom prst="rect">
            <a:avLst/>
          </a:prstGeom>
          <a:noFill/>
          <a:ln/>
        </p:spPr>
        <p:txBody>
          <a:bodyPr wrap="square" rtlCol="0" anchor="ctr"/>
          <a:lstStyle/>
          <a:p>
            <a:pPr indent="0" marL="0">
              <a:buNone/>
            </a:pPr>
            <a:r>
              <a:rPr lang="en-US" sz="1200" b="1" spc="200" kern="0" dirty="0">
                <a:solidFill>
                  <a:srgbClr val="0E8C9B"/>
                </a:solidFill>
                <a:latin typeface="Calibri" pitchFamily="34" charset="0"/>
                <a:ea typeface="Calibri" pitchFamily="34" charset="-122"/>
                <a:cs typeface="Calibri" pitchFamily="34" charset="-120"/>
              </a:rPr>
              <a:t>CONCLUSIONS</a:t>
            </a:r>
            <a:endParaRPr lang="en-US" sz="1200" dirty="0"/>
          </a:p>
        </p:txBody>
      </p:sp>
      <p:sp>
        <p:nvSpPr>
          <p:cNvPr id="3" name="Text 1"/>
          <p:cNvSpPr/>
          <p:nvPr/>
        </p:nvSpPr>
        <p:spPr>
          <a:xfrm>
            <a:off x="457200" y="548640"/>
            <a:ext cx="11247120" cy="822960"/>
          </a:xfrm>
          <a:prstGeom prst="rect">
            <a:avLst/>
          </a:prstGeom>
          <a:noFill/>
          <a:ln/>
        </p:spPr>
        <p:txBody>
          <a:bodyPr wrap="square" rtlCol="0" anchor="ctr"/>
          <a:lstStyle/>
          <a:p>
            <a:pPr indent="0" marL="0">
              <a:buNone/>
            </a:pPr>
            <a:r>
              <a:rPr lang="en-US" sz="3000" b="1" dirty="0">
                <a:solidFill>
                  <a:srgbClr val="263947"/>
                </a:solidFill>
                <a:latin typeface="Cambria" pitchFamily="34" charset="0"/>
                <a:ea typeface="Cambria" pitchFamily="34" charset="-122"/>
                <a:cs typeface="Cambria" pitchFamily="34" charset="-120"/>
              </a:rPr>
              <a:t>What holds across the whole picture</a:t>
            </a:r>
            <a:endParaRPr lang="en-US" sz="3000" dirty="0"/>
          </a:p>
        </p:txBody>
      </p:sp>
      <p:sp>
        <p:nvSpPr>
          <p:cNvPr id="4" name="Shape 2"/>
          <p:cNvSpPr/>
          <p:nvPr/>
        </p:nvSpPr>
        <p:spPr>
          <a:xfrm>
            <a:off x="457200" y="1600200"/>
            <a:ext cx="5477256" cy="1356360"/>
          </a:xfrm>
          <a:prstGeom prst="roundRect">
            <a:avLst>
              <a:gd name="adj" fmla="val 4719"/>
            </a:avLst>
          </a:prstGeom>
          <a:solidFill>
            <a:srgbClr val="F4F7F8"/>
          </a:solidFill>
          <a:ln w="12700">
            <a:solidFill>
              <a:srgbClr val="E7ECEF"/>
            </a:solidFill>
            <a:prstDash val="solid"/>
          </a:ln>
        </p:spPr>
      </p:sp>
      <p:sp>
        <p:nvSpPr>
          <p:cNvPr id="5" name="Shape 3"/>
          <p:cNvSpPr/>
          <p:nvPr/>
        </p:nvSpPr>
        <p:spPr>
          <a:xfrm>
            <a:off x="658368" y="1801368"/>
            <a:ext cx="457200" cy="457200"/>
          </a:xfrm>
          <a:prstGeom prst="roundRect">
            <a:avLst>
              <a:gd name="adj" fmla="val 12000"/>
            </a:avLst>
          </a:prstGeom>
          <a:solidFill>
            <a:srgbClr val="0E8C9B"/>
          </a:solidFill>
          <a:ln/>
        </p:spPr>
      </p:sp>
      <p:sp>
        <p:nvSpPr>
          <p:cNvPr id="6" name="Text 4"/>
          <p:cNvSpPr/>
          <p:nvPr/>
        </p:nvSpPr>
        <p:spPr>
          <a:xfrm>
            <a:off x="658368" y="18013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p:nvPr/>
        </p:nvSpPr>
        <p:spPr>
          <a:xfrm>
            <a:off x="1234440" y="1783080"/>
            <a:ext cx="4517136"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Software converges on physics</a:t>
            </a:r>
            <a:endParaRPr lang="en-US" sz="1450" dirty="0"/>
          </a:p>
        </p:txBody>
      </p:sp>
      <p:sp>
        <p:nvSpPr>
          <p:cNvPr id="8" name="Text 6"/>
          <p:cNvSpPr/>
          <p:nvPr/>
        </p:nvSpPr>
        <p:spPr>
          <a:xfrm>
            <a:off x="676656" y="2377440"/>
            <a:ext cx="5038344" cy="44196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Both transitions are software succeeding until it exposes a hard, measurable bound.</a:t>
            </a:r>
            <a:endParaRPr lang="en-US" sz="1200" dirty="0"/>
          </a:p>
        </p:txBody>
      </p:sp>
      <p:sp>
        <p:nvSpPr>
          <p:cNvPr id="9" name="Shape 7"/>
          <p:cNvSpPr/>
          <p:nvPr/>
        </p:nvSpPr>
        <p:spPr>
          <a:xfrm>
            <a:off x="6254496" y="1600200"/>
            <a:ext cx="5477256" cy="1356360"/>
          </a:xfrm>
          <a:prstGeom prst="roundRect">
            <a:avLst>
              <a:gd name="adj" fmla="val 4719"/>
            </a:avLst>
          </a:prstGeom>
          <a:solidFill>
            <a:srgbClr val="F4F7F8"/>
          </a:solidFill>
          <a:ln w="12700">
            <a:solidFill>
              <a:srgbClr val="E7ECEF"/>
            </a:solidFill>
            <a:prstDash val="solid"/>
          </a:ln>
        </p:spPr>
      </p:sp>
      <p:sp>
        <p:nvSpPr>
          <p:cNvPr id="10" name="Shape 8"/>
          <p:cNvSpPr/>
          <p:nvPr/>
        </p:nvSpPr>
        <p:spPr>
          <a:xfrm>
            <a:off x="6455664" y="1801368"/>
            <a:ext cx="457200" cy="457200"/>
          </a:xfrm>
          <a:prstGeom prst="roundRect">
            <a:avLst>
              <a:gd name="adj" fmla="val 12000"/>
            </a:avLst>
          </a:prstGeom>
          <a:solidFill>
            <a:srgbClr val="2E6E9E"/>
          </a:solidFill>
          <a:ln/>
        </p:spPr>
      </p:sp>
      <p:sp>
        <p:nvSpPr>
          <p:cNvPr id="11" name="Text 9"/>
          <p:cNvSpPr/>
          <p:nvPr/>
        </p:nvSpPr>
        <p:spPr>
          <a:xfrm>
            <a:off x="6455664" y="18013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2" name="Text 10"/>
          <p:cNvSpPr/>
          <p:nvPr/>
        </p:nvSpPr>
        <p:spPr>
          <a:xfrm>
            <a:off x="7031736" y="1783080"/>
            <a:ext cx="4517136"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Necessity is decidable</a:t>
            </a:r>
            <a:endParaRPr lang="en-US" sz="1450" dirty="0"/>
          </a:p>
        </p:txBody>
      </p:sp>
      <p:sp>
        <p:nvSpPr>
          <p:cNvPr id="13" name="Text 11"/>
          <p:cNvSpPr/>
          <p:nvPr/>
        </p:nvSpPr>
        <p:spPr>
          <a:xfrm>
            <a:off x="6473952" y="2377440"/>
            <a:ext cx="5038344" cy="44196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A four-condition test returns specialize / market-no / stay-on-GPU — from measurable inputs.</a:t>
            </a:r>
            <a:endParaRPr lang="en-US" sz="1200" dirty="0"/>
          </a:p>
        </p:txBody>
      </p:sp>
      <p:sp>
        <p:nvSpPr>
          <p:cNvPr id="14" name="Shape 12"/>
          <p:cNvSpPr/>
          <p:nvPr/>
        </p:nvSpPr>
        <p:spPr>
          <a:xfrm>
            <a:off x="457200" y="3230880"/>
            <a:ext cx="5477256" cy="1356360"/>
          </a:xfrm>
          <a:prstGeom prst="roundRect">
            <a:avLst>
              <a:gd name="adj" fmla="val 4719"/>
            </a:avLst>
          </a:prstGeom>
          <a:solidFill>
            <a:srgbClr val="F4F7F8"/>
          </a:solidFill>
          <a:ln w="12700">
            <a:solidFill>
              <a:srgbClr val="E7ECEF"/>
            </a:solidFill>
            <a:prstDash val="solid"/>
          </a:ln>
        </p:spPr>
      </p:sp>
      <p:sp>
        <p:nvSpPr>
          <p:cNvPr id="15" name="Shape 13"/>
          <p:cNvSpPr/>
          <p:nvPr/>
        </p:nvSpPr>
        <p:spPr>
          <a:xfrm>
            <a:off x="658368" y="3432048"/>
            <a:ext cx="457200" cy="457200"/>
          </a:xfrm>
          <a:prstGeom prst="roundRect">
            <a:avLst>
              <a:gd name="adj" fmla="val 12000"/>
            </a:avLst>
          </a:prstGeom>
          <a:solidFill>
            <a:srgbClr val="E08A2B"/>
          </a:solidFill>
          <a:ln/>
        </p:spPr>
      </p:sp>
      <p:sp>
        <p:nvSpPr>
          <p:cNvPr id="16" name="Text 14"/>
          <p:cNvSpPr/>
          <p:nvPr/>
        </p:nvSpPr>
        <p:spPr>
          <a:xfrm>
            <a:off x="658368" y="343204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7" name="Text 15"/>
          <p:cNvSpPr/>
          <p:nvPr/>
        </p:nvSpPr>
        <p:spPr>
          <a:xfrm>
            <a:off x="1234440" y="3413760"/>
            <a:ext cx="4517136"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Condition 4 dominates</a:t>
            </a:r>
            <a:endParaRPr lang="en-US" sz="1450" dirty="0"/>
          </a:p>
        </p:txBody>
      </p:sp>
      <p:sp>
        <p:nvSpPr>
          <p:cNvPr id="18" name="Text 16"/>
          <p:cNvSpPr/>
          <p:nvPr/>
        </p:nvSpPr>
        <p:spPr>
          <a:xfrm>
            <a:off x="676656" y="4008120"/>
            <a:ext cx="5038344" cy="44196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Software capital, volume, and distribution decide outcomes more than silicon merit.</a:t>
            </a:r>
            <a:endParaRPr lang="en-US" sz="1200" dirty="0"/>
          </a:p>
        </p:txBody>
      </p:sp>
      <p:sp>
        <p:nvSpPr>
          <p:cNvPr id="19" name="Shape 17"/>
          <p:cNvSpPr/>
          <p:nvPr/>
        </p:nvSpPr>
        <p:spPr>
          <a:xfrm>
            <a:off x="6254496" y="3230880"/>
            <a:ext cx="5477256" cy="1356360"/>
          </a:xfrm>
          <a:prstGeom prst="roundRect">
            <a:avLst>
              <a:gd name="adj" fmla="val 4719"/>
            </a:avLst>
          </a:prstGeom>
          <a:solidFill>
            <a:srgbClr val="F4F7F8"/>
          </a:solidFill>
          <a:ln w="12700">
            <a:solidFill>
              <a:srgbClr val="E7ECEF"/>
            </a:solidFill>
            <a:prstDash val="solid"/>
          </a:ln>
        </p:spPr>
      </p:sp>
      <p:sp>
        <p:nvSpPr>
          <p:cNvPr id="20" name="Shape 18"/>
          <p:cNvSpPr/>
          <p:nvPr/>
        </p:nvSpPr>
        <p:spPr>
          <a:xfrm>
            <a:off x="6455664" y="3432048"/>
            <a:ext cx="457200" cy="457200"/>
          </a:xfrm>
          <a:prstGeom prst="roundRect">
            <a:avLst>
              <a:gd name="adj" fmla="val 12000"/>
            </a:avLst>
          </a:prstGeom>
          <a:solidFill>
            <a:srgbClr val="3F9E6A"/>
          </a:solidFill>
          <a:ln/>
        </p:spPr>
      </p:sp>
      <p:sp>
        <p:nvSpPr>
          <p:cNvPr id="21" name="Text 19"/>
          <p:cNvSpPr/>
          <p:nvPr/>
        </p:nvSpPr>
        <p:spPr>
          <a:xfrm>
            <a:off x="6455664" y="343204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22" name="Text 20"/>
          <p:cNvSpPr/>
          <p:nvPr/>
        </p:nvSpPr>
        <p:spPr>
          <a:xfrm>
            <a:off x="7031736" y="3413760"/>
            <a:ext cx="4517136"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Families, not a successor</a:t>
            </a:r>
            <a:endParaRPr lang="en-US" sz="1450" dirty="0"/>
          </a:p>
        </p:txBody>
      </p:sp>
      <p:sp>
        <p:nvSpPr>
          <p:cNvPr id="23" name="Text 21"/>
          <p:cNvSpPr/>
          <p:nvPr/>
        </p:nvSpPr>
        <p:spPr>
          <a:xfrm>
            <a:off x="6473952" y="4008120"/>
            <a:ext cx="5038344" cy="44196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Each changes a contract the GPU cannot adopt without ceasing to be a GPU.</a:t>
            </a:r>
            <a:endParaRPr lang="en-US" sz="1200" dirty="0"/>
          </a:p>
        </p:txBody>
      </p:sp>
      <p:sp>
        <p:nvSpPr>
          <p:cNvPr id="24" name="Shape 22"/>
          <p:cNvSpPr/>
          <p:nvPr/>
        </p:nvSpPr>
        <p:spPr>
          <a:xfrm>
            <a:off x="457200" y="4861560"/>
            <a:ext cx="5477256" cy="1356360"/>
          </a:xfrm>
          <a:prstGeom prst="roundRect">
            <a:avLst>
              <a:gd name="adj" fmla="val 4719"/>
            </a:avLst>
          </a:prstGeom>
          <a:solidFill>
            <a:srgbClr val="F4F7F8"/>
          </a:solidFill>
          <a:ln w="12700">
            <a:solidFill>
              <a:srgbClr val="E7ECEF"/>
            </a:solidFill>
            <a:prstDash val="solid"/>
          </a:ln>
        </p:spPr>
      </p:sp>
      <p:sp>
        <p:nvSpPr>
          <p:cNvPr id="25" name="Shape 23"/>
          <p:cNvSpPr/>
          <p:nvPr/>
        </p:nvSpPr>
        <p:spPr>
          <a:xfrm>
            <a:off x="658368" y="5062728"/>
            <a:ext cx="457200" cy="457200"/>
          </a:xfrm>
          <a:prstGeom prst="roundRect">
            <a:avLst>
              <a:gd name="adj" fmla="val 12000"/>
            </a:avLst>
          </a:prstGeom>
          <a:solidFill>
            <a:srgbClr val="16232E"/>
          </a:solidFill>
          <a:ln/>
        </p:spPr>
      </p:sp>
      <p:sp>
        <p:nvSpPr>
          <p:cNvPr id="26" name="Text 24"/>
          <p:cNvSpPr/>
          <p:nvPr/>
        </p:nvSpPr>
        <p:spPr>
          <a:xfrm>
            <a:off x="658368" y="50627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t>
            </a:r>
            <a:endParaRPr lang="en-US" sz="1500" dirty="0"/>
          </a:p>
        </p:txBody>
      </p:sp>
      <p:sp>
        <p:nvSpPr>
          <p:cNvPr id="27" name="Text 25"/>
          <p:cNvSpPr/>
          <p:nvPr/>
        </p:nvSpPr>
        <p:spPr>
          <a:xfrm>
            <a:off x="1234440" y="5044440"/>
            <a:ext cx="4517136"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Bounds moved to memory &amp; power</a:t>
            </a:r>
            <a:endParaRPr lang="en-US" sz="1450" dirty="0"/>
          </a:p>
        </p:txBody>
      </p:sp>
      <p:sp>
        <p:nvSpPr>
          <p:cNvPr id="28" name="Text 26"/>
          <p:cNvSpPr/>
          <p:nvPr/>
        </p:nvSpPr>
        <p:spPr>
          <a:xfrm>
            <a:off x="676656" y="5638800"/>
            <a:ext cx="5038344" cy="44196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Capacity, bandwidth, fabric, and facility power now separate contenders — not FLOPS.</a:t>
            </a:r>
            <a:endParaRPr lang="en-US" sz="1200" dirty="0"/>
          </a:p>
        </p:txBody>
      </p:sp>
      <p:sp>
        <p:nvSpPr>
          <p:cNvPr id="29" name="Shape 27"/>
          <p:cNvSpPr/>
          <p:nvPr/>
        </p:nvSpPr>
        <p:spPr>
          <a:xfrm>
            <a:off x="6254496" y="4861560"/>
            <a:ext cx="5477256" cy="1356360"/>
          </a:xfrm>
          <a:prstGeom prst="roundRect">
            <a:avLst>
              <a:gd name="adj" fmla="val 4719"/>
            </a:avLst>
          </a:prstGeom>
          <a:solidFill>
            <a:srgbClr val="F4F7F8"/>
          </a:solidFill>
          <a:ln w="12700">
            <a:solidFill>
              <a:srgbClr val="E7ECEF"/>
            </a:solidFill>
            <a:prstDash val="solid"/>
          </a:ln>
        </p:spPr>
      </p:sp>
      <p:sp>
        <p:nvSpPr>
          <p:cNvPr id="30" name="Shape 28"/>
          <p:cNvSpPr/>
          <p:nvPr/>
        </p:nvSpPr>
        <p:spPr>
          <a:xfrm>
            <a:off x="6455664" y="5062728"/>
            <a:ext cx="457200" cy="457200"/>
          </a:xfrm>
          <a:prstGeom prst="roundRect">
            <a:avLst>
              <a:gd name="adj" fmla="val 12000"/>
            </a:avLst>
          </a:prstGeom>
          <a:solidFill>
            <a:srgbClr val="263947"/>
          </a:solidFill>
          <a:ln/>
        </p:spPr>
      </p:sp>
      <p:sp>
        <p:nvSpPr>
          <p:cNvPr id="31" name="Text 29"/>
          <p:cNvSpPr/>
          <p:nvPr/>
        </p:nvSpPr>
        <p:spPr>
          <a:xfrm>
            <a:off x="6455664" y="506272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a:t>
            </a:r>
            <a:endParaRPr lang="en-US" sz="1500" dirty="0"/>
          </a:p>
        </p:txBody>
      </p:sp>
      <p:sp>
        <p:nvSpPr>
          <p:cNvPr id="32" name="Text 30"/>
          <p:cNvSpPr/>
          <p:nvPr/>
        </p:nvSpPr>
        <p:spPr>
          <a:xfrm>
            <a:off x="7031736" y="5044440"/>
            <a:ext cx="4517136" cy="502920"/>
          </a:xfrm>
          <a:prstGeom prst="rect">
            <a:avLst/>
          </a:prstGeom>
          <a:noFill/>
          <a:ln/>
        </p:spPr>
        <p:txBody>
          <a:bodyPr wrap="square" rtlCol="0" anchor="ctr"/>
          <a:lstStyle/>
          <a:p>
            <a:pPr indent="0" marL="0">
              <a:buNone/>
            </a:pPr>
            <a:r>
              <a:rPr lang="en-US" sz="1450" b="1" dirty="0">
                <a:solidFill>
                  <a:srgbClr val="263947"/>
                </a:solidFill>
                <a:latin typeface="Calibri" pitchFamily="34" charset="0"/>
                <a:ea typeface="Calibri" pitchFamily="34" charset="-122"/>
                <a:cs typeface="Calibri" pitchFamily="34" charset="-120"/>
              </a:rPr>
              <a:t>One continuum</a:t>
            </a:r>
            <a:endParaRPr lang="en-US" sz="1450" dirty="0"/>
          </a:p>
        </p:txBody>
      </p:sp>
      <p:sp>
        <p:nvSpPr>
          <p:cNvPr id="33" name="Text 31"/>
          <p:cNvSpPr/>
          <p:nvPr/>
        </p:nvSpPr>
        <p:spPr>
          <a:xfrm>
            <a:off x="6473952" y="5638800"/>
            <a:ext cx="5038344" cy="441960"/>
          </a:xfrm>
          <a:prstGeom prst="rect">
            <a:avLst/>
          </a:prstGeom>
          <a:noFill/>
          <a:ln/>
        </p:spPr>
        <p:txBody>
          <a:bodyPr wrap="square" rtlCol="0" anchor="t"/>
          <a:lstStyle/>
          <a:p>
            <a:pPr indent="0" marL="0">
              <a:buNone/>
            </a:pPr>
            <a:r>
              <a:rPr lang="en-US" sz="1200" dirty="0">
                <a:solidFill>
                  <a:srgbClr val="263947"/>
                </a:solidFill>
                <a:latin typeface="Calibri" pitchFamily="34" charset="0"/>
                <a:ea typeface="Calibri" pitchFamily="34" charset="-122"/>
                <a:cs typeface="Calibri" pitchFamily="34" charset="-120"/>
              </a:rPr>
              <a:t>The same taxonomy reads microwatt silicon and megawatt pods.</a:t>
            </a:r>
            <a:endParaRPr lang="en-US" sz="1200" dirty="0"/>
          </a:p>
        </p:txBody>
      </p:sp>
      <p:sp>
        <p:nvSpPr>
          <p:cNvPr id="34" name="Text 32"/>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35" name="Text 3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32E"/>
        </a:solidFill>
      </p:bgPr>
    </p:bg>
    <p:spTree>
      <p:nvGrpSpPr>
        <p:cNvPr id="1" name=""/>
        <p:cNvGrpSpPr/>
        <p:nvPr/>
      </p:nvGrpSpPr>
      <p:grpSpPr>
        <a:xfrm>
          <a:off x="0" y="0"/>
          <a:ext cx="0" cy="0"/>
          <a:chOff x="0" y="0"/>
          <a:chExt cx="0" cy="0"/>
        </a:xfrm>
      </p:grpSpPr>
      <p:sp>
        <p:nvSpPr>
          <p:cNvPr id="2" name="Text 0"/>
          <p:cNvSpPr/>
          <p:nvPr/>
        </p:nvSpPr>
        <p:spPr>
          <a:xfrm>
            <a:off x="731520" y="1554480"/>
            <a:ext cx="10058400" cy="365760"/>
          </a:xfrm>
          <a:prstGeom prst="rect">
            <a:avLst/>
          </a:prstGeom>
          <a:noFill/>
          <a:ln/>
        </p:spPr>
        <p:txBody>
          <a:bodyPr wrap="square" rtlCol="0" anchor="ctr"/>
          <a:lstStyle/>
          <a:p>
            <a:pPr indent="0" marL="0">
              <a:buNone/>
            </a:pPr>
            <a:r>
              <a:rPr lang="en-US" sz="1300" b="1" spc="200" kern="0" dirty="0">
                <a:solidFill>
                  <a:srgbClr val="E08A2B"/>
                </a:solidFill>
                <a:latin typeface="Calibri" pitchFamily="34" charset="0"/>
                <a:ea typeface="Calibri" pitchFamily="34" charset="-122"/>
                <a:cs typeface="Calibri" pitchFamily="34" charset="-120"/>
              </a:rPr>
              <a:t>THE ARGUMENT IN ONE SENTENCE</a:t>
            </a:r>
            <a:endParaRPr lang="en-US" sz="1300" dirty="0"/>
          </a:p>
        </p:txBody>
      </p:sp>
      <p:sp>
        <p:nvSpPr>
          <p:cNvPr id="3" name="Text 1"/>
          <p:cNvSpPr/>
          <p:nvPr/>
        </p:nvSpPr>
        <p:spPr>
          <a:xfrm>
            <a:off x="731520" y="2103120"/>
            <a:ext cx="10698480" cy="2743200"/>
          </a:xfrm>
          <a:prstGeom prst="rect">
            <a:avLst/>
          </a:prstGeom>
          <a:noFill/>
          <a:ln/>
        </p:spPr>
        <p:txBody>
          <a:bodyPr wrap="square" rtlCol="0" anchor="ctr"/>
          <a:lstStyle/>
          <a:p>
            <a:pPr indent="0" marL="0">
              <a:lnSpc>
                <a:spcPct val="110000"/>
              </a:lnSpc>
              <a:buNone/>
            </a:pPr>
            <a:r>
              <a:rPr lang="en-US" sz="2700" b="1" dirty="0">
                <a:solidFill>
                  <a:srgbClr val="FFFFFF"/>
                </a:solidFill>
                <a:latin typeface="Cambria" pitchFamily="34" charset="0"/>
                <a:ea typeface="Cambria" pitchFamily="34" charset="-122"/>
                <a:cs typeface="Cambria" pitchFamily="34" charset="-120"/>
              </a:rPr>
              <a:t>Software optimization succeeds until it exposes a bound; the bound is absorbed by the GPU platform, escaped by changing a contract, or lived with — and the deployment class decides which.</a:t>
            </a:r>
            <a:endParaRPr lang="en-US" sz="2700" dirty="0"/>
          </a:p>
        </p:txBody>
      </p:sp>
      <p:sp>
        <p:nvSpPr>
          <p:cNvPr id="4" name="Text 2"/>
          <p:cNvSpPr/>
          <p:nvPr/>
        </p:nvSpPr>
        <p:spPr>
          <a:xfrm>
            <a:off x="777240" y="5852160"/>
            <a:ext cx="10515600" cy="548640"/>
          </a:xfrm>
          <a:prstGeom prst="rect">
            <a:avLst/>
          </a:prstGeom>
          <a:noFill/>
          <a:ln/>
        </p:spPr>
        <p:txBody>
          <a:bodyPr wrap="square" rtlCol="0" anchor="ctr"/>
          <a:lstStyle/>
          <a:p>
            <a:pPr indent="0" marL="0">
              <a:buNone/>
            </a:pPr>
            <a:r>
              <a:rPr lang="en-US" sz="1400" i="1" dirty="0">
                <a:solidFill>
                  <a:srgbClr val="E7ECEF"/>
                </a:solidFill>
                <a:latin typeface="Calibri" pitchFamily="34" charset="0"/>
                <a:ea typeface="Calibri" pitchFamily="34" charset="-122"/>
                <a:cs typeface="Calibri" pitchFamily="34" charset="-120"/>
              </a:rPr>
              <a:t>Everything else — signatures, contracts, families, economics — is the machinery that makes that choice decidable.</a:t>
            </a:r>
            <a:endParaRPr lang="en-US" sz="1400" dirty="0"/>
          </a:p>
        </p:txBody>
      </p:sp>
      <p:sp>
        <p:nvSpPr>
          <p:cNvPr id="5" name="Text 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7C8B96"/>
                </a:solidFill>
                <a:latin typeface="Calibri" pitchFamily="34" charset="0"/>
                <a:ea typeface="Calibri" pitchFamily="34" charset="-122"/>
                <a:cs typeface="Calibri" pitchFamily="34" charset="-120"/>
              </a:rPr>
              <a:t>Beyond the GPU — 1-hour walkthrough</a:t>
            </a:r>
            <a:endParaRPr lang="en-US" sz="900" dirty="0"/>
          </a:p>
        </p:txBody>
      </p:sp>
      <p:sp>
        <p:nvSpPr>
          <p:cNvPr id="6" name="Text 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C8B9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2026-07-19T17:56:52Z</dcterms:created>
  <dcterms:modified xsi:type="dcterms:W3CDTF">2026-07-19T17:56:52Z</dcterms:modified>
</cp:coreProperties>
</file>